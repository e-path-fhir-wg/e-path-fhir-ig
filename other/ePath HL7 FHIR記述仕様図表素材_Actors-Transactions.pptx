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4" r:id="rId2"/>
    <p:sldId id="300" r:id="rId3"/>
    <p:sldId id="299" r:id="rId4"/>
    <p:sldId id="297" r:id="rId5"/>
    <p:sldId id="291" r:id="rId6"/>
    <p:sldId id="301" r:id="rId7"/>
    <p:sldId id="294" r:id="rId8"/>
    <p:sldId id="298" r:id="rId9"/>
    <p:sldId id="293" r:id="rId10"/>
    <p:sldId id="305" r:id="rId11"/>
    <p:sldId id="302" r:id="rId12"/>
    <p:sldId id="290" r:id="rId13"/>
    <p:sldId id="303" r:id="rId14"/>
    <p:sldId id="306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 autoAdjust="0"/>
    <p:restoredTop sz="96458" autoAdjust="0"/>
  </p:normalViewPr>
  <p:slideViewPr>
    <p:cSldViewPr snapToGrid="0">
      <p:cViewPr varScale="1">
        <p:scale>
          <a:sx n="76" d="100"/>
          <a:sy n="76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7DAE5-AECC-428E-95EC-397494C54CD5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A5C6E-3AF1-4563-A754-14F960521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76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4A5C6E-3AF1-4563-A754-14F96052109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8976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6EED1-4552-CDDB-F731-D25885B3D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D24F54-FCD9-91A8-86E6-AC082CF8B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BB9050-F5FC-4175-2860-20F54FD3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9A83A3-84A3-1014-CE4E-2B20098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F3F16-D7F9-26CF-AE6E-C7C3B603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992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91AF2-B4C5-B5FE-882B-314A34F4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C8803E-310E-776F-30E0-96EC6B1D4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21F6C8-7492-90BA-EF26-1CB38342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00FDFA-6629-E7C4-A90F-B05DA889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A574A-1463-F6EE-D97D-E073AC7E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18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F42D6-9B85-0A06-CB8C-47B5AF14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BCD5BD-D3EF-6FEB-8999-A2C7503E8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F738AA-3845-F5C4-ACB1-A76FEFF0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765B05-6003-A2CB-62F1-B51E21C3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81B4BC-54CC-8E43-1FEB-0D488CC8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72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B494D1-D2E5-659F-96C1-312FBA4D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368EC4-F547-823E-BB4E-50FE25285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AE4E2F-7371-CC9C-4F61-C748777D2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A70695-D5A5-3CA8-5FF2-65D47137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E990F-6179-CDA7-F648-95867053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51C564-3692-2633-62C2-F52CFA0B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74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CE29C-170A-7787-B59E-80B3D912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4814B0-3EF4-E440-F6B0-21B9A9C2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D1062D-7026-2923-4BB5-6FCE7644A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E368657-8D32-A283-4B3B-38D1504E3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32D094-A603-2261-7F2C-B0C34FA2B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9F727D-5781-94F9-00ED-DB900BCA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2E3428-D3B6-7BD5-DD94-B7A521ED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08474D-92A9-3BA7-984F-960D8359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48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78827-2FDA-059F-D644-3D582728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2DEEC5-5CAB-607C-FE07-3FB7B720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2587B3-5C0B-372F-D2EA-EDCA1C9B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E3B978-58C9-C990-73B1-C7B58763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06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B8060E-DE18-A354-7B77-6B7B70E4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4D4F82-36CC-4D1B-BB9F-4CBBDCC2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7D7531-BDBB-A51A-5112-7206DBFD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36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5D610-BBD3-311F-E9E7-1C2529E6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9927A5-4F24-A98A-E83F-97638A0C0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F0A5EC-7108-8A36-18C8-B855E7480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76073B-A4AF-455A-E916-2AAEEA0F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A047D7-24A9-0BE1-C072-AE9442A8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251AD-7DFB-C954-1048-0769B827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42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A6AB8-0DBD-239C-3C0D-CEF851D0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D7477D-51FC-5491-8314-27BA18FF9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F1B56F-A204-0FD9-A582-10C1A5AFF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344CB9-8101-6B31-C2C7-1B1C7CBD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84D7DE-DEAF-1E69-D08E-6470AB6A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A6BF3-2A1E-813D-CC4A-0BAD1976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67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F03D6B-3ACC-90CD-B457-05194641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0A2E89-5803-A663-8561-88E241EA0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2AB15-D027-0433-81AA-2F35C1EF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3421E-E748-4548-CE9E-915C4470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876468-E203-EC72-6010-E1E70C74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613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04CAA1B-2E7E-2D02-C5D4-B580AE06F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C134BF-BE12-FB4A-C6E4-89D685B9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8A9415-D850-9CF2-E564-A878A0E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6A888-9B03-E478-C52D-BD8EBBE6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E78D3F-DBAD-85DA-C67A-FF838A52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17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527F51-C077-93CA-1ED7-110A82AC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32E9EE-554C-13AC-95BE-865D48EB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27F7FB-3771-10F3-5D21-288D3D047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3A6BD-C535-4F64-AE7B-6BC68FC2D6E7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03204D-AA56-5334-5170-FA491CC50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906AA1-9AAF-0CE4-28CA-CDCF38ABB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A845-B107-4BD2-AE82-B3951048E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732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FHIR</a:t>
            </a:r>
            <a:r>
              <a:rPr lang="ja-JP" altLang="en-US" b="1" dirty="0"/>
              <a:t> </a:t>
            </a:r>
            <a:r>
              <a:rPr lang="en-US" altLang="ja-JP" b="1" dirty="0"/>
              <a:t>®</a:t>
            </a:r>
            <a:r>
              <a:rPr lang="ja-JP" altLang="en-US" b="1" dirty="0"/>
              <a:t>版 </a:t>
            </a:r>
            <a:r>
              <a:rPr lang="en-US" altLang="ja-JP" b="1" dirty="0" err="1"/>
              <a:t>ePath</a:t>
            </a:r>
            <a:r>
              <a:rPr lang="ja-JP" altLang="en-US" b="1" dirty="0"/>
              <a:t>リポジトリ</a:t>
            </a:r>
            <a:br>
              <a:rPr lang="en-US" altLang="ja-JP" b="1" dirty="0"/>
            </a:br>
            <a:r>
              <a:rPr lang="ja-JP" altLang="en-US" b="1" dirty="0"/>
              <a:t>アクタ・トランザクション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図表素材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2136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b="1" dirty="0">
                <a:latin typeface="+mj-ea"/>
              </a:rPr>
              <a:t>EP12 </a:t>
            </a:r>
            <a:r>
              <a:rPr kumimoji="1" lang="ja-JP" altLang="en-US" sz="3600" b="1" dirty="0">
                <a:latin typeface="+mj-ea"/>
              </a:rPr>
              <a:t>適用後パスデータ</a:t>
            </a:r>
          </a:p>
        </p:txBody>
      </p:sp>
    </p:spTree>
    <p:extLst>
      <p:ext uri="{BB962C8B-B14F-4D97-AF65-F5344CB8AC3E}">
        <p14:creationId xmlns:p14="http://schemas.microsoft.com/office/powerpoint/2010/main" val="364983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6352"/>
              </p:ext>
            </p:extLst>
          </p:nvPr>
        </p:nvGraphicFramePr>
        <p:xfrm>
          <a:off x="578674" y="228927"/>
          <a:ext cx="10703098" cy="3817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056">
                  <a:extLst>
                    <a:ext uri="{9D8B030D-6E8A-4147-A177-3AD203B41FA5}">
                      <a16:colId xmlns:a16="http://schemas.microsoft.com/office/drawing/2014/main" val="3064135257"/>
                    </a:ext>
                  </a:extLst>
                </a:gridCol>
                <a:gridCol w="4674742">
                  <a:extLst>
                    <a:ext uri="{9D8B030D-6E8A-4147-A177-3AD203B41FA5}">
                      <a16:colId xmlns:a16="http://schemas.microsoft.com/office/drawing/2014/main" val="536523149"/>
                    </a:ext>
                  </a:extLst>
                </a:gridCol>
                <a:gridCol w="3319300">
                  <a:extLst>
                    <a:ext uri="{9D8B030D-6E8A-4147-A177-3AD203B41FA5}">
                      <a16:colId xmlns:a16="http://schemas.microsoft.com/office/drawing/2014/main" val="2239050567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アクタ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トランザクション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8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Pathway Data Source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 Pathway Data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[EP12-01]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適用後パスデータの発生元、例えば電子カルテシステム。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5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Communications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 Pathway Data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[EP12-01]</a:t>
                      </a:r>
                      <a:endParaRPr kumimoji="1" lang="ja-JP" altLang="en-US" sz="105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 Event Pathway Data [EP12-02]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en-US" altLang="ja-JP" sz="1050" baseline="0" dirty="0"/>
                        <a:t> Pathway List and Administration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[EP12-03]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Retrieve Pathway Data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For Operation [EP12-06]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Update Pathway Data After Operation [EP12-07]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fr-FR" altLang="ja-JP" sz="1050" dirty="0"/>
                        <a:t>Provide and Register Multiple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fr-FR" altLang="ja-JP" sz="1050" dirty="0"/>
                        <a:t>Questionnaire Response </a:t>
                      </a:r>
                      <a:r>
                        <a:rPr kumimoji="1" lang="en-US" altLang="ja-JP" sz="1050" dirty="0"/>
                        <a:t>[QSR-04]</a:t>
                      </a:r>
                    </a:p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Register Questionnaire Response [QSR-05]</a:t>
                      </a:r>
                      <a:endParaRPr kumimoji="1" lang="en-US" altLang="ja-JP" sz="105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fr-FR" altLang="ja-JP" sz="1050" dirty="0"/>
                        <a:t>Request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Operation </a:t>
                      </a:r>
                      <a:r>
                        <a:rPr kumimoji="1" lang="fr-FR" altLang="ja-JP" sz="1050" dirty="0"/>
                        <a:t>Merge</a:t>
                      </a:r>
                      <a:r>
                        <a:rPr kumimoji="1" lang="fr-FR" altLang="ja-JP" sz="1050" baseline="0" dirty="0"/>
                        <a:t> </a:t>
                      </a:r>
                      <a:r>
                        <a:rPr kumimoji="1" lang="fr-FR" altLang="ja-JP" sz="1050" dirty="0"/>
                        <a:t>Questionnaire Response [QSR-06]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fr-FR" altLang="ja-JP" sz="1050"/>
                        <a:t>Provide and Register Pathway Template [EP01-01]</a:t>
                      </a:r>
                      <a:endParaRPr kumimoji="1" lang="fr-FR" altLang="ja-JP" sz="105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Pathway </a:t>
                      </a:r>
                      <a:r>
                        <a:rPr kumimoji="1" lang="en-US" altLang="ja-JP" sz="1050" baseline="0" dirty="0"/>
                        <a:t>Template [</a:t>
                      </a:r>
                      <a:r>
                        <a:rPr kumimoji="1" lang="en-US" altLang="ja-JP" sz="1050" dirty="0"/>
                        <a:t>EP01-02]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Pathway Data Source</a:t>
                      </a:r>
                      <a:r>
                        <a:rPr kumimoji="1" lang="ja-JP" altLang="en-US" sz="1050" dirty="0"/>
                        <a:t>などからデータを受け取り、</a:t>
                      </a: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レポジトリに登録する。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15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Pathway Data Repository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 Event Pathway Data [EP12-02]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en-US" altLang="ja-JP" sz="1050" baseline="0" dirty="0"/>
                        <a:t> Pathway List and Administration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[EP12-03]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Retrieve Pathway Data [EP12-04]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Query Pathway List</a:t>
                      </a:r>
                      <a:r>
                        <a:rPr lang="ja-JP" altLang="en-US" sz="105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[EP12-05]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Retrieve Pathway Data</a:t>
                      </a:r>
                      <a:r>
                        <a:rPr lang="en-US" altLang="ja-JP" sz="105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kumimoji="1" lang="en-US" altLang="ja-JP" sz="1050" dirty="0"/>
                        <a:t> Operation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[EP12-06]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Update Pathway Data After Operation [EP12-07]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リポジトリサーバ。</a:t>
                      </a:r>
                      <a:r>
                        <a:rPr kumimoji="1" lang="en-US" altLang="ja-JP" sz="1050" dirty="0"/>
                        <a:t>CRUD</a:t>
                      </a:r>
                      <a:r>
                        <a:rPr kumimoji="1" lang="ja-JP" altLang="en-US" sz="1050" dirty="0"/>
                        <a:t>機能と検索機能を持つ。例えばクラウド上の</a:t>
                      </a:r>
                      <a:r>
                        <a:rPr kumimoji="1" lang="en-US" altLang="ja-JP" sz="1050" dirty="0"/>
                        <a:t>FHIR</a:t>
                      </a:r>
                      <a:r>
                        <a:rPr kumimoji="1" lang="ja-JP" altLang="en-US" sz="1050" dirty="0"/>
                        <a:t>サービス。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18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Pathway</a:t>
                      </a:r>
                      <a:r>
                        <a:rPr kumimoji="1" lang="en-US" altLang="ja-JP" sz="1050" baseline="0" dirty="0"/>
                        <a:t> Data Consumer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Pathway Data [EP12-04]</a:t>
                      </a:r>
                    </a:p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Query Pathway List</a:t>
                      </a:r>
                      <a:r>
                        <a:rPr lang="ja-JP" altLang="en-US" sz="105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[EP12-05]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リポジトリクライアント。適用後パスデータの利用者、例えば</a:t>
                      </a:r>
                      <a:r>
                        <a:rPr kumimoji="1" lang="en-US" altLang="ja-JP" sz="1050" dirty="0"/>
                        <a:t>PHR</a:t>
                      </a:r>
                      <a:r>
                        <a:rPr kumimoji="1" lang="ja-JP" altLang="en-US" sz="1050" dirty="0"/>
                        <a:t>システム。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9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90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072437"/>
              </p:ext>
            </p:extLst>
          </p:nvPr>
        </p:nvGraphicFramePr>
        <p:xfrm>
          <a:off x="578674" y="228927"/>
          <a:ext cx="10703097" cy="3329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708">
                  <a:extLst>
                    <a:ext uri="{9D8B030D-6E8A-4147-A177-3AD203B41FA5}">
                      <a16:colId xmlns:a16="http://schemas.microsoft.com/office/drawing/2014/main" val="3064135257"/>
                    </a:ext>
                  </a:extLst>
                </a:gridCol>
                <a:gridCol w="2856216">
                  <a:extLst>
                    <a:ext uri="{9D8B030D-6E8A-4147-A177-3AD203B41FA5}">
                      <a16:colId xmlns:a16="http://schemas.microsoft.com/office/drawing/2014/main" val="1388529029"/>
                    </a:ext>
                  </a:extLst>
                </a:gridCol>
                <a:gridCol w="3041150">
                  <a:extLst>
                    <a:ext uri="{9D8B030D-6E8A-4147-A177-3AD203B41FA5}">
                      <a16:colId xmlns:a16="http://schemas.microsoft.com/office/drawing/2014/main" val="536523149"/>
                    </a:ext>
                  </a:extLst>
                </a:gridCol>
                <a:gridCol w="3946023">
                  <a:extLst>
                    <a:ext uri="{9D8B030D-6E8A-4147-A177-3AD203B41FA5}">
                      <a16:colId xmlns:a16="http://schemas.microsoft.com/office/drawing/2014/main" val="2239050567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トランザクション名称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データ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8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EP12-01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 Pathway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EP12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適用後パスデータを生成し、リポジトリへの登録を要求する。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5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EP12-02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 Event Pathway Data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Bundle Message EP12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病日・イベント単位に分割した適用後パスデータをリポジトリに登録する。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18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EP12-03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en-US" altLang="ja-JP" sz="1050" baseline="0" dirty="0"/>
                        <a:t> Pathway List and Administration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List EPathRepository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適用後パスデータリストを</a:t>
                      </a: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リポジトリに登録する。他に登録の経路がない場合、医療機関情報や患者基本情報も登録する。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34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EP12-04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Pathway Data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Bundle Message EP12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病日・イベント単位に分割した適用後パスデータを取得する。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26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EP12-05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Pathway List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Bundle(Search</a:t>
                      </a:r>
                      <a:r>
                        <a:rPr kumimoji="1" lang="en-US" altLang="ja-JP" sz="1050" baseline="0" dirty="0"/>
                        <a:t> Set)</a:t>
                      </a:r>
                      <a:r>
                        <a:rPr kumimoji="1" lang="ja-JP" altLang="en-US" sz="1050" baseline="0" dirty="0"/>
                        <a:t> エントリは</a:t>
                      </a:r>
                      <a:r>
                        <a:rPr kumimoji="1" lang="en-US" altLang="ja-JP" sz="1050" dirty="0"/>
                        <a:t>EPath List EPathRepository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適用後パスデータリストを検索する。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9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EP12-06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Retrieve Pathway Data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baseline="0" dirty="0"/>
                        <a:t>For Operation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EP12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オペレーションを実行するためにパスデータを取得する。例えば</a:t>
                      </a:r>
                      <a:r>
                        <a:rPr kumimoji="1" lang="en-US" altLang="ja-JP" sz="1050" dirty="0"/>
                        <a:t>Request Merge</a:t>
                      </a:r>
                      <a:r>
                        <a:rPr kumimoji="1" lang="en-US" altLang="ja-JP" sz="1050" baseline="0" dirty="0"/>
                        <a:t> </a:t>
                      </a:r>
                      <a:r>
                        <a:rPr kumimoji="1" lang="en-US" altLang="ja-JP" sz="1050" dirty="0"/>
                        <a:t>Questionnaire Response [QSR-06</a:t>
                      </a:r>
                      <a:r>
                        <a:rPr kumimoji="1" lang="ja-JP" altLang="en-US" sz="1050" dirty="0"/>
                        <a:t>」がオペレーションにあたる。</a:t>
                      </a:r>
                      <a:endParaRPr kumimoji="1" lang="en-US" altLang="ja-JP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54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EP12-07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Update Pathway Data</a:t>
                      </a:r>
                      <a:r>
                        <a:rPr kumimoji="1" lang="en-US" altLang="ja-JP" sz="1050" baseline="0" dirty="0"/>
                        <a:t> After Operation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EP12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オペレーションの結果で適用後パスデータを更新する。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81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84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245941" y="1010603"/>
            <a:ext cx="11335612" cy="4308142"/>
            <a:chOff x="245941" y="1010603"/>
            <a:chExt cx="11335612" cy="4308142"/>
          </a:xfrm>
        </p:grpSpPr>
        <p:sp>
          <p:nvSpPr>
            <p:cNvPr id="4" name="正方形/長方形 3"/>
            <p:cNvSpPr/>
            <p:nvPr/>
          </p:nvSpPr>
          <p:spPr>
            <a:xfrm>
              <a:off x="357342" y="3909505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Data Source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4610601" y="2188980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Data Repository</a:t>
              </a: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610601" y="3909505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Communications Gateway</a:t>
              </a:r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9145851" y="2180618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Data Consumer</a:t>
              </a:r>
            </a:p>
          </p:txBody>
        </p:sp>
        <p:cxnSp>
          <p:nvCxnSpPr>
            <p:cNvPr id="9" name="直線コネクタ 8"/>
            <p:cNvCxnSpPr>
              <a:stCxn id="4" idx="3"/>
              <a:endCxn id="6" idx="1"/>
            </p:cNvCxnSpPr>
            <p:nvPr/>
          </p:nvCxnSpPr>
          <p:spPr>
            <a:xfrm>
              <a:off x="2697342" y="4359505"/>
              <a:ext cx="1913259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/>
            <p:cNvCxnSpPr/>
            <p:nvPr/>
          </p:nvCxnSpPr>
          <p:spPr>
            <a:xfrm>
              <a:off x="6030369" y="3088980"/>
              <a:ext cx="0" cy="82052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/>
            <p:cNvSpPr/>
            <p:nvPr/>
          </p:nvSpPr>
          <p:spPr>
            <a:xfrm>
              <a:off x="2620622" y="3788722"/>
              <a:ext cx="2066698" cy="60309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Provide and Register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Pathway Data [EP12-01]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7010592" y="1010603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Query Pathway List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[EP12-05]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線コネクタ 17"/>
            <p:cNvCxnSpPr>
              <a:stCxn id="5" idx="3"/>
              <a:endCxn id="7" idx="1"/>
            </p:cNvCxnSpPr>
            <p:nvPr/>
          </p:nvCxnSpPr>
          <p:spPr>
            <a:xfrm flipV="1">
              <a:off x="6950601" y="2630618"/>
              <a:ext cx="2195250" cy="836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/>
            <p:cNvSpPr/>
            <p:nvPr/>
          </p:nvSpPr>
          <p:spPr>
            <a:xfrm>
              <a:off x="5965417" y="3210557"/>
              <a:ext cx="2384230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↑</a:t>
              </a:r>
              <a:r>
                <a:rPr lang="ja-JP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ja-JP" sz="1100" dirty="0">
                  <a:solidFill>
                    <a:schemeClr val="tx1"/>
                  </a:solidFill>
                </a:rPr>
                <a:t>Provide and Register Pathway List and Administration [EP12-03]</a:t>
              </a: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7010592" y="2003950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Retrieve Pathway Data [EP12-04]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9010837" y="1935201"/>
              <a:ext cx="2570716" cy="1879013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4491036" y="1935201"/>
              <a:ext cx="2570716" cy="3383544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245941" y="3448380"/>
              <a:ext cx="2570716" cy="1870364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コネクタ 55"/>
            <p:cNvCxnSpPr/>
            <p:nvPr/>
          </p:nvCxnSpPr>
          <p:spPr>
            <a:xfrm>
              <a:off x="5504675" y="3080618"/>
              <a:ext cx="0" cy="82052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正方形/長方形 56"/>
            <p:cNvSpPr/>
            <p:nvPr/>
          </p:nvSpPr>
          <p:spPr>
            <a:xfrm>
              <a:off x="3559070" y="3166604"/>
              <a:ext cx="2159561" cy="606138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Provide and Register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Event Pathway Data</a:t>
              </a:r>
              <a:r>
                <a:rPr lang="ja-JP" altLang="en-US" sz="1600" dirty="0">
                  <a:solidFill>
                    <a:schemeClr val="tx1"/>
                  </a:solidFill>
                </a:rPr>
                <a:t>↑</a:t>
              </a:r>
              <a:endParaRPr lang="en-US" altLang="ja-JP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[EP12-02]</a:t>
              </a:r>
            </a:p>
          </p:txBody>
        </p:sp>
        <p:cxnSp>
          <p:nvCxnSpPr>
            <p:cNvPr id="20" name="カギ線コネクタ 19"/>
            <p:cNvCxnSpPr>
              <a:stCxn id="5" idx="0"/>
              <a:endCxn id="7" idx="0"/>
            </p:cNvCxnSpPr>
            <p:nvPr/>
          </p:nvCxnSpPr>
          <p:spPr>
            <a:xfrm rot="5400000" flipH="1" flipV="1">
              <a:off x="8044045" y="-82826"/>
              <a:ext cx="8362" cy="4535250"/>
            </a:xfrm>
            <a:prstGeom prst="bentConnector3">
              <a:avLst>
                <a:gd name="adj1" fmla="val 6611409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503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b="1" dirty="0">
                <a:latin typeface="+mj-ea"/>
              </a:rPr>
              <a:t>QSA</a:t>
            </a:r>
            <a:r>
              <a:rPr lang="ja-JP" altLang="en-US" sz="3600" b="1" dirty="0">
                <a:latin typeface="+mj-ea"/>
              </a:rPr>
              <a:t> </a:t>
            </a:r>
            <a:r>
              <a:rPr kumimoji="1" lang="ja-JP" altLang="en-US" sz="3600" b="1" dirty="0">
                <a:latin typeface="+mj-ea"/>
              </a:rPr>
              <a:t>入力フォーム、</a:t>
            </a:r>
            <a:r>
              <a:rPr lang="en-US" altLang="ja-JP" sz="3600" b="1" dirty="0">
                <a:latin typeface="+mj-ea"/>
              </a:rPr>
              <a:t>QSR </a:t>
            </a:r>
            <a:r>
              <a:rPr lang="ja-JP" altLang="en-US" sz="3600" b="1" dirty="0">
                <a:latin typeface="+mj-ea"/>
              </a:rPr>
              <a:t>入力フォーム回答</a:t>
            </a:r>
            <a:endParaRPr kumimoji="1" lang="ja-JP" altLang="en-US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23001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70825"/>
              </p:ext>
            </p:extLst>
          </p:nvPr>
        </p:nvGraphicFramePr>
        <p:xfrm>
          <a:off x="578674" y="228927"/>
          <a:ext cx="10703098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056">
                  <a:extLst>
                    <a:ext uri="{9D8B030D-6E8A-4147-A177-3AD203B41FA5}">
                      <a16:colId xmlns:a16="http://schemas.microsoft.com/office/drawing/2014/main" val="3064135257"/>
                    </a:ext>
                  </a:extLst>
                </a:gridCol>
                <a:gridCol w="4674742">
                  <a:extLst>
                    <a:ext uri="{9D8B030D-6E8A-4147-A177-3AD203B41FA5}">
                      <a16:colId xmlns:a16="http://schemas.microsoft.com/office/drawing/2014/main" val="536523149"/>
                    </a:ext>
                  </a:extLst>
                </a:gridCol>
                <a:gridCol w="3319300">
                  <a:extLst>
                    <a:ext uri="{9D8B030D-6E8A-4147-A177-3AD203B41FA5}">
                      <a16:colId xmlns:a16="http://schemas.microsoft.com/office/drawing/2014/main" val="2239050567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アクタ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トランザクション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8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Questionnaire Source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baseline="0" dirty="0"/>
                        <a:t>Questionnaire </a:t>
                      </a:r>
                      <a:r>
                        <a:rPr kumimoji="1" lang="en-US" altLang="ja-JP" sz="1050" dirty="0"/>
                        <a:t>[QSA-01]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入力フォームの発生元、例えば電子カルテシステム。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5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Questionnaire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Repository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baseline="0" dirty="0"/>
                        <a:t>Questionnaire </a:t>
                      </a:r>
                      <a:r>
                        <a:rPr kumimoji="1" lang="en-US" altLang="ja-JP" sz="1050" dirty="0"/>
                        <a:t>[QSA-01]</a:t>
                      </a:r>
                      <a:endParaRPr kumimoji="1" lang="ja-JP" altLang="en-US" sz="1050" dirty="0"/>
                    </a:p>
                    <a:p>
                      <a:r>
                        <a:rPr kumimoji="1" lang="en-US" altLang="ja-JP" sz="1050" dirty="0"/>
                        <a:t>Retrieve Questionnaire [QSA-02]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Questionnaire [QSA-03]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リポジトリサーバ、例えばクラウド上の</a:t>
                      </a:r>
                      <a:r>
                        <a:rPr kumimoji="1" lang="en-US" altLang="ja-JP" sz="1050" dirty="0"/>
                        <a:t>FHIR</a:t>
                      </a:r>
                      <a:r>
                        <a:rPr kumimoji="1" lang="ja-JP" altLang="en-US" sz="1050" dirty="0"/>
                        <a:t>サービス。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18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Questionnaire </a:t>
                      </a:r>
                      <a:r>
                        <a:rPr kumimoji="1" lang="en-US" altLang="ja-JP" sz="1050" baseline="0" dirty="0"/>
                        <a:t>Consumer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Questionnaire [QSA-02]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Questionnaire [QSA-03]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リポジトリクライアント。入力フォームの利用者、例えば</a:t>
                      </a:r>
                      <a:r>
                        <a:rPr kumimoji="1" lang="en-US" altLang="ja-JP" sz="1050" dirty="0"/>
                        <a:t>PHR</a:t>
                      </a:r>
                      <a:r>
                        <a:rPr kumimoji="1" lang="ja-JP" altLang="en-US" sz="1050" dirty="0"/>
                        <a:t>システム。</a:t>
                      </a:r>
                    </a:p>
                    <a:p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9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Questionnaire Response Source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baseline="0" dirty="0"/>
                        <a:t>Questionnaire </a:t>
                      </a:r>
                      <a:r>
                        <a:rPr kumimoji="1" lang="en-US" altLang="ja-JP" sz="1050" dirty="0"/>
                        <a:t>Response [QSR-01]</a:t>
                      </a:r>
                    </a:p>
                    <a:p>
                      <a:r>
                        <a:rPr kumimoji="1" lang="fr-FR" altLang="ja-JP" sz="1050" dirty="0"/>
                        <a:t>Provide and Request Multiple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fr-FR" altLang="ja-JP" sz="1050" dirty="0"/>
                        <a:t>Questionnaire Response </a:t>
                      </a:r>
                      <a:r>
                        <a:rPr kumimoji="1" lang="en-US" altLang="ja-JP" sz="1050" dirty="0"/>
                        <a:t>[QSR-04]</a:t>
                      </a:r>
                      <a:endParaRPr kumimoji="1" lang="fr-FR" altLang="ja-JP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入力フォーム回答の発生元、例えば</a:t>
                      </a:r>
                      <a:r>
                        <a:rPr kumimoji="1" lang="en-US" altLang="ja-JP" sz="1050" dirty="0"/>
                        <a:t>PHR</a:t>
                      </a:r>
                      <a:r>
                        <a:rPr kumimoji="1" lang="ja-JP" altLang="en-US" sz="1050" dirty="0"/>
                        <a:t>システム。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94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Questionnaire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Response Repository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baseline="0" dirty="0"/>
                        <a:t>Questionnaire </a:t>
                      </a:r>
                      <a:r>
                        <a:rPr kumimoji="1" lang="en-US" altLang="ja-JP" sz="1050" dirty="0"/>
                        <a:t>Response </a:t>
                      </a:r>
                      <a:r>
                        <a:rPr kumimoji="1" lang="en-US" altLang="ja-JP" sz="1050" baseline="0" dirty="0"/>
                        <a:t> </a:t>
                      </a:r>
                      <a:r>
                        <a:rPr kumimoji="1" lang="en-US" altLang="ja-JP" sz="1050" dirty="0"/>
                        <a:t>[QSR-01]</a:t>
                      </a:r>
                      <a:endParaRPr kumimoji="1" lang="ja-JP" altLang="en-US" sz="1050" dirty="0"/>
                    </a:p>
                    <a:p>
                      <a:r>
                        <a:rPr kumimoji="1" lang="en-US" altLang="ja-JP" sz="1050" dirty="0"/>
                        <a:t>Retrieve Questionnaire Response  [QSR-02]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Questionnaire Response [QSR-03]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Register Questionnaire Response [QSR-05]</a:t>
                      </a:r>
                      <a:endParaRPr kumimoji="1" lang="en-US" altLang="ja-JP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リポジトリサーバ、例えばクラウド上の</a:t>
                      </a:r>
                      <a:r>
                        <a:rPr kumimoji="1" lang="en-US" altLang="ja-JP" sz="1050" dirty="0"/>
                        <a:t>FHIR</a:t>
                      </a:r>
                      <a:r>
                        <a:rPr kumimoji="1" lang="ja-JP" altLang="en-US" sz="1050" dirty="0"/>
                        <a:t>サービス。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8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Questionnaire Response </a:t>
                      </a:r>
                      <a:r>
                        <a:rPr kumimoji="1" lang="en-US" altLang="ja-JP" sz="1050" baseline="0" dirty="0"/>
                        <a:t>Consumer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Questionnaire Response  [QSR-02]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Questionnaire Response [QSR-03]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fr-FR" altLang="ja-JP" sz="1050" dirty="0"/>
                        <a:t>Request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Operation </a:t>
                      </a:r>
                      <a:r>
                        <a:rPr kumimoji="1" lang="fr-FR" altLang="ja-JP" sz="1050" dirty="0"/>
                        <a:t>Merge</a:t>
                      </a:r>
                      <a:r>
                        <a:rPr kumimoji="1" lang="fr-FR" altLang="ja-JP" sz="1050" baseline="0" dirty="0"/>
                        <a:t> </a:t>
                      </a:r>
                      <a:r>
                        <a:rPr kumimoji="1" lang="fr-FR" altLang="ja-JP" sz="1050" dirty="0"/>
                        <a:t>Questionnaire Response [QSR-06]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リポジトリクライアント。入力フォーム回答の利用者、例えば電子カルテシステム。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8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48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73590"/>
              </p:ext>
            </p:extLst>
          </p:nvPr>
        </p:nvGraphicFramePr>
        <p:xfrm>
          <a:off x="578674" y="228927"/>
          <a:ext cx="10703097" cy="395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708">
                  <a:extLst>
                    <a:ext uri="{9D8B030D-6E8A-4147-A177-3AD203B41FA5}">
                      <a16:colId xmlns:a16="http://schemas.microsoft.com/office/drawing/2014/main" val="3064135257"/>
                    </a:ext>
                  </a:extLst>
                </a:gridCol>
                <a:gridCol w="2856216">
                  <a:extLst>
                    <a:ext uri="{9D8B030D-6E8A-4147-A177-3AD203B41FA5}">
                      <a16:colId xmlns:a16="http://schemas.microsoft.com/office/drawing/2014/main" val="1388529029"/>
                    </a:ext>
                  </a:extLst>
                </a:gridCol>
                <a:gridCol w="3041150">
                  <a:extLst>
                    <a:ext uri="{9D8B030D-6E8A-4147-A177-3AD203B41FA5}">
                      <a16:colId xmlns:a16="http://schemas.microsoft.com/office/drawing/2014/main" val="536523149"/>
                    </a:ext>
                  </a:extLst>
                </a:gridCol>
                <a:gridCol w="3946023">
                  <a:extLst>
                    <a:ext uri="{9D8B030D-6E8A-4147-A177-3AD203B41FA5}">
                      <a16:colId xmlns:a16="http://schemas.microsoft.com/office/drawing/2014/main" val="2239050567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トランザクション名称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データ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8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QSA-01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 Questionnaire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Questionnaire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入力用フォームデータを生成し、リポジトリに登録する。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5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QSA-02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Questionnaire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Questionnaire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入力用フォームデータを取得する。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26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QSA-03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Questionnaire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Bundle(Search</a:t>
                      </a:r>
                      <a:r>
                        <a:rPr kumimoji="1" lang="en-US" altLang="ja-JP" sz="1050" baseline="0" dirty="0"/>
                        <a:t> Set)</a:t>
                      </a:r>
                      <a:r>
                        <a:rPr kumimoji="1" lang="ja-JP" altLang="en-US" sz="1050" baseline="0" dirty="0"/>
                        <a:t> エントリは</a:t>
                      </a:r>
                      <a:r>
                        <a:rPr kumimoji="1" lang="en-US" altLang="ja-JP" sz="1050" dirty="0"/>
                        <a:t>EPath Questionnaire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入力用フォームデータを検索する。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9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QSR-01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 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入力用フォーム回答データを生成し、リポジトリに登録する。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24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QSR-02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入力用フォーム回答データを取得する。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445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QSR-03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Bundle(Search</a:t>
                      </a:r>
                      <a:r>
                        <a:rPr kumimoji="1" lang="en-US" altLang="ja-JP" sz="1050" baseline="0" dirty="0"/>
                        <a:t> Set)</a:t>
                      </a:r>
                      <a:r>
                        <a:rPr kumimoji="1" lang="ja-JP" altLang="en-US" sz="1050" baseline="0" dirty="0"/>
                        <a:t> エントリは</a:t>
                      </a:r>
                      <a:r>
                        <a:rPr kumimoji="1" lang="en-US" altLang="ja-JP" sz="1050" dirty="0"/>
                        <a:t>EPath 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入力用フォーム回答データを検索する。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25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QSR-04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fr-FR" altLang="ja-JP" sz="1050" dirty="0"/>
                        <a:t>Provide and Request Register Multiple</a:t>
                      </a:r>
                    </a:p>
                    <a:p>
                      <a:r>
                        <a:rPr kumimoji="1" lang="fr-FR" altLang="ja-JP" sz="1050" dirty="0"/>
                        <a:t>Questionnaire Response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Bundle Message EP22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複数の入力用フォーム回答データのリポジトリへの登録を要求する。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689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QSR-05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Register QuestionnaireResponse</a:t>
                      </a:r>
                      <a:endParaRPr kumimoji="1" lang="fr-FR" altLang="ja-JP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QuestionnaireResponse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入力用フォーム回答をリポジトリに登録する。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2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QSR-06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Request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Operation </a:t>
                      </a:r>
                      <a:r>
                        <a:rPr kumimoji="1" lang="en-US" altLang="ja-JP" sz="1050" dirty="0"/>
                        <a:t>Merge</a:t>
                      </a:r>
                      <a:r>
                        <a:rPr kumimoji="1" lang="en-US" altLang="ja-JP" sz="1050" baseline="0" dirty="0"/>
                        <a:t> </a:t>
                      </a:r>
                      <a:r>
                        <a:rPr kumimoji="1" lang="en-US" altLang="ja-JP" sz="1050" dirty="0"/>
                        <a:t>Questionnaire Response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QuestionnaireResponse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EP22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入力用フォーム回答データの内容を適用後パスデータに反映するためのオペレーション（</a:t>
                      </a:r>
                      <a:r>
                        <a:rPr kumimoji="1" lang="en-US" altLang="ja-JP" sz="1050" dirty="0"/>
                        <a:t>Operation</a:t>
                      </a:r>
                      <a:r>
                        <a:rPr kumimoji="1" lang="ja-JP" altLang="en-US" sz="1050" dirty="0"/>
                        <a:t>）を要求する。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46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36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627805" y="641216"/>
            <a:ext cx="11303015" cy="4048122"/>
            <a:chOff x="602867" y="1181544"/>
            <a:chExt cx="11303015" cy="4048122"/>
          </a:xfrm>
        </p:grpSpPr>
        <p:sp>
          <p:nvSpPr>
            <p:cNvPr id="86" name="正方形/長方形 85"/>
            <p:cNvSpPr/>
            <p:nvPr/>
          </p:nvSpPr>
          <p:spPr>
            <a:xfrm>
              <a:off x="4832424" y="1978577"/>
              <a:ext cx="2542612" cy="3251089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602867" y="1978577"/>
              <a:ext cx="2570716" cy="2745387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4" name="正方形/長方形 3"/>
            <p:cNvSpPr/>
            <p:nvPr/>
          </p:nvSpPr>
          <p:spPr>
            <a:xfrm>
              <a:off x="718225" y="3550538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Source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957808" y="3553029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Repository</a:t>
              </a:r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9470051" y="3553619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>
                  <a:solidFill>
                    <a:schemeClr val="tx1"/>
                  </a:solidFill>
                </a:rPr>
                <a:t> </a:t>
              </a:r>
              <a:r>
                <a:rPr lang="en-US" altLang="ja-JP" sz="1200">
                  <a:solidFill>
                    <a:schemeClr val="tx1"/>
                  </a:solidFill>
                </a:rPr>
                <a:t>Consumer</a:t>
              </a:r>
              <a:endParaRPr lang="en-US" altLang="ja-JP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コネクタ 8"/>
            <p:cNvCxnSpPr>
              <a:stCxn id="4" idx="3"/>
              <a:endCxn id="6" idx="1"/>
            </p:cNvCxnSpPr>
            <p:nvPr/>
          </p:nvCxnSpPr>
          <p:spPr>
            <a:xfrm>
              <a:off x="3058225" y="4000538"/>
              <a:ext cx="1899583" cy="249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/>
            <p:cNvSpPr/>
            <p:nvPr/>
          </p:nvSpPr>
          <p:spPr>
            <a:xfrm>
              <a:off x="2993128" y="3453423"/>
              <a:ext cx="2066698" cy="60309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Provide and Register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Questionnaire [QSA-01]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7332642" y="4450538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Query Questionnaire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[QSA-03]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線コネクタ 17"/>
            <p:cNvCxnSpPr>
              <a:stCxn id="6" idx="3"/>
              <a:endCxn id="7" idx="1"/>
            </p:cNvCxnSpPr>
            <p:nvPr/>
          </p:nvCxnSpPr>
          <p:spPr>
            <a:xfrm>
              <a:off x="7297808" y="4003029"/>
              <a:ext cx="2172243" cy="5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正方形/長方形 24"/>
            <p:cNvSpPr/>
            <p:nvPr/>
          </p:nvSpPr>
          <p:spPr>
            <a:xfrm>
              <a:off x="7335911" y="3356781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Retrieve Questionnaire [QSA-02]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731420" y="2293468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Response Consumer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9470051" y="2294447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Response Source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4934801" y="2295986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Response Repository</a:t>
              </a: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9335166" y="1978577"/>
              <a:ext cx="2570716" cy="2745387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9" name="直線コネクタ 78"/>
            <p:cNvCxnSpPr>
              <a:stCxn id="64" idx="3"/>
              <a:endCxn id="35" idx="1"/>
            </p:cNvCxnSpPr>
            <p:nvPr/>
          </p:nvCxnSpPr>
          <p:spPr>
            <a:xfrm flipV="1">
              <a:off x="7274801" y="2744447"/>
              <a:ext cx="2195250" cy="153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正方形/長方形 81"/>
            <p:cNvSpPr/>
            <p:nvPr/>
          </p:nvSpPr>
          <p:spPr>
            <a:xfrm>
              <a:off x="7138150" y="1978577"/>
              <a:ext cx="2422430" cy="844714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Provide and Register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Questionnaire Response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[QSR-01]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3" name="直線コネクタ 82"/>
            <p:cNvCxnSpPr>
              <a:stCxn id="34" idx="3"/>
              <a:endCxn id="64" idx="1"/>
            </p:cNvCxnSpPr>
            <p:nvPr/>
          </p:nvCxnSpPr>
          <p:spPr>
            <a:xfrm>
              <a:off x="3071420" y="2743468"/>
              <a:ext cx="1863381" cy="251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正方形/長方形 86"/>
            <p:cNvSpPr/>
            <p:nvPr/>
          </p:nvSpPr>
          <p:spPr>
            <a:xfrm>
              <a:off x="2982034" y="2087737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Retrieve Questionnaire Response [QSR-02]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88" name="正方形/長方形 87"/>
            <p:cNvSpPr/>
            <p:nvPr/>
          </p:nvSpPr>
          <p:spPr>
            <a:xfrm>
              <a:off x="2969762" y="1181544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Query Questionnaire Response [QSR-03]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カギ線コネクタ 50"/>
            <p:cNvCxnSpPr>
              <a:stCxn id="34" idx="0"/>
              <a:endCxn id="64" idx="0"/>
            </p:cNvCxnSpPr>
            <p:nvPr/>
          </p:nvCxnSpPr>
          <p:spPr>
            <a:xfrm rot="16200000" flipH="1">
              <a:off x="4001851" y="193037"/>
              <a:ext cx="2518" cy="4203381"/>
            </a:xfrm>
            <a:prstGeom prst="bentConnector3">
              <a:avLst>
                <a:gd name="adj1" fmla="val -19312708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カギ線コネクタ 54"/>
            <p:cNvCxnSpPr>
              <a:stCxn id="6" idx="2"/>
              <a:endCxn id="7" idx="2"/>
            </p:cNvCxnSpPr>
            <p:nvPr/>
          </p:nvCxnSpPr>
          <p:spPr>
            <a:xfrm rot="16200000" flipH="1">
              <a:off x="8383634" y="2197202"/>
              <a:ext cx="590" cy="4512243"/>
            </a:xfrm>
            <a:prstGeom prst="bentConnector3">
              <a:avLst>
                <a:gd name="adj1" fmla="val 105065085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694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602866" y="573726"/>
            <a:ext cx="11303015" cy="5932063"/>
            <a:chOff x="602866" y="573726"/>
            <a:chExt cx="11303015" cy="5932063"/>
          </a:xfrm>
        </p:grpSpPr>
        <p:sp>
          <p:nvSpPr>
            <p:cNvPr id="86" name="正方形/長方形 85"/>
            <p:cNvSpPr/>
            <p:nvPr/>
          </p:nvSpPr>
          <p:spPr>
            <a:xfrm>
              <a:off x="4832423" y="573726"/>
              <a:ext cx="2615780" cy="3709661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602866" y="573727"/>
              <a:ext cx="2570716" cy="1496144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957807" y="3112452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Communications Gateway</a:t>
              </a:r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9470050" y="3113042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Response Source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線コネクタ 17"/>
            <p:cNvCxnSpPr>
              <a:stCxn id="6" idx="3"/>
              <a:endCxn id="7" idx="1"/>
            </p:cNvCxnSpPr>
            <p:nvPr/>
          </p:nvCxnSpPr>
          <p:spPr>
            <a:xfrm>
              <a:off x="7297807" y="3562452"/>
              <a:ext cx="2172243" cy="5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正方形/長方形 24"/>
            <p:cNvSpPr/>
            <p:nvPr/>
          </p:nvSpPr>
          <p:spPr>
            <a:xfrm>
              <a:off x="7321751" y="2632495"/>
              <a:ext cx="2066698" cy="959913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Provide and Register Multiple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Questionnaire Response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[QSR-04]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731419" y="888617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Response Consumer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正方形/長方形 63"/>
            <p:cNvSpPr/>
            <p:nvPr/>
          </p:nvSpPr>
          <p:spPr>
            <a:xfrm>
              <a:off x="4959739" y="891135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Questionnaire</a:t>
              </a:r>
              <a:r>
                <a:rPr lang="ja-JP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ja-JP" sz="1200" dirty="0">
                  <a:solidFill>
                    <a:schemeClr val="tx1"/>
                  </a:solidFill>
                </a:rPr>
                <a:t>Response Repository</a:t>
              </a:r>
            </a:p>
          </p:txBody>
        </p:sp>
        <p:sp>
          <p:nvSpPr>
            <p:cNvPr id="65" name="正方形/長方形 64"/>
            <p:cNvSpPr/>
            <p:nvPr/>
          </p:nvSpPr>
          <p:spPr>
            <a:xfrm>
              <a:off x="9335165" y="2831175"/>
              <a:ext cx="2570716" cy="1452212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9" name="直線コネクタ 78"/>
            <p:cNvCxnSpPr>
              <a:stCxn id="64" idx="2"/>
              <a:endCxn id="6" idx="0"/>
            </p:cNvCxnSpPr>
            <p:nvPr/>
          </p:nvCxnSpPr>
          <p:spPr>
            <a:xfrm flipH="1">
              <a:off x="6127807" y="1791135"/>
              <a:ext cx="1932" cy="13213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正方形/長方形 81"/>
            <p:cNvSpPr/>
            <p:nvPr/>
          </p:nvSpPr>
          <p:spPr>
            <a:xfrm>
              <a:off x="6151751" y="1986461"/>
              <a:ext cx="1940490" cy="844714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100" dirty="0">
                  <a:solidFill>
                    <a:schemeClr val="tx1"/>
                  </a:solidFill>
                </a:rPr>
                <a:t>Register 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</a:rPr>
                <a:t>Questionnaire Response 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</a:rPr>
                <a:t>[QSR-05]</a:t>
              </a:r>
            </a:p>
            <a:p>
              <a:r>
                <a:rPr lang="ja-JP" altLang="en-US" sz="1600" dirty="0">
                  <a:solidFill>
                    <a:schemeClr val="tx1"/>
                  </a:solidFill>
                </a:rPr>
                <a:t>↑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3" name="直線コネクタ 82"/>
            <p:cNvCxnSpPr>
              <a:stCxn id="34" idx="3"/>
              <a:endCxn id="64" idx="1"/>
            </p:cNvCxnSpPr>
            <p:nvPr/>
          </p:nvCxnSpPr>
          <p:spPr>
            <a:xfrm>
              <a:off x="3071419" y="1338617"/>
              <a:ext cx="1888320" cy="251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正方形/長方形 86"/>
            <p:cNvSpPr/>
            <p:nvPr/>
          </p:nvSpPr>
          <p:spPr>
            <a:xfrm>
              <a:off x="2982033" y="682886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Query Questionnaire Response [QSR-03]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カギ線コネクタ 31"/>
            <p:cNvCxnSpPr>
              <a:stCxn id="34" idx="2"/>
            </p:cNvCxnSpPr>
            <p:nvPr/>
          </p:nvCxnSpPr>
          <p:spPr>
            <a:xfrm rot="16200000" flipH="1">
              <a:off x="2531192" y="1158843"/>
              <a:ext cx="1773835" cy="3033381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正方形/長方形 35"/>
            <p:cNvSpPr/>
            <p:nvPr/>
          </p:nvSpPr>
          <p:spPr>
            <a:xfrm>
              <a:off x="2192229" y="2725602"/>
              <a:ext cx="2066698" cy="885938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Request Operation Merge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Questionnaire Response [QSR-06]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4958668" y="5307717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Data Repository</a:t>
              </a: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4832422" y="5009645"/>
              <a:ext cx="2615781" cy="1496144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直線コネクタ 38"/>
            <p:cNvCxnSpPr>
              <a:stCxn id="6" idx="2"/>
              <a:endCxn id="37" idx="0"/>
            </p:cNvCxnSpPr>
            <p:nvPr/>
          </p:nvCxnSpPr>
          <p:spPr>
            <a:xfrm>
              <a:off x="6127807" y="4012452"/>
              <a:ext cx="861" cy="129526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正方形/長方形 40"/>
            <p:cNvSpPr/>
            <p:nvPr/>
          </p:nvSpPr>
          <p:spPr>
            <a:xfrm>
              <a:off x="6151751" y="4385867"/>
              <a:ext cx="2726242" cy="606138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 dirty="0">
                  <a:solidFill>
                    <a:schemeClr val="tx1"/>
                  </a:solidFill>
                </a:rPr>
                <a:t>↓ </a:t>
              </a:r>
              <a:r>
                <a:rPr lang="en-US" altLang="ja-JP" sz="1100" dirty="0">
                  <a:solidFill>
                    <a:schemeClr val="tx1"/>
                  </a:solidFill>
                </a:rPr>
                <a:t>Update Pathway Data</a:t>
              </a:r>
              <a:r>
                <a:rPr lang="ja-JP" altLang="en-US" sz="1100" dirty="0">
                  <a:solidFill>
                    <a:schemeClr val="tx1"/>
                  </a:solidFill>
                </a:rPr>
                <a:t> </a:t>
              </a:r>
              <a:endParaRPr lang="en-US" altLang="ja-JP" sz="1100" dirty="0">
                <a:solidFill>
                  <a:schemeClr val="tx1"/>
                </a:solidFill>
              </a:endParaRPr>
            </a:p>
            <a:p>
              <a:r>
                <a:rPr lang="en-US" altLang="ja-JP" sz="1100" dirty="0">
                  <a:solidFill>
                    <a:schemeClr val="tx1"/>
                  </a:solidFill>
                </a:rPr>
                <a:t>After Operation [EP12-07]</a:t>
              </a:r>
            </a:p>
          </p:txBody>
        </p:sp>
        <p:cxnSp>
          <p:nvCxnSpPr>
            <p:cNvPr id="30" name="曲線コネクタ 29"/>
            <p:cNvCxnSpPr>
              <a:stCxn id="37" idx="1"/>
              <a:endCxn id="6" idx="1"/>
            </p:cNvCxnSpPr>
            <p:nvPr/>
          </p:nvCxnSpPr>
          <p:spPr>
            <a:xfrm rot="10800000">
              <a:off x="4957808" y="3562453"/>
              <a:ext cx="861" cy="2195265"/>
            </a:xfrm>
            <a:prstGeom prst="curvedConnector3">
              <a:avLst>
                <a:gd name="adj1" fmla="val 179195354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正方形/長方形 53"/>
            <p:cNvSpPr/>
            <p:nvPr/>
          </p:nvSpPr>
          <p:spPr>
            <a:xfrm>
              <a:off x="3294312" y="4454902"/>
              <a:ext cx="2066698" cy="703779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↓</a:t>
              </a:r>
              <a:r>
                <a:rPr lang="ja-JP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ja-JP" sz="1100" dirty="0">
                  <a:solidFill>
                    <a:schemeClr val="tx1"/>
                  </a:solidFill>
                </a:rPr>
                <a:t>Retrieve Pathway Data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For Operation [EP12-06]</a:t>
              </a:r>
            </a:p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232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b="1" dirty="0">
                <a:latin typeface="+mj-ea"/>
              </a:rPr>
              <a:t>EP01</a:t>
            </a:r>
            <a:r>
              <a:rPr lang="ja-JP" altLang="en-US" sz="3600" b="1" dirty="0">
                <a:latin typeface="+mj-ea"/>
              </a:rPr>
              <a:t> ひな型</a:t>
            </a:r>
            <a:r>
              <a:rPr kumimoji="1" lang="ja-JP" altLang="en-US" sz="3600" b="1" dirty="0">
                <a:latin typeface="+mj-ea"/>
              </a:rPr>
              <a:t>パス</a:t>
            </a:r>
            <a:r>
              <a:rPr lang="ja-JP" altLang="en-US" sz="3600" b="1" dirty="0">
                <a:latin typeface="+mj-ea"/>
              </a:rPr>
              <a:t>、</a:t>
            </a:r>
            <a:r>
              <a:rPr lang="en-US" altLang="ja-JP" sz="3600" b="1" dirty="0">
                <a:latin typeface="+mj-ea"/>
              </a:rPr>
              <a:t> EP02 </a:t>
            </a:r>
            <a:r>
              <a:rPr kumimoji="1" lang="ja-JP" altLang="en-US" sz="3600" b="1" dirty="0">
                <a:latin typeface="+mj-ea"/>
              </a:rPr>
              <a:t>施設パス</a:t>
            </a:r>
          </a:p>
        </p:txBody>
      </p:sp>
    </p:spTree>
    <p:extLst>
      <p:ext uri="{BB962C8B-B14F-4D97-AF65-F5344CB8AC3E}">
        <p14:creationId xmlns:p14="http://schemas.microsoft.com/office/powerpoint/2010/main" val="1939038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547312"/>
              </p:ext>
            </p:extLst>
          </p:nvPr>
        </p:nvGraphicFramePr>
        <p:xfrm>
          <a:off x="578674" y="228927"/>
          <a:ext cx="10703098" cy="21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056">
                  <a:extLst>
                    <a:ext uri="{9D8B030D-6E8A-4147-A177-3AD203B41FA5}">
                      <a16:colId xmlns:a16="http://schemas.microsoft.com/office/drawing/2014/main" val="3064135257"/>
                    </a:ext>
                  </a:extLst>
                </a:gridCol>
                <a:gridCol w="4674742">
                  <a:extLst>
                    <a:ext uri="{9D8B030D-6E8A-4147-A177-3AD203B41FA5}">
                      <a16:colId xmlns:a16="http://schemas.microsoft.com/office/drawing/2014/main" val="536523149"/>
                    </a:ext>
                  </a:extLst>
                </a:gridCol>
                <a:gridCol w="3319300">
                  <a:extLst>
                    <a:ext uri="{9D8B030D-6E8A-4147-A177-3AD203B41FA5}">
                      <a16:colId xmlns:a16="http://schemas.microsoft.com/office/drawing/2014/main" val="2239050567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アクタ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トランザクション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8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Pathway Template</a:t>
                      </a:r>
                      <a:r>
                        <a:rPr kumimoji="1" lang="en-US" altLang="ja-JP" sz="1050" baseline="0" dirty="0"/>
                        <a:t> Source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Pathway </a:t>
                      </a:r>
                      <a:r>
                        <a:rPr kumimoji="1" lang="en-US" altLang="ja-JP" sz="1050" baseline="0" dirty="0"/>
                        <a:t>Template [</a:t>
                      </a:r>
                      <a:r>
                        <a:rPr kumimoji="1" lang="en-US" altLang="ja-JP" sz="1050" dirty="0"/>
                        <a:t>EP01-01]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ひな型パス、施設パスの発生元、例えば施設パスの場合は電子カルテシステム。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94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Pathway Template Repository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Provide and 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Pathway </a:t>
                      </a:r>
                      <a:r>
                        <a:rPr kumimoji="1" lang="en-US" altLang="ja-JP" sz="1050" baseline="0" dirty="0"/>
                        <a:t>Template [</a:t>
                      </a:r>
                      <a:r>
                        <a:rPr kumimoji="1" lang="en-US" altLang="ja-JP" sz="1050" dirty="0"/>
                        <a:t>EP01-01]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Register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kumimoji="1" lang="en-US" altLang="ja-JP" sz="1050" dirty="0"/>
                        <a:t>Pathway </a:t>
                      </a:r>
                      <a:r>
                        <a:rPr kumimoji="1" lang="en-US" altLang="ja-JP" sz="1050" baseline="0" dirty="0"/>
                        <a:t>Template [</a:t>
                      </a:r>
                      <a:r>
                        <a:rPr kumimoji="1" lang="en-US" altLang="ja-JP" sz="1050" dirty="0"/>
                        <a:t>EP01-02]</a:t>
                      </a:r>
                    </a:p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Retrieve Pathway Template [EP01-03]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Query Pathway Template [EP01-04]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リポジトリサーバ、例えばクラウド上の</a:t>
                      </a:r>
                      <a:r>
                        <a:rPr kumimoji="1" lang="en-US" altLang="ja-JP" sz="1050" dirty="0"/>
                        <a:t>FHIR</a:t>
                      </a:r>
                      <a:r>
                        <a:rPr kumimoji="1" lang="ja-JP" altLang="en-US" sz="1050" dirty="0"/>
                        <a:t>サービス。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8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Pathway Template Consumer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Retrieve Pathway Template [EP01-03]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Query Pathway Template [EP01-04]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リポジトリクライアント。ひな型パス、施設パスの利用者、例えば電子カルテシステム。</a:t>
                      </a:r>
                    </a:p>
                    <a:p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8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262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405505"/>
              </p:ext>
            </p:extLst>
          </p:nvPr>
        </p:nvGraphicFramePr>
        <p:xfrm>
          <a:off x="578674" y="228927"/>
          <a:ext cx="10703097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708">
                  <a:extLst>
                    <a:ext uri="{9D8B030D-6E8A-4147-A177-3AD203B41FA5}">
                      <a16:colId xmlns:a16="http://schemas.microsoft.com/office/drawing/2014/main" val="3064135257"/>
                    </a:ext>
                  </a:extLst>
                </a:gridCol>
                <a:gridCol w="2856216">
                  <a:extLst>
                    <a:ext uri="{9D8B030D-6E8A-4147-A177-3AD203B41FA5}">
                      <a16:colId xmlns:a16="http://schemas.microsoft.com/office/drawing/2014/main" val="1388529029"/>
                    </a:ext>
                  </a:extLst>
                </a:gridCol>
                <a:gridCol w="3041150">
                  <a:extLst>
                    <a:ext uri="{9D8B030D-6E8A-4147-A177-3AD203B41FA5}">
                      <a16:colId xmlns:a16="http://schemas.microsoft.com/office/drawing/2014/main" val="536523149"/>
                    </a:ext>
                  </a:extLst>
                </a:gridCol>
                <a:gridCol w="3946023">
                  <a:extLst>
                    <a:ext uri="{9D8B030D-6E8A-4147-A177-3AD203B41FA5}">
                      <a16:colId xmlns:a16="http://schemas.microsoft.com/office/drawing/2014/main" val="2239050567"/>
                    </a:ext>
                  </a:extLst>
                </a:gridCol>
              </a:tblGrid>
              <a:tr h="176106"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トランザクション名称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データ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8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EP01</a:t>
                      </a:r>
                      <a:r>
                        <a:rPr kumimoji="1" lang="en-US" altLang="ja-JP" sz="1050" dirty="0"/>
                        <a:t>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Provide and Register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Pathway Template </a:t>
                      </a:r>
                      <a:endParaRPr kumimoji="1" lang="en-US" altLang="ja-JP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Bundle Message EP01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EP02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ひな型パス、施設パスを生成し、リポジトリに登録を要求する。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5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EP01</a:t>
                      </a:r>
                      <a:r>
                        <a:rPr kumimoji="1" lang="en-US" altLang="ja-JP" sz="1050" dirty="0"/>
                        <a:t>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Register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Pathway Template </a:t>
                      </a:r>
                      <a:endParaRPr kumimoji="1" lang="en-US" altLang="ja-JP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Bundle Message EP01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EP02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ひな型パス、施設パスを</a:t>
                      </a:r>
                      <a:r>
                        <a:rPr kumimoji="1" lang="en-US" altLang="ja-JP" sz="1050" dirty="0" err="1"/>
                        <a:t>ePath</a:t>
                      </a:r>
                      <a:r>
                        <a:rPr kumimoji="1" lang="ja-JP" altLang="en-US" sz="1050" dirty="0"/>
                        <a:t>リポジトリに登録する。他に登録の経路がない場合、施設パスを受けた際に医療機関情報も登録する。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46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EP01</a:t>
                      </a:r>
                      <a:r>
                        <a:rPr kumimoji="1" lang="en-US" altLang="ja-JP" sz="1050" dirty="0"/>
                        <a:t>-03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Retrieve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Pathway Template 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EPath Bundle Message EP01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EPath Bundle Message EP02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ひな型パス、施設パスを取得する。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26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EP01</a:t>
                      </a:r>
                      <a:r>
                        <a:rPr kumimoji="1" lang="en-US" altLang="ja-JP" sz="1050" dirty="0"/>
                        <a:t>-04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/>
                        <a:t>Query</a:t>
                      </a:r>
                      <a:r>
                        <a:rPr kumimoji="1" lang="ja-JP" altLang="en-US" sz="1050" baseline="0" dirty="0"/>
                        <a:t> </a:t>
                      </a:r>
                      <a:r>
                        <a:rPr lang="en-US" altLang="ja-JP" sz="1050" dirty="0">
                          <a:solidFill>
                            <a:schemeClr val="tx1"/>
                          </a:solidFill>
                        </a:rPr>
                        <a:t>Pathway Template 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/>
                        <a:t>Bundle(Search</a:t>
                      </a:r>
                      <a:r>
                        <a:rPr kumimoji="1" lang="en-US" altLang="ja-JP" sz="1050" baseline="0" dirty="0"/>
                        <a:t> Set)</a:t>
                      </a:r>
                      <a:r>
                        <a:rPr kumimoji="1" lang="ja-JP" altLang="en-US" sz="1050" baseline="0" dirty="0"/>
                        <a:t> エントリは</a:t>
                      </a:r>
                      <a:r>
                        <a:rPr kumimoji="1" lang="en-US" altLang="ja-JP" sz="1050" dirty="0"/>
                        <a:t>EPath Bundle Message EP01, EPath Bundle Message EP02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ひな型パス、施設パスを検索する。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09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95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/>
        </p:nvGrpSpPr>
        <p:grpSpPr>
          <a:xfrm>
            <a:off x="511808" y="437698"/>
            <a:ext cx="11169389" cy="4158464"/>
            <a:chOff x="511808" y="437698"/>
            <a:chExt cx="11169389" cy="4158464"/>
          </a:xfrm>
        </p:grpSpPr>
        <p:sp>
          <p:nvSpPr>
            <p:cNvPr id="15" name="正方形/長方形 14"/>
            <p:cNvSpPr/>
            <p:nvPr/>
          </p:nvSpPr>
          <p:spPr>
            <a:xfrm>
              <a:off x="511808" y="3301686"/>
              <a:ext cx="2570716" cy="1294476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640322" y="3527688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Template Source</a:t>
              </a:r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4918357" y="1412002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Template Repository</a:t>
              </a:r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9219735" y="1423908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Pathway Template Consumer</a:t>
              </a:r>
              <a:endParaRPr lang="ja-JP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直線コネクタ 21"/>
            <p:cNvCxnSpPr>
              <a:stCxn id="16" idx="3"/>
              <a:endCxn id="20" idx="1"/>
            </p:cNvCxnSpPr>
            <p:nvPr/>
          </p:nvCxnSpPr>
          <p:spPr>
            <a:xfrm>
              <a:off x="7258357" y="1862002"/>
              <a:ext cx="1961378" cy="1190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/>
            <p:cNvSpPr/>
            <p:nvPr/>
          </p:nvSpPr>
          <p:spPr>
            <a:xfrm>
              <a:off x="2933215" y="3170751"/>
              <a:ext cx="2066698" cy="806937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Provide and Register Pathway Template </a:t>
              </a:r>
            </a:p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[EP01-01] 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→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4775129" y="1191614"/>
              <a:ext cx="2611741" cy="3404547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6961952" y="437698"/>
              <a:ext cx="2708198" cy="591734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100" dirty="0">
                  <a:solidFill>
                    <a:schemeClr val="tx1"/>
                  </a:solidFill>
                </a:rPr>
                <a:t>Query Pathway Template [EP01-04]</a:t>
              </a:r>
            </a:p>
            <a:p>
              <a:pPr algn="ctr"/>
              <a:r>
                <a:rPr lang="ja-JP" altLang="en-US" sz="1600" dirty="0">
                  <a:solidFill>
                    <a:schemeClr val="tx1"/>
                  </a:solidFill>
                </a:rPr>
                <a:t>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4760417" y="2024946"/>
              <a:ext cx="843439" cy="316046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7541497" y="1241447"/>
              <a:ext cx="1867108" cy="681582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100" dirty="0">
                  <a:solidFill>
                    <a:schemeClr val="tx1"/>
                  </a:solidFill>
                </a:rPr>
                <a:t>Retrieve Pathway 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</a:rPr>
                <a:t>Template [EP01-03]</a:t>
              </a:r>
            </a:p>
            <a:p>
              <a:r>
                <a:rPr lang="ja-JP" altLang="en-US" sz="1600" dirty="0">
                  <a:solidFill>
                    <a:schemeClr val="tx1"/>
                  </a:solidFill>
                </a:rPr>
                <a:t>　　　←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カギ線コネクタ 30"/>
            <p:cNvCxnSpPr>
              <a:stCxn id="20" idx="0"/>
              <a:endCxn id="16" idx="0"/>
            </p:cNvCxnSpPr>
            <p:nvPr/>
          </p:nvCxnSpPr>
          <p:spPr>
            <a:xfrm rot="16200000" flipV="1">
              <a:off x="8233093" y="-732734"/>
              <a:ext cx="11906" cy="4301378"/>
            </a:xfrm>
            <a:prstGeom prst="bentConnector3">
              <a:avLst>
                <a:gd name="adj1" fmla="val 4184453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/>
            <p:cNvCxnSpPr>
              <a:stCxn id="14" idx="3"/>
              <a:endCxn id="17" idx="1"/>
            </p:cNvCxnSpPr>
            <p:nvPr/>
          </p:nvCxnSpPr>
          <p:spPr>
            <a:xfrm>
              <a:off x="2980322" y="3977688"/>
              <a:ext cx="193923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正方形/長方形 48"/>
            <p:cNvSpPr/>
            <p:nvPr/>
          </p:nvSpPr>
          <p:spPr>
            <a:xfrm>
              <a:off x="9110481" y="1191615"/>
              <a:ext cx="2570716" cy="1294476"/>
            </a:xfrm>
            <a:prstGeom prst="rect">
              <a:avLst/>
            </a:prstGeom>
            <a:noFill/>
            <a:ln w="2222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ja-JP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4919554" y="3527688"/>
              <a:ext cx="2340000" cy="90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solidFill>
                    <a:schemeClr val="tx1"/>
                  </a:solidFill>
                </a:rPr>
                <a:t>Communications Gateway</a:t>
              </a:r>
            </a:p>
          </p:txBody>
        </p:sp>
        <p:cxnSp>
          <p:nvCxnSpPr>
            <p:cNvPr id="24" name="直線コネクタ 23"/>
            <p:cNvCxnSpPr>
              <a:stCxn id="16" idx="2"/>
              <a:endCxn id="17" idx="0"/>
            </p:cNvCxnSpPr>
            <p:nvPr/>
          </p:nvCxnSpPr>
          <p:spPr>
            <a:xfrm>
              <a:off x="6088357" y="2312002"/>
              <a:ext cx="1197" cy="121568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正方形/長方形 24"/>
            <p:cNvSpPr/>
            <p:nvPr/>
          </p:nvSpPr>
          <p:spPr>
            <a:xfrm>
              <a:off x="6098369" y="2532390"/>
              <a:ext cx="1532715" cy="844714"/>
            </a:xfrm>
            <a:prstGeom prst="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100" dirty="0">
                  <a:solidFill>
                    <a:schemeClr val="tx1"/>
                  </a:solidFill>
                </a:rPr>
                <a:t>Register Pathway Template 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</a:rPr>
                <a:t>[EP01-02]</a:t>
              </a:r>
            </a:p>
            <a:p>
              <a:r>
                <a:rPr lang="ja-JP" altLang="en-US" sz="1600" dirty="0">
                  <a:solidFill>
                    <a:schemeClr val="tx1"/>
                  </a:solidFill>
                </a:rPr>
                <a:t>↑</a:t>
              </a:r>
              <a:endParaRPr lang="en-US" altLang="ja-JP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922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3071</TotalTime>
  <Words>1250</Words>
  <PresentationFormat>ワイド画面</PresentationFormat>
  <Paragraphs>254</Paragraphs>
  <Slides>14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FHIR ®版 ePathリポジトリ アクタ・トランザクション</vt:lpstr>
      <vt:lpstr>EP12 適用後パスデータ</vt:lpstr>
      <vt:lpstr>PowerPoint プレゼンテーション</vt:lpstr>
      <vt:lpstr>PowerPoint プレゼンテーション</vt:lpstr>
      <vt:lpstr>PowerPoint プレゼンテーション</vt:lpstr>
      <vt:lpstr>QSA 入力フォーム、QSR 入力フォーム回答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EP01 ひな型パス、 EP02 施設パス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 </dc:creator>
  <dcterms:created xsi:type="dcterms:W3CDTF">2025-01-21T02:11:07Z</dcterms:created>
  <dcterms:modified xsi:type="dcterms:W3CDTF">2026-02-25T09:12:17Z</dcterms:modified>
</cp:coreProperties>
</file>
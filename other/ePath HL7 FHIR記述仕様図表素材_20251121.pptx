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7" r:id="rId2"/>
    <p:sldId id="257" r:id="rId3"/>
    <p:sldId id="282" r:id="rId4"/>
    <p:sldId id="280" r:id="rId5"/>
    <p:sldId id="288" r:id="rId6"/>
    <p:sldId id="289" r:id="rId7"/>
    <p:sldId id="290" r:id="rId8"/>
    <p:sldId id="279" r:id="rId9"/>
    <p:sldId id="291" r:id="rId10"/>
    <p:sldId id="292" r:id="rId11"/>
    <p:sldId id="293" r:id="rId12"/>
    <p:sldId id="285" r:id="rId13"/>
    <p:sldId id="287"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19" autoAdjust="0"/>
    <p:restoredTop sz="96458" autoAdjust="0"/>
  </p:normalViewPr>
  <p:slideViewPr>
    <p:cSldViewPr snapToGrid="0">
      <p:cViewPr varScale="1">
        <p:scale>
          <a:sx n="60" d="100"/>
          <a:sy n="60" d="100"/>
        </p:scale>
        <p:origin x="2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77DAE5-AECC-428E-95EC-397494C54CD5}" type="datetimeFigureOut">
              <a:rPr kumimoji="1" lang="ja-JP" altLang="en-US" smtClean="0"/>
              <a:t>2025/11/21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4A5C6E-3AF1-4563-A754-14F960521094}" type="slidenum">
              <a:rPr kumimoji="1" lang="ja-JP" altLang="en-US" smtClean="0"/>
              <a:t>‹#›</a:t>
            </a:fld>
            <a:endParaRPr kumimoji="1" lang="ja-JP" altLang="en-US"/>
          </a:p>
        </p:txBody>
      </p:sp>
    </p:spTree>
    <p:extLst>
      <p:ext uri="{BB962C8B-B14F-4D97-AF65-F5344CB8AC3E}">
        <p14:creationId xmlns:p14="http://schemas.microsoft.com/office/powerpoint/2010/main" val="14087682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2567356-962E-4C30-8340-F57C5D9EA7D4}" type="slidenum">
              <a:rPr kumimoji="1" lang="ja-JP" altLang="en-US" smtClean="0"/>
              <a:t>5</a:t>
            </a:fld>
            <a:endParaRPr kumimoji="1" lang="ja-JP" altLang="en-US"/>
          </a:p>
        </p:txBody>
      </p:sp>
    </p:spTree>
    <p:extLst>
      <p:ext uri="{BB962C8B-B14F-4D97-AF65-F5344CB8AC3E}">
        <p14:creationId xmlns:p14="http://schemas.microsoft.com/office/powerpoint/2010/main" val="263051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2567356-962E-4C30-8340-F57C5D9EA7D4}" type="slidenum">
              <a:rPr kumimoji="1" lang="ja-JP" altLang="en-US" smtClean="0"/>
              <a:t>6</a:t>
            </a:fld>
            <a:endParaRPr kumimoji="1" lang="ja-JP" altLang="en-US"/>
          </a:p>
        </p:txBody>
      </p:sp>
    </p:spTree>
    <p:extLst>
      <p:ext uri="{BB962C8B-B14F-4D97-AF65-F5344CB8AC3E}">
        <p14:creationId xmlns:p14="http://schemas.microsoft.com/office/powerpoint/2010/main" val="2651363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2567356-962E-4C30-8340-F57C5D9EA7D4}" type="slidenum">
              <a:rPr kumimoji="1" lang="ja-JP" altLang="en-US" smtClean="0"/>
              <a:t>7</a:t>
            </a:fld>
            <a:endParaRPr kumimoji="1" lang="ja-JP" altLang="en-US"/>
          </a:p>
        </p:txBody>
      </p:sp>
    </p:spTree>
    <p:extLst>
      <p:ext uri="{BB962C8B-B14F-4D97-AF65-F5344CB8AC3E}">
        <p14:creationId xmlns:p14="http://schemas.microsoft.com/office/powerpoint/2010/main" val="3489535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637D-E83B-6779-76C9-4760CA237F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705F66-9692-1149-8F77-6AEBAE92E236}"/>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88C4FDF3-3E8B-5857-7E19-F0CBAF3EFE29}"/>
              </a:ext>
            </a:extLst>
          </p:cNvPr>
          <p:cNvSpPr>
            <a:spLocks noGrp="1"/>
          </p:cNvSpPr>
          <p:nvPr>
            <p:ph type="body" idx="1"/>
          </p:nvPr>
        </p:nvSpPr>
        <p:spPr/>
        <p:txBody>
          <a:bodyPr/>
          <a:lstStyle/>
          <a:p>
            <a:pPr indent="179705" algn="l"/>
            <a:endParaRPr lang="ja-JP" altLang="ja-JP" sz="1800" kern="100" dirty="0">
              <a:solidFill>
                <a:srgbClr val="000000"/>
              </a:solidFill>
              <a:effectLst/>
              <a:latin typeface="Arial" panose="020B0604020202020204" pitchFamily="34" charset="0"/>
              <a:ea typeface="ＭＳ ゴシック" panose="020B0609070205080204" pitchFamily="49" charset="-128"/>
              <a:cs typeface="Times New Roman" panose="02020603050405020304" pitchFamily="18" charset="0"/>
            </a:endParaRPr>
          </a:p>
        </p:txBody>
      </p:sp>
      <p:sp>
        <p:nvSpPr>
          <p:cNvPr id="4" name="スライド番号プレースホルダー 3">
            <a:extLst>
              <a:ext uri="{FF2B5EF4-FFF2-40B4-BE49-F238E27FC236}">
                <a16:creationId xmlns:a16="http://schemas.microsoft.com/office/drawing/2014/main" id="{A5B959D3-DAF7-474D-E411-087F03702FF5}"/>
              </a:ext>
            </a:extLst>
          </p:cNvPr>
          <p:cNvSpPr>
            <a:spLocks noGrp="1"/>
          </p:cNvSpPr>
          <p:nvPr>
            <p:ph type="sldNum" sz="quarter" idx="5"/>
          </p:nvPr>
        </p:nvSpPr>
        <p:spPr/>
        <p:txBody>
          <a:bodyPr/>
          <a:lstStyle/>
          <a:p>
            <a:fld id="{2B880C7A-0598-4729-95BB-B7573EB56300}" type="slidenum">
              <a:rPr kumimoji="1" lang="ja-JP" altLang="en-US" smtClean="0"/>
              <a:t>9</a:t>
            </a:fld>
            <a:endParaRPr kumimoji="1" lang="ja-JP" altLang="en-US"/>
          </a:p>
        </p:txBody>
      </p:sp>
    </p:spTree>
    <p:extLst>
      <p:ext uri="{BB962C8B-B14F-4D97-AF65-F5344CB8AC3E}">
        <p14:creationId xmlns:p14="http://schemas.microsoft.com/office/powerpoint/2010/main" val="983933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637D-E83B-6779-76C9-4760CA237F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705F66-9692-1149-8F77-6AEBAE92E236}"/>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88C4FDF3-3E8B-5857-7E19-F0CBAF3EFE29}"/>
              </a:ext>
            </a:extLst>
          </p:cNvPr>
          <p:cNvSpPr>
            <a:spLocks noGrp="1"/>
          </p:cNvSpPr>
          <p:nvPr>
            <p:ph type="body" idx="1"/>
          </p:nvPr>
        </p:nvSpPr>
        <p:spPr/>
        <p:txBody>
          <a:bodyPr/>
          <a:lstStyle/>
          <a:p>
            <a:pPr indent="179705" algn="l"/>
            <a:endParaRPr lang="ja-JP" altLang="ja-JP" sz="1800" kern="100" dirty="0">
              <a:solidFill>
                <a:srgbClr val="000000"/>
              </a:solidFill>
              <a:effectLst/>
              <a:latin typeface="Arial" panose="020B0604020202020204" pitchFamily="34" charset="0"/>
              <a:ea typeface="ＭＳ ゴシック" panose="020B0609070205080204" pitchFamily="49" charset="-128"/>
              <a:cs typeface="Times New Roman" panose="02020603050405020304" pitchFamily="18" charset="0"/>
            </a:endParaRPr>
          </a:p>
        </p:txBody>
      </p:sp>
      <p:sp>
        <p:nvSpPr>
          <p:cNvPr id="4" name="スライド番号プレースホルダー 3">
            <a:extLst>
              <a:ext uri="{FF2B5EF4-FFF2-40B4-BE49-F238E27FC236}">
                <a16:creationId xmlns:a16="http://schemas.microsoft.com/office/drawing/2014/main" id="{A5B959D3-DAF7-474D-E411-087F03702FF5}"/>
              </a:ext>
            </a:extLst>
          </p:cNvPr>
          <p:cNvSpPr>
            <a:spLocks noGrp="1"/>
          </p:cNvSpPr>
          <p:nvPr>
            <p:ph type="sldNum" sz="quarter" idx="5"/>
          </p:nvPr>
        </p:nvSpPr>
        <p:spPr/>
        <p:txBody>
          <a:bodyPr/>
          <a:lstStyle/>
          <a:p>
            <a:fld id="{2B880C7A-0598-4729-95BB-B7573EB56300}" type="slidenum">
              <a:rPr kumimoji="1" lang="ja-JP" altLang="en-US" smtClean="0"/>
              <a:t>10</a:t>
            </a:fld>
            <a:endParaRPr kumimoji="1" lang="ja-JP" altLang="en-US"/>
          </a:p>
        </p:txBody>
      </p:sp>
    </p:spTree>
    <p:extLst>
      <p:ext uri="{BB962C8B-B14F-4D97-AF65-F5344CB8AC3E}">
        <p14:creationId xmlns:p14="http://schemas.microsoft.com/office/powerpoint/2010/main" val="1985526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637D-E83B-6779-76C9-4760CA237F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705F66-9692-1149-8F77-6AEBAE92E236}"/>
              </a:ext>
            </a:extLst>
          </p:cNvPr>
          <p:cNvSpPr>
            <a:spLocks noGrp="1" noRot="1" noChangeAspect="1"/>
          </p:cNvSpPr>
          <p:nvPr>
            <p:ph type="sldImg"/>
          </p:nvPr>
        </p:nvSpPr>
        <p:spPr>
          <a:xfrm>
            <a:off x="685800" y="1143000"/>
            <a:ext cx="5486400" cy="3086100"/>
          </a:xfrm>
        </p:spPr>
      </p:sp>
      <p:sp>
        <p:nvSpPr>
          <p:cNvPr id="3" name="ノート プレースホルダー 2">
            <a:extLst>
              <a:ext uri="{FF2B5EF4-FFF2-40B4-BE49-F238E27FC236}">
                <a16:creationId xmlns:a16="http://schemas.microsoft.com/office/drawing/2014/main" id="{88C4FDF3-3E8B-5857-7E19-F0CBAF3EFE29}"/>
              </a:ext>
            </a:extLst>
          </p:cNvPr>
          <p:cNvSpPr>
            <a:spLocks noGrp="1"/>
          </p:cNvSpPr>
          <p:nvPr>
            <p:ph type="body" idx="1"/>
          </p:nvPr>
        </p:nvSpPr>
        <p:spPr/>
        <p:txBody>
          <a:bodyPr/>
          <a:lstStyle/>
          <a:p>
            <a:pPr indent="179705" algn="l"/>
            <a:endParaRPr lang="ja-JP" altLang="ja-JP" sz="1800" kern="100" dirty="0">
              <a:solidFill>
                <a:srgbClr val="000000"/>
              </a:solidFill>
              <a:effectLst/>
              <a:latin typeface="Arial" panose="020B0604020202020204" pitchFamily="34" charset="0"/>
              <a:ea typeface="ＭＳ ゴシック" panose="020B0609070205080204" pitchFamily="49" charset="-128"/>
              <a:cs typeface="Times New Roman" panose="02020603050405020304" pitchFamily="18" charset="0"/>
            </a:endParaRPr>
          </a:p>
        </p:txBody>
      </p:sp>
      <p:sp>
        <p:nvSpPr>
          <p:cNvPr id="4" name="スライド番号プレースホルダー 3">
            <a:extLst>
              <a:ext uri="{FF2B5EF4-FFF2-40B4-BE49-F238E27FC236}">
                <a16:creationId xmlns:a16="http://schemas.microsoft.com/office/drawing/2014/main" id="{A5B959D3-DAF7-474D-E411-087F03702FF5}"/>
              </a:ext>
            </a:extLst>
          </p:cNvPr>
          <p:cNvSpPr>
            <a:spLocks noGrp="1"/>
          </p:cNvSpPr>
          <p:nvPr>
            <p:ph type="sldNum" sz="quarter" idx="5"/>
          </p:nvPr>
        </p:nvSpPr>
        <p:spPr/>
        <p:txBody>
          <a:bodyPr/>
          <a:lstStyle/>
          <a:p>
            <a:fld id="{2B880C7A-0598-4729-95BB-B7573EB56300}" type="slidenum">
              <a:rPr kumimoji="1" lang="ja-JP" altLang="en-US" smtClean="0"/>
              <a:t>11</a:t>
            </a:fld>
            <a:endParaRPr kumimoji="1" lang="ja-JP" altLang="en-US"/>
          </a:p>
        </p:txBody>
      </p:sp>
    </p:spTree>
    <p:extLst>
      <p:ext uri="{BB962C8B-B14F-4D97-AF65-F5344CB8AC3E}">
        <p14:creationId xmlns:p14="http://schemas.microsoft.com/office/powerpoint/2010/main" val="3521833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1" kern="100" dirty="0">
                <a:effectLst/>
                <a:latin typeface="Arial" panose="020B0604020202020204" pitchFamily="34" charset="0"/>
                <a:ea typeface="ＭＳ 明朝" panose="02020609040205080304" pitchFamily="17" charset="-128"/>
                <a:cs typeface="Times New Roman" panose="02020603050405020304" pitchFamily="18" charset="0"/>
              </a:rPr>
              <a:t>図</a:t>
            </a:r>
            <a:r>
              <a:rPr lang="en-US" altLang="ja-JP" sz="1200" b="1" kern="100" dirty="0">
                <a:effectLst/>
                <a:latin typeface="Arial" panose="020B0604020202020204" pitchFamily="34" charset="0"/>
                <a:ea typeface="ＭＳ 明朝" panose="02020609040205080304" pitchFamily="17" charset="-128"/>
                <a:cs typeface="Times New Roman" panose="02020603050405020304" pitchFamily="18" charset="0"/>
              </a:rPr>
              <a:t>4 </a:t>
            </a:r>
            <a:r>
              <a:rPr lang="ja-JP" altLang="ja-JP"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ひな型パス、施設パス、適用後パスにおけるパス内容の変化</a:t>
            </a:r>
            <a:r>
              <a:rPr lang="ja-JP" altLang="en-US"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a:t>
            </a:r>
            <a:r>
              <a:rPr lang="en-US" altLang="ja-JP"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FHIR</a:t>
            </a:r>
            <a:r>
              <a:rPr lang="ja-JP" altLang="en-US" sz="1200" b="1" kern="100" dirty="0">
                <a:solidFill>
                  <a:srgbClr val="000000"/>
                </a:solidFill>
                <a:effectLst/>
                <a:latin typeface="Arial" panose="020B0604020202020204" pitchFamily="34" charset="0"/>
                <a:ea typeface="ＭＳ 明朝" panose="02020609040205080304" pitchFamily="17" charset="-128"/>
                <a:cs typeface="Times New Roman" panose="02020603050405020304" pitchFamily="18" charset="0"/>
              </a:rPr>
              <a:t>）</a:t>
            </a:r>
            <a:endParaRPr lang="ja-JP" altLang="ja-JP" sz="1200" b="1" kern="100" dirty="0">
              <a:effectLst/>
              <a:latin typeface="Arial" panose="020B0604020202020204" pitchFamily="34" charset="0"/>
              <a:ea typeface="ＭＳ 明朝" panose="02020609040205080304" pitchFamily="17" charset="-128"/>
              <a:cs typeface="Times New Roman" panose="02020603050405020304" pitchFamily="18" charset="0"/>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88532206-787A-4366-A9F4-EFF8F6812DF5}" type="slidenum">
              <a:rPr kumimoji="1" lang="ja-JP" altLang="en-US" smtClean="0"/>
              <a:t>13</a:t>
            </a:fld>
            <a:endParaRPr kumimoji="1" lang="ja-JP" altLang="en-US"/>
          </a:p>
        </p:txBody>
      </p:sp>
    </p:spTree>
    <p:extLst>
      <p:ext uri="{BB962C8B-B14F-4D97-AF65-F5344CB8AC3E}">
        <p14:creationId xmlns:p14="http://schemas.microsoft.com/office/powerpoint/2010/main" val="1839340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06EED1-4552-CDDB-F731-D25885B3DA8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BD24F54-FCD9-91A8-86E6-AC082CF8B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CBB9050-F5FC-4175-2860-20F54FD31B8B}"/>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5" name="フッター プレースホルダー 4">
            <a:extLst>
              <a:ext uri="{FF2B5EF4-FFF2-40B4-BE49-F238E27FC236}">
                <a16:creationId xmlns:a16="http://schemas.microsoft.com/office/drawing/2014/main" id="{C69A83A3-84A3-1014-CE4E-2B2009819D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6DF3F16-D7F9-26CF-AE6E-C7C3B603C65E}"/>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428992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591AF2-B4C5-B5FE-882B-314A34F479E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7C8803E-310E-776F-30E0-96EC6B1D426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21F6C8-7492-90BA-EF26-1CB383427BD2}"/>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5" name="フッター プレースホルダー 4">
            <a:extLst>
              <a:ext uri="{FF2B5EF4-FFF2-40B4-BE49-F238E27FC236}">
                <a16:creationId xmlns:a16="http://schemas.microsoft.com/office/drawing/2014/main" id="{FE00FDFA-6629-E7C4-A90F-B05DA88974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6A574A-1463-F6EE-D97D-E073AC7EE0F3}"/>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786186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2F42D6-9B85-0A06-CB8C-47B5AF1411B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0BCD5BD-D3EF-6FEB-8999-A2C7503E80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1F738AA-3845-F5C4-ACB1-A76FEFF04869}"/>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5" name="フッター プレースホルダー 4">
            <a:extLst>
              <a:ext uri="{FF2B5EF4-FFF2-40B4-BE49-F238E27FC236}">
                <a16:creationId xmlns:a16="http://schemas.microsoft.com/office/drawing/2014/main" id="{C2765B05-6003-A2CB-62F1-B51E21C3442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81B4BC-54CC-8E43-1FEB-0D488CC8380F}"/>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19272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B494D1-D2E5-659F-96C1-312FBA4DAE9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68EC4-F547-823E-BB4E-50FE252857A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8AE4E2F-7371-CC9C-4F61-C748777D216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DA70695-D5A5-3CA8-5FF2-65D47137A488}"/>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6" name="フッター プレースホルダー 5">
            <a:extLst>
              <a:ext uri="{FF2B5EF4-FFF2-40B4-BE49-F238E27FC236}">
                <a16:creationId xmlns:a16="http://schemas.microsoft.com/office/drawing/2014/main" id="{D42E990F-6179-CDA7-F648-95867053CC0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D51C564-3692-2633-62C2-F52CFA0BF7A5}"/>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11874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CE29C-170A-7787-B59E-80B3D91279E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4814B0-3EF4-E440-F6B0-21B9A9C256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5D1062D-7026-2923-4BB5-6FCE7644A9E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E368657-8D32-A283-4B3B-38D1504E33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932D094-A603-2261-7F2C-B0C34FA2B0D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09F727D-5781-94F9-00ED-DB900BCA464D}"/>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8" name="フッター プレースホルダー 7">
            <a:extLst>
              <a:ext uri="{FF2B5EF4-FFF2-40B4-BE49-F238E27FC236}">
                <a16:creationId xmlns:a16="http://schemas.microsoft.com/office/drawing/2014/main" id="{8E2E3428-D3B6-7BD5-DD94-B7A521EDDD7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408474D-92A9-3BA7-984F-960D83591423}"/>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986483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078827-2FDA-059F-D644-3D582728F58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02DEEC5-5CAB-607C-FE07-3FB7B720ADE3}"/>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4" name="フッター プレースホルダー 3">
            <a:extLst>
              <a:ext uri="{FF2B5EF4-FFF2-40B4-BE49-F238E27FC236}">
                <a16:creationId xmlns:a16="http://schemas.microsoft.com/office/drawing/2014/main" id="{542587B3-5C0B-372F-D2EA-EDCA1C9BC0C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6E3B978-58C9-C990-73B1-C7B587636913}"/>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3957068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9B8060E-DE18-A354-7B77-6B7B70E45682}"/>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3" name="フッター プレースホルダー 2">
            <a:extLst>
              <a:ext uri="{FF2B5EF4-FFF2-40B4-BE49-F238E27FC236}">
                <a16:creationId xmlns:a16="http://schemas.microsoft.com/office/drawing/2014/main" id="{FE4D4F82-36CC-4D1B-BB9F-4CBBDCC2DAA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7D7531-BDBB-A51A-5112-7206DBFD5EB7}"/>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564369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75D610-BBD3-311F-E9E7-1C2529E637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D9927A5-4F24-A98A-E83F-97638A0C01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9F0A5EC-7108-8A36-18C8-B855E7480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176073B-A4AF-455A-E916-2AAEEA0FDD9D}"/>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6" name="フッター プレースホルダー 5">
            <a:extLst>
              <a:ext uri="{FF2B5EF4-FFF2-40B4-BE49-F238E27FC236}">
                <a16:creationId xmlns:a16="http://schemas.microsoft.com/office/drawing/2014/main" id="{A6A047D7-24A9-0BE1-C072-AE9442A899E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7251AD-7DFB-C954-1048-0769B82748A9}"/>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2480429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7A6AB8-0DBD-239C-3C0D-CEF851D0830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3D7477D-51FC-5491-8314-27BA18FF98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8F1B56F-A204-0FD9-A582-10C1A5AFF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344CB9-8101-6B31-C2C7-1B1C7CBDBE3A}"/>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6" name="フッター プレースホルダー 5">
            <a:extLst>
              <a:ext uri="{FF2B5EF4-FFF2-40B4-BE49-F238E27FC236}">
                <a16:creationId xmlns:a16="http://schemas.microsoft.com/office/drawing/2014/main" id="{1A84D7DE-DEAF-1E69-D08E-6470AB6A0A9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0AA6BF3-2A1E-813D-CC4A-0BAD1976D3F0}"/>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3181672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F03D6B-3ACC-90CD-B457-05194641F51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60A2E89-5803-A663-8561-88E241EA096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A2AB15-D027-0433-81AA-2F35C1EF229A}"/>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5" name="フッター プレースホルダー 4">
            <a:extLst>
              <a:ext uri="{FF2B5EF4-FFF2-40B4-BE49-F238E27FC236}">
                <a16:creationId xmlns:a16="http://schemas.microsoft.com/office/drawing/2014/main" id="{2CF3421E-E748-4548-CE9E-915C4470AD2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876468-E203-EC72-6010-E1E70C74BB7B}"/>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4236131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04CAA1B-2E7E-2D02-C5D4-B580AE06F4C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5C134BF-BE12-FB4A-C6E4-89D685B9A91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B8A9415-D850-9CF2-E564-A878A0E535D4}"/>
              </a:ext>
            </a:extLst>
          </p:cNvPr>
          <p:cNvSpPr>
            <a:spLocks noGrp="1"/>
          </p:cNvSpPr>
          <p:nvPr>
            <p:ph type="dt" sz="half" idx="10"/>
          </p:nvPr>
        </p:nvSpPr>
        <p:spPr/>
        <p:txBody>
          <a:bodyPr/>
          <a:lstStyle/>
          <a:p>
            <a:fld id="{4503A6BD-C535-4F64-AE7B-6BC68FC2D6E7}" type="datetimeFigureOut">
              <a:rPr kumimoji="1" lang="ja-JP" altLang="en-US" smtClean="0"/>
              <a:t>2025/11/21</a:t>
            </a:fld>
            <a:endParaRPr kumimoji="1" lang="ja-JP" altLang="en-US"/>
          </a:p>
        </p:txBody>
      </p:sp>
      <p:sp>
        <p:nvSpPr>
          <p:cNvPr id="5" name="フッター プレースホルダー 4">
            <a:extLst>
              <a:ext uri="{FF2B5EF4-FFF2-40B4-BE49-F238E27FC236}">
                <a16:creationId xmlns:a16="http://schemas.microsoft.com/office/drawing/2014/main" id="{AFA6A888-9B03-E478-C52D-BD8EBBE6FA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0E78D3F-DBAD-85DA-C67A-FF838A5290A0}"/>
              </a:ext>
            </a:extLst>
          </p:cNvPr>
          <p:cNvSpPr>
            <a:spLocks noGrp="1"/>
          </p:cNvSpPr>
          <p:nvPr>
            <p:ph type="sldNum" sz="quarter" idx="12"/>
          </p:nvPr>
        </p:nvSpPr>
        <p:spPr/>
        <p:txBody>
          <a:body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87917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F527F51-C077-93CA-1ED7-110A82ACD9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232E9EE-554C-13AC-95BE-865D48EB5A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27F7FB-3771-10F3-5D21-288D3D0474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3A6BD-C535-4F64-AE7B-6BC68FC2D6E7}" type="datetimeFigureOut">
              <a:rPr kumimoji="1" lang="ja-JP" altLang="en-US" smtClean="0"/>
              <a:t>2025/11/21</a:t>
            </a:fld>
            <a:endParaRPr kumimoji="1" lang="ja-JP" altLang="en-US"/>
          </a:p>
        </p:txBody>
      </p:sp>
      <p:sp>
        <p:nvSpPr>
          <p:cNvPr id="5" name="フッター プレースホルダー 4">
            <a:extLst>
              <a:ext uri="{FF2B5EF4-FFF2-40B4-BE49-F238E27FC236}">
                <a16:creationId xmlns:a16="http://schemas.microsoft.com/office/drawing/2014/main" id="{8503204D-AA56-5334-5170-FA491CC503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B906AA1-9AAF-0CE4-28CA-CDCF38ABB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0A845-B107-4BD2-AE82-B3951048EF84}" type="slidenum">
              <a:rPr kumimoji="1" lang="ja-JP" altLang="en-US" smtClean="0"/>
              <a:t>‹#›</a:t>
            </a:fld>
            <a:endParaRPr kumimoji="1" lang="ja-JP" altLang="en-US"/>
          </a:p>
        </p:txBody>
      </p:sp>
    </p:spTree>
    <p:extLst>
      <p:ext uri="{BB962C8B-B14F-4D97-AF65-F5344CB8AC3E}">
        <p14:creationId xmlns:p14="http://schemas.microsoft.com/office/powerpoint/2010/main" val="3902732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9079AAA-93AC-4BE8-90C1-0A5DEE670919}"/>
              </a:ext>
            </a:extLst>
          </p:cNvPr>
          <p:cNvPicPr>
            <a:picLocks noChangeAspect="1"/>
          </p:cNvPicPr>
          <p:nvPr/>
        </p:nvPicPr>
        <p:blipFill>
          <a:blip r:embed="rId2"/>
          <a:stretch>
            <a:fillRect/>
          </a:stretch>
        </p:blipFill>
        <p:spPr>
          <a:xfrm>
            <a:off x="7083114" y="407596"/>
            <a:ext cx="4377025" cy="6089440"/>
          </a:xfrm>
          <a:prstGeom prst="rect">
            <a:avLst/>
          </a:prstGeom>
        </p:spPr>
      </p:pic>
      <p:sp>
        <p:nvSpPr>
          <p:cNvPr id="513" name="コンテンツ プレースホルダー 2">
            <a:extLst>
              <a:ext uri="{FF2B5EF4-FFF2-40B4-BE49-F238E27FC236}">
                <a16:creationId xmlns:a16="http://schemas.microsoft.com/office/drawing/2014/main" id="{AD1BEF35-B8FD-C1A6-7AA0-949CE9496BF0}"/>
              </a:ext>
            </a:extLst>
          </p:cNvPr>
          <p:cNvSpPr txBox="1">
            <a:spLocks/>
          </p:cNvSpPr>
          <p:nvPr/>
        </p:nvSpPr>
        <p:spPr>
          <a:xfrm>
            <a:off x="8316190" y="6469944"/>
            <a:ext cx="2573586" cy="2365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000" dirty="0"/>
              <a:t>出所：</a:t>
            </a:r>
            <a:r>
              <a:rPr lang="en-US" altLang="ja-JP" sz="1000" dirty="0"/>
              <a:t>JAHIS</a:t>
            </a:r>
            <a:r>
              <a:rPr lang="ja-JP" altLang="en-US" sz="1000" dirty="0"/>
              <a:t> </a:t>
            </a:r>
            <a:r>
              <a:rPr lang="en-US" altLang="ja-JP" sz="1000" dirty="0"/>
              <a:t>ePath</a:t>
            </a:r>
            <a:r>
              <a:rPr lang="ja-JP" altLang="en-US" sz="1000" dirty="0"/>
              <a:t>実装ガイド 図</a:t>
            </a:r>
            <a:r>
              <a:rPr lang="en-US" altLang="ja-JP" sz="1000" dirty="0"/>
              <a:t>5-1</a:t>
            </a:r>
          </a:p>
        </p:txBody>
      </p:sp>
      <p:sp>
        <p:nvSpPr>
          <p:cNvPr id="3" name="テキスト ボックス 2">
            <a:extLst>
              <a:ext uri="{FF2B5EF4-FFF2-40B4-BE49-F238E27FC236}">
                <a16:creationId xmlns:a16="http://schemas.microsoft.com/office/drawing/2014/main" id="{0CA112D7-7C06-8540-A1BB-A588FC2D1EA0}"/>
              </a:ext>
            </a:extLst>
          </p:cNvPr>
          <p:cNvSpPr txBox="1"/>
          <p:nvPr/>
        </p:nvSpPr>
        <p:spPr>
          <a:xfrm>
            <a:off x="3637768" y="71955"/>
            <a:ext cx="5215437" cy="369332"/>
          </a:xfrm>
          <a:prstGeom prst="rect">
            <a:avLst/>
          </a:prstGeom>
          <a:noFill/>
        </p:spPr>
        <p:txBody>
          <a:bodyPr wrap="square" rtlCol="0">
            <a:spAutoFit/>
          </a:bodyPr>
          <a:lstStyle/>
          <a:p>
            <a:r>
              <a:rPr kumimoji="1" lang="en-US" altLang="ja-JP" dirty="0"/>
              <a:t>ePath </a:t>
            </a:r>
            <a:r>
              <a:rPr kumimoji="1" lang="ja-JP" altLang="en-US" dirty="0"/>
              <a:t>メッセージ仕様におけるデータモデル</a:t>
            </a:r>
          </a:p>
        </p:txBody>
      </p:sp>
      <p:pic>
        <p:nvPicPr>
          <p:cNvPr id="5" name="図 4"/>
          <p:cNvPicPr>
            <a:picLocks noChangeAspect="1"/>
          </p:cNvPicPr>
          <p:nvPr/>
        </p:nvPicPr>
        <p:blipFill>
          <a:blip r:embed="rId3"/>
          <a:stretch>
            <a:fillRect/>
          </a:stretch>
        </p:blipFill>
        <p:spPr>
          <a:xfrm>
            <a:off x="914399" y="776928"/>
            <a:ext cx="6353312" cy="5327517"/>
          </a:xfrm>
          <a:prstGeom prst="rect">
            <a:avLst/>
          </a:prstGeom>
        </p:spPr>
      </p:pic>
    </p:spTree>
    <p:extLst>
      <p:ext uri="{BB962C8B-B14F-4D97-AF65-F5344CB8AC3E}">
        <p14:creationId xmlns:p14="http://schemas.microsoft.com/office/powerpoint/2010/main" val="490447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 name="正方形/長方形 106">
            <a:extLst>
              <a:ext uri="{FF2B5EF4-FFF2-40B4-BE49-F238E27FC236}">
                <a16:creationId xmlns:a16="http://schemas.microsoft.com/office/drawing/2014/main" id="{F7EFFFEF-5A2C-896C-A11F-7B7E9FE4A3F1}"/>
              </a:ext>
            </a:extLst>
          </p:cNvPr>
          <p:cNvSpPr/>
          <p:nvPr/>
        </p:nvSpPr>
        <p:spPr>
          <a:xfrm>
            <a:off x="4429063" y="694307"/>
            <a:ext cx="7552002" cy="5081653"/>
          </a:xfrm>
          <a:prstGeom prst="rect">
            <a:avLst/>
          </a:prstGeom>
          <a:solidFill>
            <a:schemeClr val="accent5">
              <a:lumMod val="20000"/>
              <a:lumOff val="80000"/>
            </a:schemeClr>
          </a:solidFill>
          <a:ln>
            <a:solidFill>
              <a:schemeClr val="accent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70EDEE26-9EDC-4AFC-E73F-ABA23843EA2B}"/>
              </a:ext>
            </a:extLst>
          </p:cNvPr>
          <p:cNvSpPr txBox="1"/>
          <p:nvPr/>
        </p:nvSpPr>
        <p:spPr>
          <a:xfrm>
            <a:off x="4429063" y="317368"/>
            <a:ext cx="2124076" cy="366070"/>
          </a:xfrm>
          <a:prstGeom prst="rect">
            <a:avLst/>
          </a:prstGeom>
          <a:solidFill>
            <a:schemeClr val="accent1">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US" altLang="ja-JP" sz="1000" dirty="0"/>
              <a:t>Bundle</a:t>
            </a:r>
            <a:br>
              <a:rPr lang="en-US" altLang="ja-JP" sz="1000" dirty="0"/>
            </a:br>
            <a:r>
              <a:rPr lang="ja-JP" altLang="en-US" sz="1000" dirty="0"/>
              <a:t>（ひな型パス）</a:t>
            </a:r>
          </a:p>
        </p:txBody>
      </p:sp>
      <p:sp>
        <p:nvSpPr>
          <p:cNvPr id="106" name="テキスト ボックス 105">
            <a:extLst>
              <a:ext uri="{FF2B5EF4-FFF2-40B4-BE49-F238E27FC236}">
                <a16:creationId xmlns:a16="http://schemas.microsoft.com/office/drawing/2014/main" id="{6C766AF5-669F-3C50-E820-45CE136CD47A}"/>
              </a:ext>
            </a:extLst>
          </p:cNvPr>
          <p:cNvSpPr txBox="1"/>
          <p:nvPr/>
        </p:nvSpPr>
        <p:spPr>
          <a:xfrm>
            <a:off x="4429063" y="615227"/>
            <a:ext cx="534560" cy="184666"/>
          </a:xfrm>
          <a:prstGeom prst="roundRect">
            <a:avLst/>
          </a:prstGeom>
          <a:solidFill>
            <a:schemeClr val="bg1">
              <a:lumMod val="85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lIns="0" tIns="0" rIns="0" bIns="0" rtlCol="0" anchor="ctr" anchorCtr="0">
            <a:noAutofit/>
          </a:bodyPr>
          <a:lstStyle/>
          <a:p>
            <a:pPr algn="ctr"/>
            <a:r>
              <a:rPr lang="en-US" altLang="ja-JP" sz="600" dirty="0"/>
              <a:t>Bundle.entry</a:t>
            </a:r>
            <a:endParaRPr kumimoji="1" lang="ja-JP" altLang="en-US" sz="600" dirty="0"/>
          </a:p>
        </p:txBody>
      </p:sp>
      <p:sp>
        <p:nvSpPr>
          <p:cNvPr id="323" name="テキスト ボックス 322">
            <a:extLst>
              <a:ext uri="{FF2B5EF4-FFF2-40B4-BE49-F238E27FC236}">
                <a16:creationId xmlns:a16="http://schemas.microsoft.com/office/drawing/2014/main" id="{9E52B731-C19A-D129-74F6-06EAA720DE30}"/>
              </a:ext>
            </a:extLst>
          </p:cNvPr>
          <p:cNvSpPr txBox="1"/>
          <p:nvPr/>
        </p:nvSpPr>
        <p:spPr>
          <a:xfrm>
            <a:off x="4683594" y="1380067"/>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2" name="テキスト ボックス 1">
            <a:extLst>
              <a:ext uri="{FF2B5EF4-FFF2-40B4-BE49-F238E27FC236}">
                <a16:creationId xmlns:a16="http://schemas.microsoft.com/office/drawing/2014/main" id="{0486EE7C-0B22-5087-2A53-C85D880FE3C7}"/>
              </a:ext>
            </a:extLst>
          </p:cNvPr>
          <p:cNvSpPr txBox="1"/>
          <p:nvPr/>
        </p:nvSpPr>
        <p:spPr>
          <a:xfrm>
            <a:off x="483832" y="355783"/>
            <a:ext cx="3392429" cy="523220"/>
          </a:xfrm>
          <a:prstGeom prst="rect">
            <a:avLst/>
          </a:prstGeom>
          <a:noFill/>
        </p:spPr>
        <p:txBody>
          <a:bodyPr wrap="square" rtlCol="0">
            <a:spAutoFit/>
          </a:bodyPr>
          <a:lstStyle/>
          <a:p>
            <a:r>
              <a:rPr kumimoji="1" lang="en-US" altLang="ja-JP" sz="1400" dirty="0"/>
              <a:t>ePath </a:t>
            </a:r>
            <a:r>
              <a:rPr kumimoji="1" lang="ja-JP" altLang="en-US" sz="1400" dirty="0"/>
              <a:t>仕様</a:t>
            </a:r>
            <a:r>
              <a:rPr lang="en-US" altLang="ja-JP" sz="1400" dirty="0"/>
              <a:t>【</a:t>
            </a:r>
            <a:r>
              <a:rPr lang="ja-JP" altLang="en-US" sz="1400" dirty="0"/>
              <a:t>ひな型パス</a:t>
            </a:r>
            <a:r>
              <a:rPr lang="en-US" altLang="ja-JP" sz="1400" dirty="0"/>
              <a:t>】</a:t>
            </a:r>
          </a:p>
          <a:p>
            <a:r>
              <a:rPr lang="ja-JP" altLang="en-US" sz="1400" dirty="0"/>
              <a:t>メッセージモデル</a:t>
            </a:r>
            <a:endParaRPr kumimoji="1" lang="ja-JP" altLang="en-US" sz="1400" dirty="0"/>
          </a:p>
        </p:txBody>
      </p:sp>
      <p:sp>
        <p:nvSpPr>
          <p:cNvPr id="3" name="コンテンツ プレースホルダー 2">
            <a:extLst>
              <a:ext uri="{FF2B5EF4-FFF2-40B4-BE49-F238E27FC236}">
                <a16:creationId xmlns:a16="http://schemas.microsoft.com/office/drawing/2014/main" id="{51D843C1-5037-67F4-6AF6-7018EB827D4F}"/>
              </a:ext>
            </a:extLst>
          </p:cNvPr>
          <p:cNvSpPr>
            <a:spLocks noGrp="1"/>
          </p:cNvSpPr>
          <p:nvPr>
            <p:ph idx="1"/>
          </p:nvPr>
        </p:nvSpPr>
        <p:spPr>
          <a:xfrm>
            <a:off x="6600266" y="299287"/>
            <a:ext cx="5380799" cy="394090"/>
          </a:xfrm>
        </p:spPr>
        <p:txBody>
          <a:bodyPr>
            <a:noAutofit/>
          </a:bodyPr>
          <a:lstStyle/>
          <a:p>
            <a:pPr marL="0" indent="0">
              <a:buNone/>
            </a:pPr>
            <a:r>
              <a:rPr lang="ja-JP" altLang="en-US" sz="1200" dirty="0"/>
              <a:t>１つのひな型用パスプラン定義（</a:t>
            </a:r>
            <a:r>
              <a:rPr lang="en-US" altLang="ja-JP" sz="1200" dirty="0"/>
              <a:t>PlanDefinition</a:t>
            </a:r>
            <a:r>
              <a:rPr lang="ja-JP" altLang="en-US" sz="1200" dirty="0"/>
              <a:t>）と</a:t>
            </a:r>
            <a:r>
              <a:rPr lang="en-US" altLang="ja-JP" sz="1200" dirty="0"/>
              <a:t>0</a:t>
            </a:r>
            <a:r>
              <a:rPr lang="ja-JP" altLang="en-US" sz="1200" dirty="0"/>
              <a:t>個以上の病日単位の入力フォーム（</a:t>
            </a:r>
            <a:r>
              <a:rPr lang="en-US" altLang="ja-JP" sz="1200" dirty="0"/>
              <a:t>Questionnaire</a:t>
            </a:r>
            <a:r>
              <a:rPr lang="ja-JP" altLang="en-US" sz="1200" dirty="0"/>
              <a:t>）をバンドル（</a:t>
            </a:r>
            <a:r>
              <a:rPr lang="en-US" altLang="ja-JP" sz="1200" dirty="0"/>
              <a:t>Bundle</a:t>
            </a:r>
            <a:r>
              <a:rPr lang="ja-JP" altLang="en-US" sz="1200" dirty="0"/>
              <a:t>）した構造</a:t>
            </a:r>
            <a:endParaRPr lang="en-US" altLang="ja-JP" sz="1200" dirty="0"/>
          </a:p>
        </p:txBody>
      </p:sp>
      <p:grpSp>
        <p:nvGrpSpPr>
          <p:cNvPr id="13" name="グループ化 12"/>
          <p:cNvGrpSpPr/>
          <p:nvPr/>
        </p:nvGrpSpPr>
        <p:grpSpPr>
          <a:xfrm>
            <a:off x="4696342" y="1333336"/>
            <a:ext cx="6949993" cy="4243635"/>
            <a:chOff x="4696342" y="1333336"/>
            <a:chExt cx="6949993" cy="4243635"/>
          </a:xfrm>
        </p:grpSpPr>
        <p:sp>
          <p:nvSpPr>
            <p:cNvPr id="6" name="テキスト ボックス 5">
              <a:extLst>
                <a:ext uri="{FF2B5EF4-FFF2-40B4-BE49-F238E27FC236}">
                  <a16:creationId xmlns:a16="http://schemas.microsoft.com/office/drawing/2014/main" id="{C91918E0-E0CD-E134-2C68-6C7549DF9F8E}"/>
                </a:ext>
              </a:extLst>
            </p:cNvPr>
            <p:cNvSpPr txBox="1"/>
            <p:nvPr/>
          </p:nvSpPr>
          <p:spPr>
            <a:xfrm>
              <a:off x="4696342" y="1515751"/>
              <a:ext cx="3240000" cy="2032967"/>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ひな型パス定義</a:t>
              </a:r>
              <a:r>
                <a:rPr lang="en-US" altLang="ja-JP" sz="1000" dirty="0"/>
                <a:t>)</a:t>
              </a:r>
              <a:endParaRPr lang="ja-JP" altLang="en-US" sz="1000" dirty="0"/>
            </a:p>
          </p:txBody>
        </p:sp>
        <p:sp>
          <p:nvSpPr>
            <p:cNvPr id="18" name="テキスト ボックス 17">
              <a:extLst>
                <a:ext uri="{FF2B5EF4-FFF2-40B4-BE49-F238E27FC236}">
                  <a16:creationId xmlns:a16="http://schemas.microsoft.com/office/drawing/2014/main" id="{AE42D1E1-5A68-1B05-8CB2-AC68D8DA73A7}"/>
                </a:ext>
              </a:extLst>
            </p:cNvPr>
            <p:cNvSpPr txBox="1"/>
            <p:nvPr/>
          </p:nvSpPr>
          <p:spPr>
            <a:xfrm>
              <a:off x="8409392" y="4881795"/>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Questionnaire</a:t>
              </a:r>
              <a:br>
                <a:rPr lang="en-US" altLang="ja-JP" sz="1000" dirty="0"/>
              </a:br>
              <a:r>
                <a:rPr lang="en-US" altLang="ja-JP" sz="1000" dirty="0"/>
                <a:t>(</a:t>
              </a:r>
              <a:r>
                <a:rPr lang="ja-JP" altLang="en-US" sz="1000" dirty="0"/>
                <a:t>患者入力フォーム</a:t>
              </a:r>
              <a:r>
                <a:rPr lang="en-US" altLang="ja-JP" sz="1000" dirty="0"/>
                <a:t>)</a:t>
              </a:r>
              <a:endParaRPr lang="ja-JP" altLang="en-US" sz="1000" dirty="0"/>
            </a:p>
          </p:txBody>
        </p:sp>
        <p:sp>
          <p:nvSpPr>
            <p:cNvPr id="310" name="テキスト ボックス 309">
              <a:extLst>
                <a:ext uri="{FF2B5EF4-FFF2-40B4-BE49-F238E27FC236}">
                  <a16:creationId xmlns:a16="http://schemas.microsoft.com/office/drawing/2014/main" id="{142B9C88-D427-74F6-33CF-B260A333E847}"/>
                </a:ext>
              </a:extLst>
            </p:cNvPr>
            <p:cNvSpPr txBox="1"/>
            <p:nvPr/>
          </p:nvSpPr>
          <p:spPr>
            <a:xfrm>
              <a:off x="4827580" y="2703579"/>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smtClean="0">
                  <a:solidFill>
                    <a:schemeClr val="bg1"/>
                  </a:solidFill>
                </a:rPr>
                <a:t>..*</a:t>
              </a:r>
              <a:endParaRPr kumimoji="1" lang="ja-JP" altLang="en-US" sz="700" dirty="0">
                <a:solidFill>
                  <a:schemeClr val="bg1"/>
                </a:solidFill>
              </a:endParaRPr>
            </a:p>
          </p:txBody>
        </p:sp>
        <p:sp>
          <p:nvSpPr>
            <p:cNvPr id="311" name="四角形: 角を丸くする 310">
              <a:extLst>
                <a:ext uri="{FF2B5EF4-FFF2-40B4-BE49-F238E27FC236}">
                  <a16:creationId xmlns:a16="http://schemas.microsoft.com/office/drawing/2014/main" id="{DC3D4AE7-F85D-3475-426A-B67379B9BAD6}"/>
                </a:ext>
              </a:extLst>
            </p:cNvPr>
            <p:cNvSpPr/>
            <p:nvPr/>
          </p:nvSpPr>
          <p:spPr>
            <a:xfrm>
              <a:off x="4827580" y="2821576"/>
              <a:ext cx="2960231" cy="576090"/>
            </a:xfrm>
            <a:prstGeom prst="roundRect">
              <a:avLst>
                <a:gd name="adj" fmla="val 475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2" name="テキスト ボックス 321">
              <a:extLst>
                <a:ext uri="{FF2B5EF4-FFF2-40B4-BE49-F238E27FC236}">
                  <a16:creationId xmlns:a16="http://schemas.microsoft.com/office/drawing/2014/main" id="{85CDC4A6-B9AA-B410-1678-886185E65DC0}"/>
                </a:ext>
              </a:extLst>
            </p:cNvPr>
            <p:cNvSpPr txBox="1"/>
            <p:nvPr/>
          </p:nvSpPr>
          <p:spPr>
            <a:xfrm>
              <a:off x="8320607" y="4697129"/>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324" name="テキスト ボックス 323">
              <a:extLst>
                <a:ext uri="{FF2B5EF4-FFF2-40B4-BE49-F238E27FC236}">
                  <a16:creationId xmlns:a16="http://schemas.microsoft.com/office/drawing/2014/main" id="{13A0FD52-B318-472E-DB94-C3606450C3A7}"/>
                </a:ext>
              </a:extLst>
            </p:cNvPr>
            <p:cNvSpPr txBox="1"/>
            <p:nvPr/>
          </p:nvSpPr>
          <p:spPr>
            <a:xfrm>
              <a:off x="8406335" y="5253806"/>
              <a:ext cx="2735580" cy="323165"/>
            </a:xfrm>
            <a:prstGeom prst="rect">
              <a:avLst/>
            </a:prstGeom>
            <a:noFill/>
          </p:spPr>
          <p:txBody>
            <a:bodyPr wrap="square" lIns="0" tIns="0" rIns="0" bIns="0" rtlCol="0">
              <a:spAutoFit/>
            </a:bodyPr>
            <a:lstStyle/>
            <a:p>
              <a:r>
                <a:rPr kumimoji="1" lang="ja-JP" altLang="en-US" sz="700" dirty="0"/>
                <a:t>病日単位の患者用</a:t>
              </a:r>
              <a:r>
                <a:rPr kumimoji="1" lang="en-US" altLang="ja-JP" sz="700" dirty="0"/>
                <a:t>OATUnit</a:t>
              </a:r>
              <a:r>
                <a:rPr kumimoji="1" lang="ja-JP" altLang="en-US" sz="700" dirty="0"/>
                <a:t>から生成した入力フォーム、正規</a:t>
              </a:r>
              <a:r>
                <a:rPr kumimoji="1" lang="en-US" altLang="ja-JP" sz="700" dirty="0"/>
                <a:t>URL</a:t>
              </a:r>
              <a:r>
                <a:rPr kumimoji="1" lang="ja-JP" altLang="en-US" sz="700" dirty="0"/>
                <a:t>を持つ。該当するパスに対応するフォームが公開されているのであれば、バンドルに含める必要はない。</a:t>
              </a:r>
            </a:p>
          </p:txBody>
        </p:sp>
        <p:sp>
          <p:nvSpPr>
            <p:cNvPr id="26" name="テキスト ボックス 25">
              <a:extLst>
                <a:ext uri="{FF2B5EF4-FFF2-40B4-BE49-F238E27FC236}">
                  <a16:creationId xmlns:a16="http://schemas.microsoft.com/office/drawing/2014/main" id="{C91918E0-E0CD-E134-2C68-6C7549DF9F8E}"/>
                </a:ext>
              </a:extLst>
            </p:cNvPr>
            <p:cNvSpPr txBox="1"/>
            <p:nvPr/>
          </p:nvSpPr>
          <p:spPr>
            <a:xfrm>
              <a:off x="8406335" y="1505539"/>
              <a:ext cx="3240000" cy="3171660"/>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smtClean="0"/>
                <a:t>(</a:t>
              </a:r>
              <a:r>
                <a:rPr lang="ja-JP" altLang="en-US" sz="1000" dirty="0" smtClean="0"/>
                <a:t>病日イベント定義</a:t>
              </a:r>
              <a:r>
                <a:rPr lang="en-US" altLang="ja-JP" sz="1000" dirty="0"/>
                <a:t>)</a:t>
              </a:r>
              <a:endParaRPr lang="ja-JP" altLang="en-US" sz="1000" dirty="0"/>
            </a:p>
          </p:txBody>
        </p:sp>
        <p:grpSp>
          <p:nvGrpSpPr>
            <p:cNvPr id="5" name="グループ化 4"/>
            <p:cNvGrpSpPr/>
            <p:nvPr/>
          </p:nvGrpSpPr>
          <p:grpSpPr>
            <a:xfrm>
              <a:off x="8456593" y="2692135"/>
              <a:ext cx="3118401" cy="1590276"/>
              <a:chOff x="8456593" y="2147604"/>
              <a:chExt cx="3118401" cy="1590276"/>
            </a:xfrm>
          </p:grpSpPr>
          <p:sp>
            <p:nvSpPr>
              <p:cNvPr id="28" name="四角形: 角を丸くする 312">
                <a:extLst>
                  <a:ext uri="{FF2B5EF4-FFF2-40B4-BE49-F238E27FC236}">
                    <a16:creationId xmlns:a16="http://schemas.microsoft.com/office/drawing/2014/main" id="{E089CF59-4864-821D-2DF4-9E1D3903A495}"/>
                  </a:ext>
                </a:extLst>
              </p:cNvPr>
              <p:cNvSpPr/>
              <p:nvPr/>
            </p:nvSpPr>
            <p:spPr>
              <a:xfrm>
                <a:off x="8456593" y="2280245"/>
                <a:ext cx="3118401" cy="1457635"/>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F92FB690-0676-66E7-62F5-90D1C0A247CF}"/>
                  </a:ext>
                </a:extLst>
              </p:cNvPr>
              <p:cNvSpPr txBox="1"/>
              <p:nvPr/>
            </p:nvSpPr>
            <p:spPr>
              <a:xfrm>
                <a:off x="8519389" y="2346614"/>
                <a:ext cx="1228180" cy="123111"/>
              </a:xfrm>
              <a:prstGeom prst="rect">
                <a:avLst/>
              </a:prstGeom>
              <a:noFill/>
            </p:spPr>
            <p:txBody>
              <a:bodyPr wrap="square" lIns="0" tIns="0" rIns="0" bIns="0" rtlCol="0">
                <a:spAutoFit/>
              </a:bodyPr>
              <a:lstStyle/>
              <a:p>
                <a:r>
                  <a:rPr lang="en-US" altLang="ja-JP" sz="800" dirty="0">
                    <a:solidFill>
                      <a:schemeClr val="bg1"/>
                    </a:solidFill>
                  </a:rPr>
                  <a:t>(OAT</a:t>
                </a:r>
                <a:r>
                  <a:rPr lang="ja-JP" altLang="en-US" sz="800" dirty="0">
                    <a:solidFill>
                      <a:schemeClr val="bg1"/>
                    </a:solidFill>
                  </a:rPr>
                  <a:t>ユニット</a:t>
                </a:r>
                <a:r>
                  <a:rPr lang="en-US" altLang="ja-JP" sz="800" dirty="0">
                    <a:solidFill>
                      <a:schemeClr val="bg1"/>
                    </a:solidFill>
                  </a:rPr>
                  <a:t>)</a:t>
                </a:r>
                <a:endParaRPr kumimoji="1" lang="ja-JP" altLang="en-US" sz="700" dirty="0">
                  <a:solidFill>
                    <a:schemeClr val="bg1"/>
                  </a:solidFill>
                </a:endParaRPr>
              </a:p>
            </p:txBody>
          </p:sp>
          <p:sp>
            <p:nvSpPr>
              <p:cNvPr id="30" name="テキスト ボックス 29">
                <a:extLst>
                  <a:ext uri="{FF2B5EF4-FFF2-40B4-BE49-F238E27FC236}">
                    <a16:creationId xmlns:a16="http://schemas.microsoft.com/office/drawing/2014/main" id="{A5456589-C61F-3A4F-214B-25B4DEF94405}"/>
                  </a:ext>
                </a:extLst>
              </p:cNvPr>
              <p:cNvSpPr txBox="1"/>
              <p:nvPr/>
            </p:nvSpPr>
            <p:spPr>
              <a:xfrm>
                <a:off x="8503186" y="2843511"/>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smtClean="0">
                    <a:solidFill>
                      <a:schemeClr val="bg1"/>
                    </a:solidFill>
                  </a:rPr>
                  <a:t>..*</a:t>
                </a:r>
                <a:endParaRPr kumimoji="1" lang="ja-JP" altLang="en-US" sz="700" dirty="0">
                  <a:solidFill>
                    <a:schemeClr val="bg1"/>
                  </a:solidFill>
                </a:endParaRPr>
              </a:p>
            </p:txBody>
          </p:sp>
          <p:sp>
            <p:nvSpPr>
              <p:cNvPr id="31" name="テキスト ボックス 30">
                <a:extLst>
                  <a:ext uri="{FF2B5EF4-FFF2-40B4-BE49-F238E27FC236}">
                    <a16:creationId xmlns:a16="http://schemas.microsoft.com/office/drawing/2014/main" id="{4B404325-2261-3110-7513-42BC927A2616}"/>
                  </a:ext>
                </a:extLst>
              </p:cNvPr>
              <p:cNvSpPr txBox="1"/>
              <p:nvPr/>
            </p:nvSpPr>
            <p:spPr>
              <a:xfrm>
                <a:off x="8503186" y="2489599"/>
                <a:ext cx="3000720"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a:t>
                </a:r>
                <a:r>
                  <a:rPr lang="en-US" altLang="ja-JP" sz="700" dirty="0">
                    <a:solidFill>
                      <a:schemeClr val="bg1"/>
                    </a:solidFill>
                  </a:rPr>
                  <a:t>OAT</a:t>
                </a:r>
                <a:r>
                  <a:rPr lang="ja-JP" altLang="en-US" sz="700" dirty="0">
                    <a:solidFill>
                      <a:schemeClr val="bg1"/>
                    </a:solidFill>
                  </a:rPr>
                  <a:t>ユニット識別子、クリティカル・インディケーター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アウトカム名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アウトカム大分類、中分類、</a:t>
                </a:r>
                <a:r>
                  <a:rPr kumimoji="1" lang="ja-JP" altLang="en-US" sz="700" dirty="0">
                    <a:solidFill>
                      <a:schemeClr val="bg1"/>
                    </a:solidFill>
                  </a:rPr>
                  <a:t>アウトカムコード・名称</a:t>
                </a:r>
                <a:endParaRPr kumimoji="1" lang="ja-JP" altLang="en-US" sz="600" dirty="0">
                  <a:solidFill>
                    <a:schemeClr val="bg1"/>
                  </a:solidFill>
                </a:endParaRPr>
              </a:p>
            </p:txBody>
          </p:sp>
          <p:sp>
            <p:nvSpPr>
              <p:cNvPr id="32" name="テキスト ボックス 31">
                <a:extLst>
                  <a:ext uri="{FF2B5EF4-FFF2-40B4-BE49-F238E27FC236}">
                    <a16:creationId xmlns:a16="http://schemas.microsoft.com/office/drawing/2014/main" id="{B7E5AEFD-A7A4-6405-F3A5-088575083D6C}"/>
                  </a:ext>
                </a:extLst>
              </p:cNvPr>
              <p:cNvSpPr txBox="1"/>
              <p:nvPr/>
            </p:nvSpPr>
            <p:spPr>
              <a:xfrm>
                <a:off x="8569929" y="3004187"/>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アセスメント</a:t>
                </a:r>
                <a:r>
                  <a:rPr lang="en-US" altLang="ja-JP" sz="800" dirty="0">
                    <a:solidFill>
                      <a:schemeClr val="bg1"/>
                    </a:solidFill>
                  </a:rPr>
                  <a:t>)</a:t>
                </a:r>
                <a:endParaRPr kumimoji="1" lang="ja-JP" altLang="en-US" sz="700" dirty="0">
                  <a:solidFill>
                    <a:schemeClr val="bg1"/>
                  </a:solidFill>
                </a:endParaRPr>
              </a:p>
            </p:txBody>
          </p:sp>
          <p:sp>
            <p:nvSpPr>
              <p:cNvPr id="33" name="テキスト ボックス 32">
                <a:extLst>
                  <a:ext uri="{FF2B5EF4-FFF2-40B4-BE49-F238E27FC236}">
                    <a16:creationId xmlns:a16="http://schemas.microsoft.com/office/drawing/2014/main" id="{C5C9A49B-24AB-6E3B-A5E2-DD19A33750CE}"/>
                  </a:ext>
                </a:extLst>
              </p:cNvPr>
              <p:cNvSpPr txBox="1"/>
              <p:nvPr/>
            </p:nvSpPr>
            <p:spPr>
              <a:xfrm>
                <a:off x="8553726" y="3147172"/>
                <a:ext cx="3000720" cy="323165"/>
              </a:xfrm>
              <a:prstGeom prst="rect">
                <a:avLst/>
              </a:prstGeom>
              <a:noFill/>
            </p:spPr>
            <p:txBody>
              <a:bodyPr wrap="square" lIns="0" tIns="0" rIns="0" bIns="0" rtlCol="0">
                <a:spAutoFit/>
              </a:bodyPr>
              <a:lstStyle/>
              <a:p>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観察項目名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観察項目分類、</a:t>
                </a:r>
                <a:r>
                  <a:rPr kumimoji="1" lang="ja-JP" altLang="en-US" sz="700" dirty="0">
                    <a:solidFill>
                      <a:schemeClr val="bg1"/>
                    </a:solidFill>
                  </a:rPr>
                  <a:t>観察項目コード・名称</a:t>
                </a:r>
                <a:endParaRPr kumimoji="1" lang="ja-JP" altLang="en-US" sz="600" dirty="0">
                  <a:solidFill>
                    <a:schemeClr val="bg1"/>
                  </a:solidFill>
                </a:endParaRPr>
              </a:p>
            </p:txBody>
          </p:sp>
          <p:sp>
            <p:nvSpPr>
              <p:cNvPr id="34" name="四角形: 角を丸くする 318">
                <a:extLst>
                  <a:ext uri="{FF2B5EF4-FFF2-40B4-BE49-F238E27FC236}">
                    <a16:creationId xmlns:a16="http://schemas.microsoft.com/office/drawing/2014/main" id="{3D44950F-367D-AA5E-7EDD-BFD81268BA63}"/>
                  </a:ext>
                </a:extLst>
              </p:cNvPr>
              <p:cNvSpPr/>
              <p:nvPr/>
            </p:nvSpPr>
            <p:spPr>
              <a:xfrm>
                <a:off x="8519389" y="2963368"/>
                <a:ext cx="2914935" cy="690772"/>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142B9C88-D427-74F6-33CF-B260A333E847}"/>
                  </a:ext>
                </a:extLst>
              </p:cNvPr>
              <p:cNvSpPr txBox="1"/>
              <p:nvPr/>
            </p:nvSpPr>
            <p:spPr>
              <a:xfrm>
                <a:off x="8519389" y="2147604"/>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smtClean="0">
                    <a:solidFill>
                      <a:schemeClr val="bg1"/>
                    </a:solidFill>
                  </a:rPr>
                  <a:t>..*</a:t>
                </a:r>
                <a:endParaRPr kumimoji="1" lang="ja-JP" altLang="en-US" sz="700" dirty="0">
                  <a:solidFill>
                    <a:schemeClr val="bg1"/>
                  </a:solidFill>
                </a:endParaRPr>
              </a:p>
            </p:txBody>
          </p:sp>
        </p:grpSp>
        <p:sp>
          <p:nvSpPr>
            <p:cNvPr id="312" name="テキスト ボックス 311">
              <a:extLst>
                <a:ext uri="{FF2B5EF4-FFF2-40B4-BE49-F238E27FC236}">
                  <a16:creationId xmlns:a16="http://schemas.microsoft.com/office/drawing/2014/main" id="{DC975BA3-559B-841D-6EB9-F016FEE84C8A}"/>
                </a:ext>
              </a:extLst>
            </p:cNvPr>
            <p:cNvSpPr txBox="1"/>
            <p:nvPr/>
          </p:nvSpPr>
          <p:spPr>
            <a:xfrm>
              <a:off x="8484529" y="1886829"/>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316" name="テキスト ボックス 315">
              <a:extLst>
                <a:ext uri="{FF2B5EF4-FFF2-40B4-BE49-F238E27FC236}">
                  <a16:creationId xmlns:a16="http://schemas.microsoft.com/office/drawing/2014/main" id="{E152465D-E57E-A1A7-9A9B-AF23F2E04BE9}"/>
                </a:ext>
              </a:extLst>
            </p:cNvPr>
            <p:cNvSpPr txBox="1"/>
            <p:nvPr/>
          </p:nvSpPr>
          <p:spPr>
            <a:xfrm>
              <a:off x="8503186" y="2070632"/>
              <a:ext cx="3068504"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病日、パスステップ回数目、パスステップ名称、入外区分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イベント名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a:t>
              </a:r>
              <a:r>
                <a:rPr kumimoji="1" lang="ja-JP" altLang="en-US" sz="700" dirty="0">
                  <a:solidFill>
                    <a:schemeClr val="bg1"/>
                  </a:solidFill>
                </a:rPr>
                <a:t>イベントコード・名称</a:t>
              </a:r>
              <a:endParaRPr kumimoji="1" lang="ja-JP" altLang="en-US" sz="600" dirty="0">
                <a:solidFill>
                  <a:schemeClr val="bg1"/>
                </a:solidFill>
              </a:endParaRPr>
            </a:p>
          </p:txBody>
        </p:sp>
        <p:sp>
          <p:nvSpPr>
            <p:cNvPr id="37" name="テキスト ボックス 36">
              <a:extLst>
                <a:ext uri="{FF2B5EF4-FFF2-40B4-BE49-F238E27FC236}">
                  <a16:creationId xmlns:a16="http://schemas.microsoft.com/office/drawing/2014/main" id="{DC975BA3-559B-841D-6EB9-F016FEE84C8A}"/>
                </a:ext>
              </a:extLst>
            </p:cNvPr>
            <p:cNvSpPr txBox="1"/>
            <p:nvPr/>
          </p:nvSpPr>
          <p:spPr>
            <a:xfrm>
              <a:off x="4877011" y="2870558"/>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38" name="テキスト ボックス 37">
              <a:extLst>
                <a:ext uri="{FF2B5EF4-FFF2-40B4-BE49-F238E27FC236}">
                  <a16:creationId xmlns:a16="http://schemas.microsoft.com/office/drawing/2014/main" id="{6E411A0A-728A-8966-1902-BB3DDA2F0276}"/>
                </a:ext>
              </a:extLst>
            </p:cNvPr>
            <p:cNvSpPr txBox="1"/>
            <p:nvPr/>
          </p:nvSpPr>
          <p:spPr>
            <a:xfrm>
              <a:off x="4890960" y="3004839"/>
              <a:ext cx="1481205" cy="174639"/>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800" dirty="0" err="1" smtClean="0">
                  <a:solidFill>
                    <a:schemeClr val="tx1"/>
                  </a:solidFill>
                </a:rPr>
                <a:t>definitionCanonical</a:t>
              </a:r>
              <a:r>
                <a:rPr lang="en-US" altLang="ja-JP" sz="800" dirty="0" smtClean="0">
                  <a:solidFill>
                    <a:schemeClr val="tx1"/>
                  </a:solidFill>
                </a:rPr>
                <a:t> </a:t>
              </a:r>
              <a:r>
                <a:rPr kumimoji="1" lang="en-US" altLang="ja-JP" sz="800" dirty="0">
                  <a:solidFill>
                    <a:schemeClr val="tx1"/>
                  </a:solidFill>
                </a:rPr>
                <a:t>: </a:t>
              </a:r>
              <a:r>
                <a:rPr lang="en-US" altLang="ja-JP" sz="800" dirty="0">
                  <a:solidFill>
                    <a:schemeClr val="tx1"/>
                  </a:solidFill>
                </a:rPr>
                <a:t>0</a:t>
              </a:r>
              <a:r>
                <a:rPr kumimoji="1" lang="en-US" altLang="ja-JP" sz="800" dirty="0" smtClean="0">
                  <a:solidFill>
                    <a:schemeClr val="tx1"/>
                  </a:solidFill>
                </a:rPr>
                <a:t>..1</a:t>
              </a:r>
              <a:endParaRPr kumimoji="1" lang="ja-JP" altLang="en-US" sz="800" dirty="0">
                <a:solidFill>
                  <a:schemeClr val="tx1"/>
                </a:solidFill>
              </a:endParaRPr>
            </a:p>
          </p:txBody>
        </p:sp>
        <p:cxnSp>
          <p:nvCxnSpPr>
            <p:cNvPr id="39" name="コネクタ: カギ線 49">
              <a:extLst>
                <a:ext uri="{FF2B5EF4-FFF2-40B4-BE49-F238E27FC236}">
                  <a16:creationId xmlns:a16="http://schemas.microsoft.com/office/drawing/2014/main" id="{8934AA53-DD8F-67C4-F09F-5E9581C14AD3}"/>
                </a:ext>
              </a:extLst>
            </p:cNvPr>
            <p:cNvCxnSpPr>
              <a:cxnSpLocks/>
              <a:stCxn id="18" idx="1"/>
              <a:endCxn id="38" idx="2"/>
            </p:cNvCxnSpPr>
            <p:nvPr/>
          </p:nvCxnSpPr>
          <p:spPr>
            <a:xfrm rot="10800000">
              <a:off x="5631564" y="3179478"/>
              <a:ext cx="2777829" cy="1856206"/>
            </a:xfrm>
            <a:prstGeom prst="bentConnector2">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コネクタ: カギ線 49">
              <a:extLst>
                <a:ext uri="{FF2B5EF4-FFF2-40B4-BE49-F238E27FC236}">
                  <a16:creationId xmlns:a16="http://schemas.microsoft.com/office/drawing/2014/main" id="{8934AA53-DD8F-67C4-F09F-5E9581C14AD3}"/>
                </a:ext>
              </a:extLst>
            </p:cNvPr>
            <p:cNvCxnSpPr>
              <a:cxnSpLocks/>
              <a:stCxn id="26" idx="1"/>
              <a:endCxn id="38" idx="3"/>
            </p:cNvCxnSpPr>
            <p:nvPr/>
          </p:nvCxnSpPr>
          <p:spPr>
            <a:xfrm rot="10800000" flipV="1">
              <a:off x="6372165" y="3091369"/>
              <a:ext cx="2034170" cy="790"/>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85CDC4A6-B9AA-B410-1678-886185E65DC0}"/>
                </a:ext>
              </a:extLst>
            </p:cNvPr>
            <p:cNvSpPr txBox="1"/>
            <p:nvPr/>
          </p:nvSpPr>
          <p:spPr>
            <a:xfrm>
              <a:off x="8339264" y="1333336"/>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grpSp>
    </p:spTree>
    <p:extLst>
      <p:ext uri="{BB962C8B-B14F-4D97-AF65-F5344CB8AC3E}">
        <p14:creationId xmlns:p14="http://schemas.microsoft.com/office/powerpoint/2010/main" val="142707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正方形/長方形 106">
            <a:extLst>
              <a:ext uri="{FF2B5EF4-FFF2-40B4-BE49-F238E27FC236}">
                <a16:creationId xmlns:a16="http://schemas.microsoft.com/office/drawing/2014/main" id="{F7EFFFEF-5A2C-896C-A11F-7B7E9FE4A3F1}"/>
              </a:ext>
            </a:extLst>
          </p:cNvPr>
          <p:cNvSpPr/>
          <p:nvPr/>
        </p:nvSpPr>
        <p:spPr>
          <a:xfrm>
            <a:off x="4429063" y="694307"/>
            <a:ext cx="7552002" cy="5081653"/>
          </a:xfrm>
          <a:prstGeom prst="rect">
            <a:avLst/>
          </a:prstGeom>
          <a:solidFill>
            <a:schemeClr val="accent5">
              <a:lumMod val="20000"/>
              <a:lumOff val="80000"/>
            </a:schemeClr>
          </a:solidFill>
          <a:ln>
            <a:solidFill>
              <a:schemeClr val="accent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70EDEE26-9EDC-4AFC-E73F-ABA23843EA2B}"/>
              </a:ext>
            </a:extLst>
          </p:cNvPr>
          <p:cNvSpPr txBox="1"/>
          <p:nvPr/>
        </p:nvSpPr>
        <p:spPr>
          <a:xfrm>
            <a:off x="4429063" y="317368"/>
            <a:ext cx="2124076" cy="366070"/>
          </a:xfrm>
          <a:prstGeom prst="rect">
            <a:avLst/>
          </a:prstGeom>
          <a:solidFill>
            <a:schemeClr val="accent1">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US" altLang="ja-JP" sz="1000" dirty="0"/>
              <a:t>Bundle</a:t>
            </a:r>
            <a:br>
              <a:rPr lang="en-US" altLang="ja-JP" sz="1000" dirty="0"/>
            </a:br>
            <a:r>
              <a:rPr lang="ja-JP" altLang="en-US" sz="1000" dirty="0"/>
              <a:t>（施設パス）</a:t>
            </a:r>
          </a:p>
        </p:txBody>
      </p:sp>
      <p:sp>
        <p:nvSpPr>
          <p:cNvPr id="106" name="テキスト ボックス 105">
            <a:extLst>
              <a:ext uri="{FF2B5EF4-FFF2-40B4-BE49-F238E27FC236}">
                <a16:creationId xmlns:a16="http://schemas.microsoft.com/office/drawing/2014/main" id="{6C766AF5-669F-3C50-E820-45CE136CD47A}"/>
              </a:ext>
            </a:extLst>
          </p:cNvPr>
          <p:cNvSpPr txBox="1"/>
          <p:nvPr/>
        </p:nvSpPr>
        <p:spPr>
          <a:xfrm>
            <a:off x="4429063" y="615227"/>
            <a:ext cx="534560" cy="184666"/>
          </a:xfrm>
          <a:prstGeom prst="roundRect">
            <a:avLst/>
          </a:prstGeom>
          <a:solidFill>
            <a:schemeClr val="bg1">
              <a:lumMod val="85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lIns="0" tIns="0" rIns="0" bIns="0" rtlCol="0" anchor="ctr" anchorCtr="0">
            <a:noAutofit/>
          </a:bodyPr>
          <a:lstStyle/>
          <a:p>
            <a:pPr algn="ctr"/>
            <a:r>
              <a:rPr lang="en-US" altLang="ja-JP" sz="600" dirty="0" err="1"/>
              <a:t>Bundle.entry</a:t>
            </a:r>
            <a:endParaRPr kumimoji="1" lang="ja-JP" altLang="en-US" sz="600" dirty="0"/>
          </a:p>
        </p:txBody>
      </p:sp>
      <p:sp>
        <p:nvSpPr>
          <p:cNvPr id="323" name="テキスト ボックス 322">
            <a:extLst>
              <a:ext uri="{FF2B5EF4-FFF2-40B4-BE49-F238E27FC236}">
                <a16:creationId xmlns:a16="http://schemas.microsoft.com/office/drawing/2014/main" id="{9E52B731-C19A-D129-74F6-06EAA720DE30}"/>
              </a:ext>
            </a:extLst>
          </p:cNvPr>
          <p:cNvSpPr txBox="1"/>
          <p:nvPr/>
        </p:nvSpPr>
        <p:spPr>
          <a:xfrm>
            <a:off x="4633086" y="2217586"/>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3" name="テキスト ボックス 2">
            <a:extLst>
              <a:ext uri="{FF2B5EF4-FFF2-40B4-BE49-F238E27FC236}">
                <a16:creationId xmlns:a16="http://schemas.microsoft.com/office/drawing/2014/main" id="{DDA2534B-0035-C7E8-A619-4A68267A08EA}"/>
              </a:ext>
            </a:extLst>
          </p:cNvPr>
          <p:cNvSpPr txBox="1"/>
          <p:nvPr/>
        </p:nvSpPr>
        <p:spPr>
          <a:xfrm>
            <a:off x="483832" y="355783"/>
            <a:ext cx="3392429" cy="523220"/>
          </a:xfrm>
          <a:prstGeom prst="rect">
            <a:avLst/>
          </a:prstGeom>
          <a:noFill/>
        </p:spPr>
        <p:txBody>
          <a:bodyPr wrap="square" rtlCol="0">
            <a:spAutoFit/>
          </a:bodyPr>
          <a:lstStyle/>
          <a:p>
            <a:r>
              <a:rPr kumimoji="1" lang="en-US" altLang="ja-JP" sz="1400" dirty="0"/>
              <a:t>ePath </a:t>
            </a:r>
            <a:r>
              <a:rPr kumimoji="1" lang="ja-JP" altLang="en-US" sz="1400" dirty="0"/>
              <a:t>仕様</a:t>
            </a:r>
            <a:r>
              <a:rPr lang="en-US" altLang="ja-JP" sz="1400" dirty="0"/>
              <a:t>【</a:t>
            </a:r>
            <a:r>
              <a:rPr lang="ja-JP" altLang="en-US" sz="1400" dirty="0"/>
              <a:t>施設パス</a:t>
            </a:r>
            <a:r>
              <a:rPr lang="en-US" altLang="ja-JP" sz="1400" dirty="0"/>
              <a:t>】</a:t>
            </a:r>
          </a:p>
          <a:p>
            <a:r>
              <a:rPr lang="ja-JP" altLang="en-US" sz="1400" dirty="0"/>
              <a:t>メッセージモデルモデル</a:t>
            </a:r>
            <a:endParaRPr kumimoji="1" lang="ja-JP" altLang="en-US" sz="1400" dirty="0"/>
          </a:p>
        </p:txBody>
      </p:sp>
      <p:sp>
        <p:nvSpPr>
          <p:cNvPr id="4" name="コンテンツ プレースホルダー 2">
            <a:extLst>
              <a:ext uri="{FF2B5EF4-FFF2-40B4-BE49-F238E27FC236}">
                <a16:creationId xmlns:a16="http://schemas.microsoft.com/office/drawing/2014/main" id="{7D760DE1-6E8F-AF8A-8C09-33E29B032619}"/>
              </a:ext>
            </a:extLst>
          </p:cNvPr>
          <p:cNvSpPr>
            <a:spLocks noGrp="1"/>
          </p:cNvSpPr>
          <p:nvPr>
            <p:ph idx="1"/>
          </p:nvPr>
        </p:nvSpPr>
        <p:spPr>
          <a:xfrm>
            <a:off x="6600266" y="299287"/>
            <a:ext cx="5380799" cy="394090"/>
          </a:xfrm>
        </p:spPr>
        <p:txBody>
          <a:bodyPr>
            <a:noAutofit/>
          </a:bodyPr>
          <a:lstStyle/>
          <a:p>
            <a:pPr marL="0" indent="0">
              <a:buNone/>
            </a:pPr>
            <a:r>
              <a:rPr lang="ja-JP" altLang="en-US" sz="1200" dirty="0"/>
              <a:t>１つの施設パス用パスプラン定義（</a:t>
            </a:r>
            <a:r>
              <a:rPr lang="en-US" altLang="ja-JP" sz="1200" dirty="0"/>
              <a:t>PlanDefinition</a:t>
            </a:r>
            <a:r>
              <a:rPr lang="ja-JP" altLang="en-US" sz="1200" dirty="0"/>
              <a:t>）と</a:t>
            </a:r>
            <a:r>
              <a:rPr lang="en-US" altLang="ja-JP" sz="1200" dirty="0"/>
              <a:t>0</a:t>
            </a:r>
            <a:r>
              <a:rPr lang="ja-JP" altLang="en-US" sz="1200" dirty="0"/>
              <a:t>個以上の病日単位の入力フォーム（</a:t>
            </a:r>
            <a:r>
              <a:rPr lang="en-US" altLang="ja-JP" sz="1200" dirty="0"/>
              <a:t>Questionnaire</a:t>
            </a:r>
            <a:r>
              <a:rPr lang="ja-JP" altLang="en-US" sz="1200" dirty="0"/>
              <a:t>）をバンドル（</a:t>
            </a:r>
            <a:r>
              <a:rPr lang="en-US" altLang="ja-JP" sz="1200" dirty="0"/>
              <a:t>Bundle</a:t>
            </a:r>
            <a:r>
              <a:rPr lang="ja-JP" altLang="en-US" sz="1200" dirty="0"/>
              <a:t>）した構造</a:t>
            </a:r>
            <a:endParaRPr lang="en-US" altLang="ja-JP" sz="1200" dirty="0"/>
          </a:p>
        </p:txBody>
      </p:sp>
      <p:grpSp>
        <p:nvGrpSpPr>
          <p:cNvPr id="30" name="グループ化 29"/>
          <p:cNvGrpSpPr/>
          <p:nvPr/>
        </p:nvGrpSpPr>
        <p:grpSpPr>
          <a:xfrm>
            <a:off x="4699451" y="1338376"/>
            <a:ext cx="6949993" cy="4243635"/>
            <a:chOff x="4696342" y="1333336"/>
            <a:chExt cx="6949993" cy="4243635"/>
          </a:xfrm>
        </p:grpSpPr>
        <p:sp>
          <p:nvSpPr>
            <p:cNvPr id="31" name="テキスト ボックス 30">
              <a:extLst>
                <a:ext uri="{FF2B5EF4-FFF2-40B4-BE49-F238E27FC236}">
                  <a16:creationId xmlns:a16="http://schemas.microsoft.com/office/drawing/2014/main" id="{C91918E0-E0CD-E134-2C68-6C7549DF9F8E}"/>
                </a:ext>
              </a:extLst>
            </p:cNvPr>
            <p:cNvSpPr txBox="1"/>
            <p:nvPr/>
          </p:nvSpPr>
          <p:spPr>
            <a:xfrm>
              <a:off x="4696342" y="2378778"/>
              <a:ext cx="3240000" cy="2032967"/>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smtClean="0"/>
                <a:t>(</a:t>
              </a:r>
              <a:r>
                <a:rPr lang="ja-JP" altLang="en-US" sz="1000" dirty="0" smtClean="0"/>
                <a:t>施設パス</a:t>
              </a:r>
              <a:r>
                <a:rPr lang="ja-JP" altLang="en-US" sz="1000" dirty="0"/>
                <a:t>定義</a:t>
              </a:r>
              <a:r>
                <a:rPr lang="en-US" altLang="ja-JP" sz="1000" dirty="0"/>
                <a:t>)</a:t>
              </a:r>
              <a:endParaRPr lang="ja-JP" altLang="en-US" sz="1000" dirty="0"/>
            </a:p>
          </p:txBody>
        </p:sp>
        <p:sp>
          <p:nvSpPr>
            <p:cNvPr id="33" name="テキスト ボックス 32">
              <a:extLst>
                <a:ext uri="{FF2B5EF4-FFF2-40B4-BE49-F238E27FC236}">
                  <a16:creationId xmlns:a16="http://schemas.microsoft.com/office/drawing/2014/main" id="{AE42D1E1-5A68-1B05-8CB2-AC68D8DA73A7}"/>
                </a:ext>
              </a:extLst>
            </p:cNvPr>
            <p:cNvSpPr txBox="1"/>
            <p:nvPr/>
          </p:nvSpPr>
          <p:spPr>
            <a:xfrm>
              <a:off x="8409392" y="4881795"/>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Questionnaire</a:t>
              </a:r>
              <a:br>
                <a:rPr lang="en-US" altLang="ja-JP" sz="1000" dirty="0"/>
              </a:br>
              <a:r>
                <a:rPr lang="en-US" altLang="ja-JP" sz="1000" dirty="0"/>
                <a:t>(</a:t>
              </a:r>
              <a:r>
                <a:rPr lang="ja-JP" altLang="en-US" sz="1000" dirty="0"/>
                <a:t>患者入力フォーム</a:t>
              </a:r>
              <a:r>
                <a:rPr lang="en-US" altLang="ja-JP" sz="1000" dirty="0"/>
                <a:t>)</a:t>
              </a:r>
              <a:endParaRPr lang="ja-JP" altLang="en-US" sz="1000" dirty="0"/>
            </a:p>
          </p:txBody>
        </p:sp>
        <p:sp>
          <p:nvSpPr>
            <p:cNvPr id="34" name="テキスト ボックス 33">
              <a:extLst>
                <a:ext uri="{FF2B5EF4-FFF2-40B4-BE49-F238E27FC236}">
                  <a16:creationId xmlns:a16="http://schemas.microsoft.com/office/drawing/2014/main" id="{142B9C88-D427-74F6-33CF-B260A333E847}"/>
                </a:ext>
              </a:extLst>
            </p:cNvPr>
            <p:cNvSpPr txBox="1"/>
            <p:nvPr/>
          </p:nvSpPr>
          <p:spPr>
            <a:xfrm>
              <a:off x="4827580" y="3546057"/>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smtClean="0">
                  <a:solidFill>
                    <a:schemeClr val="bg1"/>
                  </a:solidFill>
                </a:rPr>
                <a:t>..*</a:t>
              </a:r>
              <a:endParaRPr kumimoji="1" lang="ja-JP" altLang="en-US" sz="700" dirty="0">
                <a:solidFill>
                  <a:schemeClr val="bg1"/>
                </a:solidFill>
              </a:endParaRPr>
            </a:p>
          </p:txBody>
        </p:sp>
        <p:sp>
          <p:nvSpPr>
            <p:cNvPr id="35" name="四角形: 角を丸くする 310">
              <a:extLst>
                <a:ext uri="{FF2B5EF4-FFF2-40B4-BE49-F238E27FC236}">
                  <a16:creationId xmlns:a16="http://schemas.microsoft.com/office/drawing/2014/main" id="{DC3D4AE7-F85D-3475-426A-B67379B9BAD6}"/>
                </a:ext>
              </a:extLst>
            </p:cNvPr>
            <p:cNvSpPr/>
            <p:nvPr/>
          </p:nvSpPr>
          <p:spPr>
            <a:xfrm>
              <a:off x="4827580" y="3664054"/>
              <a:ext cx="2960231" cy="576090"/>
            </a:xfrm>
            <a:prstGeom prst="roundRect">
              <a:avLst>
                <a:gd name="adj" fmla="val 475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85CDC4A6-B9AA-B410-1678-886185E65DC0}"/>
                </a:ext>
              </a:extLst>
            </p:cNvPr>
            <p:cNvSpPr txBox="1"/>
            <p:nvPr/>
          </p:nvSpPr>
          <p:spPr>
            <a:xfrm>
              <a:off x="8320607" y="4697129"/>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37" name="テキスト ボックス 36">
              <a:extLst>
                <a:ext uri="{FF2B5EF4-FFF2-40B4-BE49-F238E27FC236}">
                  <a16:creationId xmlns:a16="http://schemas.microsoft.com/office/drawing/2014/main" id="{13A0FD52-B318-472E-DB94-C3606450C3A7}"/>
                </a:ext>
              </a:extLst>
            </p:cNvPr>
            <p:cNvSpPr txBox="1"/>
            <p:nvPr/>
          </p:nvSpPr>
          <p:spPr>
            <a:xfrm>
              <a:off x="8406335" y="5253806"/>
              <a:ext cx="2735580" cy="323165"/>
            </a:xfrm>
            <a:prstGeom prst="rect">
              <a:avLst/>
            </a:prstGeom>
            <a:noFill/>
          </p:spPr>
          <p:txBody>
            <a:bodyPr wrap="square" lIns="0" tIns="0" rIns="0" bIns="0" rtlCol="0">
              <a:spAutoFit/>
            </a:bodyPr>
            <a:lstStyle/>
            <a:p>
              <a:r>
                <a:rPr kumimoji="1" lang="ja-JP" altLang="en-US" sz="700" dirty="0"/>
                <a:t>病日単位の患者用</a:t>
              </a:r>
              <a:r>
                <a:rPr kumimoji="1" lang="en-US" altLang="ja-JP" sz="700" dirty="0"/>
                <a:t>OATUnit</a:t>
              </a:r>
              <a:r>
                <a:rPr kumimoji="1" lang="ja-JP" altLang="en-US" sz="700" dirty="0"/>
                <a:t>から生成した入力フォーム、正規</a:t>
              </a:r>
              <a:r>
                <a:rPr kumimoji="1" lang="en-US" altLang="ja-JP" sz="700" dirty="0"/>
                <a:t>URL</a:t>
              </a:r>
              <a:r>
                <a:rPr kumimoji="1" lang="ja-JP" altLang="en-US" sz="700" dirty="0"/>
                <a:t>を持つ。該当するパスに対応するフォームが公開されているのであれば、バンドルに含める必要はない。</a:t>
              </a:r>
            </a:p>
          </p:txBody>
        </p:sp>
        <p:sp>
          <p:nvSpPr>
            <p:cNvPr id="38" name="テキスト ボックス 37">
              <a:extLst>
                <a:ext uri="{FF2B5EF4-FFF2-40B4-BE49-F238E27FC236}">
                  <a16:creationId xmlns:a16="http://schemas.microsoft.com/office/drawing/2014/main" id="{C91918E0-E0CD-E134-2C68-6C7549DF9F8E}"/>
                </a:ext>
              </a:extLst>
            </p:cNvPr>
            <p:cNvSpPr txBox="1"/>
            <p:nvPr/>
          </p:nvSpPr>
          <p:spPr>
            <a:xfrm>
              <a:off x="8406335" y="1505539"/>
              <a:ext cx="3240000" cy="3171660"/>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smtClean="0"/>
                <a:t>(</a:t>
              </a:r>
              <a:r>
                <a:rPr lang="ja-JP" altLang="en-US" sz="1000" dirty="0" smtClean="0"/>
                <a:t>病日イベント定義</a:t>
              </a:r>
              <a:r>
                <a:rPr lang="en-US" altLang="ja-JP" sz="1000" dirty="0"/>
                <a:t>)</a:t>
              </a:r>
              <a:endParaRPr lang="ja-JP" altLang="en-US" sz="1000" dirty="0"/>
            </a:p>
          </p:txBody>
        </p:sp>
        <p:grpSp>
          <p:nvGrpSpPr>
            <p:cNvPr id="39" name="グループ化 38"/>
            <p:cNvGrpSpPr/>
            <p:nvPr/>
          </p:nvGrpSpPr>
          <p:grpSpPr>
            <a:xfrm>
              <a:off x="8456593" y="2692135"/>
              <a:ext cx="3118401" cy="1590276"/>
              <a:chOff x="8456593" y="2147604"/>
              <a:chExt cx="3118401" cy="1590276"/>
            </a:xfrm>
          </p:grpSpPr>
          <p:sp>
            <p:nvSpPr>
              <p:cNvPr id="47" name="四角形: 角を丸くする 312">
                <a:extLst>
                  <a:ext uri="{FF2B5EF4-FFF2-40B4-BE49-F238E27FC236}">
                    <a16:creationId xmlns:a16="http://schemas.microsoft.com/office/drawing/2014/main" id="{E089CF59-4864-821D-2DF4-9E1D3903A495}"/>
                  </a:ext>
                </a:extLst>
              </p:cNvPr>
              <p:cNvSpPr/>
              <p:nvPr/>
            </p:nvSpPr>
            <p:spPr>
              <a:xfrm>
                <a:off x="8456593" y="2280245"/>
                <a:ext cx="3118401" cy="1457635"/>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F92FB690-0676-66E7-62F5-90D1C0A247CF}"/>
                  </a:ext>
                </a:extLst>
              </p:cNvPr>
              <p:cNvSpPr txBox="1"/>
              <p:nvPr/>
            </p:nvSpPr>
            <p:spPr>
              <a:xfrm>
                <a:off x="8519389" y="2346614"/>
                <a:ext cx="1228180" cy="123111"/>
              </a:xfrm>
              <a:prstGeom prst="rect">
                <a:avLst/>
              </a:prstGeom>
              <a:noFill/>
            </p:spPr>
            <p:txBody>
              <a:bodyPr wrap="square" lIns="0" tIns="0" rIns="0" bIns="0" rtlCol="0">
                <a:spAutoFit/>
              </a:bodyPr>
              <a:lstStyle/>
              <a:p>
                <a:r>
                  <a:rPr lang="en-US" altLang="ja-JP" sz="800" dirty="0">
                    <a:solidFill>
                      <a:schemeClr val="bg1"/>
                    </a:solidFill>
                  </a:rPr>
                  <a:t>(OAT</a:t>
                </a:r>
                <a:r>
                  <a:rPr lang="ja-JP" altLang="en-US" sz="800" dirty="0">
                    <a:solidFill>
                      <a:schemeClr val="bg1"/>
                    </a:solidFill>
                  </a:rPr>
                  <a:t>ユニット</a:t>
                </a:r>
                <a:r>
                  <a:rPr lang="en-US" altLang="ja-JP" sz="800" dirty="0">
                    <a:solidFill>
                      <a:schemeClr val="bg1"/>
                    </a:solidFill>
                  </a:rPr>
                  <a:t>)</a:t>
                </a:r>
                <a:endParaRPr kumimoji="1" lang="ja-JP" altLang="en-US" sz="700" dirty="0">
                  <a:solidFill>
                    <a:schemeClr val="bg1"/>
                  </a:solidFill>
                </a:endParaRPr>
              </a:p>
            </p:txBody>
          </p:sp>
          <p:sp>
            <p:nvSpPr>
              <p:cNvPr id="49" name="テキスト ボックス 48">
                <a:extLst>
                  <a:ext uri="{FF2B5EF4-FFF2-40B4-BE49-F238E27FC236}">
                    <a16:creationId xmlns:a16="http://schemas.microsoft.com/office/drawing/2014/main" id="{A5456589-C61F-3A4F-214B-25B4DEF94405}"/>
                  </a:ext>
                </a:extLst>
              </p:cNvPr>
              <p:cNvSpPr txBox="1"/>
              <p:nvPr/>
            </p:nvSpPr>
            <p:spPr>
              <a:xfrm>
                <a:off x="8503186" y="2843511"/>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smtClean="0">
                    <a:solidFill>
                      <a:schemeClr val="bg1"/>
                    </a:solidFill>
                  </a:rPr>
                  <a:t>..*</a:t>
                </a:r>
                <a:endParaRPr kumimoji="1" lang="ja-JP" altLang="en-US" sz="700" dirty="0">
                  <a:solidFill>
                    <a:schemeClr val="bg1"/>
                  </a:solidFill>
                </a:endParaRPr>
              </a:p>
            </p:txBody>
          </p:sp>
          <p:sp>
            <p:nvSpPr>
              <p:cNvPr id="50" name="テキスト ボックス 49">
                <a:extLst>
                  <a:ext uri="{FF2B5EF4-FFF2-40B4-BE49-F238E27FC236}">
                    <a16:creationId xmlns:a16="http://schemas.microsoft.com/office/drawing/2014/main" id="{4B404325-2261-3110-7513-42BC927A2616}"/>
                  </a:ext>
                </a:extLst>
              </p:cNvPr>
              <p:cNvSpPr txBox="1"/>
              <p:nvPr/>
            </p:nvSpPr>
            <p:spPr>
              <a:xfrm>
                <a:off x="8503186" y="2489599"/>
                <a:ext cx="3000720"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a:t>
                </a:r>
                <a:r>
                  <a:rPr lang="en-US" altLang="ja-JP" sz="700" dirty="0">
                    <a:solidFill>
                      <a:schemeClr val="bg1"/>
                    </a:solidFill>
                  </a:rPr>
                  <a:t>OAT</a:t>
                </a:r>
                <a:r>
                  <a:rPr lang="ja-JP" altLang="en-US" sz="700" dirty="0">
                    <a:solidFill>
                      <a:schemeClr val="bg1"/>
                    </a:solidFill>
                  </a:rPr>
                  <a:t>ユニット識別子、クリティカル・インディケーター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アウトカム名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アウトカム大分類、中分類、</a:t>
                </a:r>
                <a:r>
                  <a:rPr kumimoji="1" lang="ja-JP" altLang="en-US" sz="700" dirty="0">
                    <a:solidFill>
                      <a:schemeClr val="bg1"/>
                    </a:solidFill>
                  </a:rPr>
                  <a:t>アウトカムコード・名称</a:t>
                </a:r>
                <a:endParaRPr kumimoji="1" lang="ja-JP" altLang="en-US" sz="600" dirty="0">
                  <a:solidFill>
                    <a:schemeClr val="bg1"/>
                  </a:solidFill>
                </a:endParaRPr>
              </a:p>
            </p:txBody>
          </p:sp>
          <p:sp>
            <p:nvSpPr>
              <p:cNvPr id="51" name="テキスト ボックス 50">
                <a:extLst>
                  <a:ext uri="{FF2B5EF4-FFF2-40B4-BE49-F238E27FC236}">
                    <a16:creationId xmlns:a16="http://schemas.microsoft.com/office/drawing/2014/main" id="{B7E5AEFD-A7A4-6405-F3A5-088575083D6C}"/>
                  </a:ext>
                </a:extLst>
              </p:cNvPr>
              <p:cNvSpPr txBox="1"/>
              <p:nvPr/>
            </p:nvSpPr>
            <p:spPr>
              <a:xfrm>
                <a:off x="8569929" y="3004187"/>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アセスメント</a:t>
                </a:r>
                <a:r>
                  <a:rPr lang="en-US" altLang="ja-JP" sz="800" dirty="0">
                    <a:solidFill>
                      <a:schemeClr val="bg1"/>
                    </a:solidFill>
                  </a:rPr>
                  <a:t>)</a:t>
                </a:r>
                <a:endParaRPr kumimoji="1" lang="ja-JP" altLang="en-US" sz="700" dirty="0">
                  <a:solidFill>
                    <a:schemeClr val="bg1"/>
                  </a:solidFill>
                </a:endParaRPr>
              </a:p>
            </p:txBody>
          </p:sp>
          <p:sp>
            <p:nvSpPr>
              <p:cNvPr id="52" name="テキスト ボックス 51">
                <a:extLst>
                  <a:ext uri="{FF2B5EF4-FFF2-40B4-BE49-F238E27FC236}">
                    <a16:creationId xmlns:a16="http://schemas.microsoft.com/office/drawing/2014/main" id="{C5C9A49B-24AB-6E3B-A5E2-DD19A33750CE}"/>
                  </a:ext>
                </a:extLst>
              </p:cNvPr>
              <p:cNvSpPr txBox="1"/>
              <p:nvPr/>
            </p:nvSpPr>
            <p:spPr>
              <a:xfrm>
                <a:off x="8553726" y="3147172"/>
                <a:ext cx="3000720" cy="323165"/>
              </a:xfrm>
              <a:prstGeom prst="rect">
                <a:avLst/>
              </a:prstGeom>
              <a:noFill/>
            </p:spPr>
            <p:txBody>
              <a:bodyPr wrap="square" lIns="0" tIns="0" rIns="0" bIns="0" rtlCol="0">
                <a:spAutoFit/>
              </a:bodyPr>
              <a:lstStyle/>
              <a:p>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観察項目名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観察項目分類、</a:t>
                </a:r>
                <a:r>
                  <a:rPr kumimoji="1" lang="ja-JP" altLang="en-US" sz="700" dirty="0">
                    <a:solidFill>
                      <a:schemeClr val="bg1"/>
                    </a:solidFill>
                  </a:rPr>
                  <a:t>観察項目コード・名称</a:t>
                </a:r>
                <a:endParaRPr kumimoji="1" lang="ja-JP" altLang="en-US" sz="600" dirty="0">
                  <a:solidFill>
                    <a:schemeClr val="bg1"/>
                  </a:solidFill>
                </a:endParaRPr>
              </a:p>
            </p:txBody>
          </p:sp>
          <p:sp>
            <p:nvSpPr>
              <p:cNvPr id="53" name="四角形: 角を丸くする 318">
                <a:extLst>
                  <a:ext uri="{FF2B5EF4-FFF2-40B4-BE49-F238E27FC236}">
                    <a16:creationId xmlns:a16="http://schemas.microsoft.com/office/drawing/2014/main" id="{3D44950F-367D-AA5E-7EDD-BFD81268BA63}"/>
                  </a:ext>
                </a:extLst>
              </p:cNvPr>
              <p:cNvSpPr/>
              <p:nvPr/>
            </p:nvSpPr>
            <p:spPr>
              <a:xfrm>
                <a:off x="8519389" y="2963368"/>
                <a:ext cx="2914935" cy="690772"/>
              </a:xfrm>
              <a:prstGeom prst="roundRect">
                <a:avLst>
                  <a:gd name="adj" fmla="val 803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142B9C88-D427-74F6-33CF-B260A333E847}"/>
                  </a:ext>
                </a:extLst>
              </p:cNvPr>
              <p:cNvSpPr txBox="1"/>
              <p:nvPr/>
            </p:nvSpPr>
            <p:spPr>
              <a:xfrm>
                <a:off x="8519389" y="2147604"/>
                <a:ext cx="491562" cy="107722"/>
              </a:xfrm>
              <a:prstGeom prst="rect">
                <a:avLst/>
              </a:prstGeom>
              <a:noFill/>
            </p:spPr>
            <p:txBody>
              <a:bodyPr wrap="square" lIns="0" tIns="0" rIns="0" bIns="0" rtlCol="0">
                <a:spAutoFit/>
              </a:bodyPr>
              <a:lstStyle/>
              <a:p>
                <a:r>
                  <a:rPr kumimoji="1" lang="en-US" altLang="ja-JP" sz="700" dirty="0">
                    <a:solidFill>
                      <a:schemeClr val="bg1"/>
                    </a:solidFill>
                  </a:rPr>
                  <a:t>action</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 </a:t>
                </a:r>
                <a:r>
                  <a:rPr lang="en-US" altLang="ja-JP" sz="700" dirty="0">
                    <a:solidFill>
                      <a:schemeClr val="bg1"/>
                    </a:solidFill>
                  </a:rPr>
                  <a:t>0</a:t>
                </a:r>
                <a:r>
                  <a:rPr kumimoji="1" lang="en-US" altLang="ja-JP" sz="700" dirty="0" smtClean="0">
                    <a:solidFill>
                      <a:schemeClr val="bg1"/>
                    </a:solidFill>
                  </a:rPr>
                  <a:t>..*</a:t>
                </a:r>
                <a:endParaRPr kumimoji="1" lang="ja-JP" altLang="en-US" sz="700" dirty="0">
                  <a:solidFill>
                    <a:schemeClr val="bg1"/>
                  </a:solidFill>
                </a:endParaRPr>
              </a:p>
            </p:txBody>
          </p:sp>
        </p:grpSp>
        <p:sp>
          <p:nvSpPr>
            <p:cNvPr id="40" name="テキスト ボックス 39">
              <a:extLst>
                <a:ext uri="{FF2B5EF4-FFF2-40B4-BE49-F238E27FC236}">
                  <a16:creationId xmlns:a16="http://schemas.microsoft.com/office/drawing/2014/main" id="{DC975BA3-559B-841D-6EB9-F016FEE84C8A}"/>
                </a:ext>
              </a:extLst>
            </p:cNvPr>
            <p:cNvSpPr txBox="1"/>
            <p:nvPr/>
          </p:nvSpPr>
          <p:spPr>
            <a:xfrm>
              <a:off x="8484529" y="1886829"/>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41" name="テキスト ボックス 40">
              <a:extLst>
                <a:ext uri="{FF2B5EF4-FFF2-40B4-BE49-F238E27FC236}">
                  <a16:creationId xmlns:a16="http://schemas.microsoft.com/office/drawing/2014/main" id="{E152465D-E57E-A1A7-9A9B-AF23F2E04BE9}"/>
                </a:ext>
              </a:extLst>
            </p:cNvPr>
            <p:cNvSpPr txBox="1"/>
            <p:nvPr/>
          </p:nvSpPr>
          <p:spPr>
            <a:xfrm>
              <a:off x="8503186" y="2070632"/>
              <a:ext cx="3068504" cy="323165"/>
            </a:xfrm>
            <a:prstGeom prst="rect">
              <a:avLst/>
            </a:prstGeom>
            <a:noFill/>
          </p:spPr>
          <p:txBody>
            <a:bodyPr wrap="square" lIns="0" tIns="0" rIns="0" bIns="0" rtlCol="0">
              <a:spAutoFit/>
            </a:bodyPr>
            <a:lstStyle/>
            <a:p>
              <a:r>
                <a:rPr lang="en-US" altLang="ja-JP" sz="700" dirty="0">
                  <a:solidFill>
                    <a:schemeClr val="bg1"/>
                  </a:solidFill>
                </a:rPr>
                <a:t>extension</a:t>
              </a:r>
              <a:r>
                <a:rPr lang="ja-JP" altLang="en-US" sz="700" dirty="0">
                  <a:solidFill>
                    <a:schemeClr val="bg1"/>
                  </a:solidFill>
                </a:rPr>
                <a:t> 病日、パスステップ回数目、パスステップ名称、入外区分 等</a:t>
              </a:r>
              <a:endParaRPr lang="en-US" altLang="ja-JP" sz="700" dirty="0">
                <a:solidFill>
                  <a:schemeClr val="bg1"/>
                </a:solidFill>
              </a:endParaRPr>
            </a:p>
            <a:p>
              <a:r>
                <a:rPr lang="en-US" altLang="ja-JP" sz="700" dirty="0">
                  <a:solidFill>
                    <a:schemeClr val="bg1"/>
                  </a:solidFill>
                </a:rPr>
                <a:t>title</a:t>
              </a:r>
              <a:r>
                <a:rPr lang="ja-JP" altLang="en-US" sz="700" dirty="0">
                  <a:solidFill>
                    <a:schemeClr val="bg1"/>
                  </a:solidFill>
                </a:rPr>
                <a:t> イベント名</a:t>
              </a:r>
              <a:endParaRPr lang="en-US" altLang="ja-JP" sz="700" dirty="0">
                <a:solidFill>
                  <a:schemeClr val="bg1"/>
                </a:solidFill>
              </a:endParaRPr>
            </a:p>
            <a:p>
              <a:r>
                <a:rPr lang="en-US" altLang="ja-JP" sz="700" dirty="0">
                  <a:solidFill>
                    <a:schemeClr val="bg1"/>
                  </a:solidFill>
                </a:rPr>
                <a:t>code</a:t>
              </a:r>
              <a:r>
                <a:rPr lang="ja-JP" altLang="en-US" sz="700" dirty="0">
                  <a:solidFill>
                    <a:schemeClr val="bg1"/>
                  </a:solidFill>
                </a:rPr>
                <a:t> </a:t>
              </a:r>
              <a:r>
                <a:rPr kumimoji="1" lang="ja-JP" altLang="en-US" sz="700" dirty="0">
                  <a:solidFill>
                    <a:schemeClr val="bg1"/>
                  </a:solidFill>
                </a:rPr>
                <a:t>イベントコード・名称</a:t>
              </a:r>
              <a:endParaRPr kumimoji="1" lang="ja-JP" altLang="en-US" sz="600" dirty="0">
                <a:solidFill>
                  <a:schemeClr val="bg1"/>
                </a:solidFill>
              </a:endParaRPr>
            </a:p>
          </p:txBody>
        </p:sp>
        <p:sp>
          <p:nvSpPr>
            <p:cNvPr id="42" name="テキスト ボックス 41">
              <a:extLst>
                <a:ext uri="{FF2B5EF4-FFF2-40B4-BE49-F238E27FC236}">
                  <a16:creationId xmlns:a16="http://schemas.microsoft.com/office/drawing/2014/main" id="{DC975BA3-559B-841D-6EB9-F016FEE84C8A}"/>
                </a:ext>
              </a:extLst>
            </p:cNvPr>
            <p:cNvSpPr txBox="1"/>
            <p:nvPr/>
          </p:nvSpPr>
          <p:spPr>
            <a:xfrm>
              <a:off x="4877011" y="3713036"/>
              <a:ext cx="1228180" cy="123111"/>
            </a:xfrm>
            <a:prstGeom prst="rect">
              <a:avLst/>
            </a:prstGeom>
            <a:noFill/>
          </p:spPr>
          <p:txBody>
            <a:bodyPr wrap="square" lIns="0" tIns="0" rIns="0" bIns="0" rtlCol="0">
              <a:spAutoFit/>
            </a:bodyPr>
            <a:lstStyle/>
            <a:p>
              <a:r>
                <a:rPr lang="en-US" altLang="ja-JP" sz="800" dirty="0">
                  <a:solidFill>
                    <a:schemeClr val="bg1"/>
                  </a:solidFill>
                </a:rPr>
                <a:t>(</a:t>
              </a:r>
              <a:r>
                <a:rPr lang="ja-JP" altLang="en-US" sz="800" dirty="0">
                  <a:solidFill>
                    <a:schemeClr val="bg1"/>
                  </a:solidFill>
                </a:rPr>
                <a:t>病日・イベント情報</a:t>
              </a:r>
              <a:r>
                <a:rPr lang="en-US" altLang="ja-JP" sz="800" dirty="0">
                  <a:solidFill>
                    <a:schemeClr val="bg1"/>
                  </a:solidFill>
                </a:rPr>
                <a:t>)</a:t>
              </a:r>
              <a:endParaRPr kumimoji="1" lang="ja-JP" altLang="en-US" sz="700" dirty="0">
                <a:solidFill>
                  <a:schemeClr val="bg1"/>
                </a:solidFill>
              </a:endParaRPr>
            </a:p>
          </p:txBody>
        </p:sp>
        <p:sp>
          <p:nvSpPr>
            <p:cNvPr id="43" name="テキスト ボックス 42">
              <a:extLst>
                <a:ext uri="{FF2B5EF4-FFF2-40B4-BE49-F238E27FC236}">
                  <a16:creationId xmlns:a16="http://schemas.microsoft.com/office/drawing/2014/main" id="{6E411A0A-728A-8966-1902-BB3DDA2F0276}"/>
                </a:ext>
              </a:extLst>
            </p:cNvPr>
            <p:cNvSpPr txBox="1"/>
            <p:nvPr/>
          </p:nvSpPr>
          <p:spPr>
            <a:xfrm>
              <a:off x="4890960" y="3847317"/>
              <a:ext cx="1481205" cy="174639"/>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800" dirty="0" err="1" smtClean="0">
                  <a:solidFill>
                    <a:schemeClr val="tx1"/>
                  </a:solidFill>
                </a:rPr>
                <a:t>definitionCanonical</a:t>
              </a:r>
              <a:r>
                <a:rPr lang="en-US" altLang="ja-JP" sz="800" dirty="0" smtClean="0">
                  <a:solidFill>
                    <a:schemeClr val="tx1"/>
                  </a:solidFill>
                </a:rPr>
                <a:t> </a:t>
              </a:r>
              <a:r>
                <a:rPr kumimoji="1" lang="en-US" altLang="ja-JP" sz="800" dirty="0">
                  <a:solidFill>
                    <a:schemeClr val="tx1"/>
                  </a:solidFill>
                </a:rPr>
                <a:t>: </a:t>
              </a:r>
              <a:r>
                <a:rPr lang="en-US" altLang="ja-JP" sz="800" dirty="0">
                  <a:solidFill>
                    <a:schemeClr val="tx1"/>
                  </a:solidFill>
                </a:rPr>
                <a:t>0</a:t>
              </a:r>
              <a:r>
                <a:rPr kumimoji="1" lang="en-US" altLang="ja-JP" sz="800" dirty="0" smtClean="0">
                  <a:solidFill>
                    <a:schemeClr val="tx1"/>
                  </a:solidFill>
                </a:rPr>
                <a:t>..1</a:t>
              </a:r>
              <a:endParaRPr kumimoji="1" lang="ja-JP" altLang="en-US" sz="800" dirty="0">
                <a:solidFill>
                  <a:schemeClr val="tx1"/>
                </a:solidFill>
              </a:endParaRPr>
            </a:p>
          </p:txBody>
        </p:sp>
        <p:cxnSp>
          <p:nvCxnSpPr>
            <p:cNvPr id="44" name="コネクタ: カギ線 49">
              <a:extLst>
                <a:ext uri="{FF2B5EF4-FFF2-40B4-BE49-F238E27FC236}">
                  <a16:creationId xmlns:a16="http://schemas.microsoft.com/office/drawing/2014/main" id="{8934AA53-DD8F-67C4-F09F-5E9581C14AD3}"/>
                </a:ext>
              </a:extLst>
            </p:cNvPr>
            <p:cNvCxnSpPr>
              <a:cxnSpLocks/>
              <a:stCxn id="33" idx="1"/>
              <a:endCxn id="43" idx="2"/>
            </p:cNvCxnSpPr>
            <p:nvPr/>
          </p:nvCxnSpPr>
          <p:spPr>
            <a:xfrm rot="10800000">
              <a:off x="5631564" y="4021956"/>
              <a:ext cx="2777829" cy="1013728"/>
            </a:xfrm>
            <a:prstGeom prst="bentConnector2">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コネクタ: カギ線 49">
              <a:extLst>
                <a:ext uri="{FF2B5EF4-FFF2-40B4-BE49-F238E27FC236}">
                  <a16:creationId xmlns:a16="http://schemas.microsoft.com/office/drawing/2014/main" id="{8934AA53-DD8F-67C4-F09F-5E9581C14AD3}"/>
                </a:ext>
              </a:extLst>
            </p:cNvPr>
            <p:cNvCxnSpPr>
              <a:cxnSpLocks/>
              <a:stCxn id="38" idx="1"/>
              <a:endCxn id="43" idx="3"/>
            </p:cNvCxnSpPr>
            <p:nvPr/>
          </p:nvCxnSpPr>
          <p:spPr>
            <a:xfrm rot="10800000" flipV="1">
              <a:off x="6372165" y="3091369"/>
              <a:ext cx="2034170" cy="843268"/>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85CDC4A6-B9AA-B410-1678-886185E65DC0}"/>
                </a:ext>
              </a:extLst>
            </p:cNvPr>
            <p:cNvSpPr txBox="1"/>
            <p:nvPr/>
          </p:nvSpPr>
          <p:spPr>
            <a:xfrm>
              <a:off x="8339264" y="1333336"/>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grpSp>
      <p:sp>
        <p:nvSpPr>
          <p:cNvPr id="5" name="テキスト ボックス 4">
            <a:extLst>
              <a:ext uri="{FF2B5EF4-FFF2-40B4-BE49-F238E27FC236}">
                <a16:creationId xmlns:a16="http://schemas.microsoft.com/office/drawing/2014/main" id="{9C44F72A-0C28-8E63-AB9A-B5508DEC0575}"/>
              </a:ext>
            </a:extLst>
          </p:cNvPr>
          <p:cNvSpPr txBox="1"/>
          <p:nvPr/>
        </p:nvSpPr>
        <p:spPr>
          <a:xfrm>
            <a:off x="4797008" y="2765465"/>
            <a:ext cx="2032931" cy="144000"/>
          </a:xfrm>
          <a:prstGeom prst="rect">
            <a:avLst/>
          </a:prstGeom>
          <a:solidFill>
            <a:schemeClr val="accent6">
              <a:lumMod val="75000"/>
            </a:schemeClr>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r>
              <a:rPr lang="en-US" altLang="ja-JP" sz="800" dirty="0" err="1" smtClean="0"/>
              <a:t>identifier.asserter</a:t>
            </a:r>
            <a:r>
              <a:rPr lang="ja-JP" altLang="en-US" sz="800" dirty="0" smtClean="0"/>
              <a:t> </a:t>
            </a:r>
            <a:r>
              <a:rPr lang="ja-JP" altLang="en-US" sz="800" dirty="0"/>
              <a:t>医療機関コード・名称</a:t>
            </a:r>
            <a:endParaRPr lang="en-US" altLang="ja-JP" sz="800" dirty="0"/>
          </a:p>
        </p:txBody>
      </p:sp>
      <p:sp>
        <p:nvSpPr>
          <p:cNvPr id="28" name="テキスト ボックス 27">
            <a:extLst>
              <a:ext uri="{FF2B5EF4-FFF2-40B4-BE49-F238E27FC236}">
                <a16:creationId xmlns:a16="http://schemas.microsoft.com/office/drawing/2014/main" id="{9C44F72A-0C28-8E63-AB9A-B5508DEC0575}"/>
              </a:ext>
            </a:extLst>
          </p:cNvPr>
          <p:cNvSpPr txBox="1"/>
          <p:nvPr/>
        </p:nvSpPr>
        <p:spPr>
          <a:xfrm>
            <a:off x="7045196" y="2687934"/>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Organization</a:t>
            </a:r>
            <a:br>
              <a:rPr lang="en-US" altLang="ja-JP" sz="1000" dirty="0"/>
            </a:br>
            <a:r>
              <a:rPr lang="en-US" altLang="ja-JP" sz="1000" dirty="0"/>
              <a:t>(</a:t>
            </a:r>
            <a:r>
              <a:rPr lang="ja-JP" altLang="en-US" sz="1000" dirty="0"/>
              <a:t>医療機関</a:t>
            </a:r>
            <a:r>
              <a:rPr lang="en-US" altLang="ja-JP" sz="1000" dirty="0"/>
              <a:t>)</a:t>
            </a:r>
            <a:endParaRPr lang="ja-JP" altLang="en-US" sz="1000" dirty="0"/>
          </a:p>
        </p:txBody>
      </p:sp>
      <p:cxnSp>
        <p:nvCxnSpPr>
          <p:cNvPr id="29" name="直線コネクタ 28">
            <a:extLst>
              <a:ext uri="{FF2B5EF4-FFF2-40B4-BE49-F238E27FC236}">
                <a16:creationId xmlns:a16="http://schemas.microsoft.com/office/drawing/2014/main" id="{0447AF95-0318-3072-CFBC-1D87914C58C8}"/>
              </a:ext>
            </a:extLst>
          </p:cNvPr>
          <p:cNvCxnSpPr>
            <a:cxnSpLocks/>
            <a:stCxn id="5" idx="3"/>
            <a:endCxn id="28" idx="1"/>
          </p:cNvCxnSpPr>
          <p:nvPr/>
        </p:nvCxnSpPr>
        <p:spPr>
          <a:xfrm>
            <a:off x="6829939" y="2837465"/>
            <a:ext cx="215257" cy="435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9C44F72A-0C28-8E63-AB9A-B5508DEC0575}"/>
              </a:ext>
            </a:extLst>
          </p:cNvPr>
          <p:cNvSpPr txBox="1"/>
          <p:nvPr/>
        </p:nvSpPr>
        <p:spPr>
          <a:xfrm>
            <a:off x="4797008" y="2944376"/>
            <a:ext cx="2032931" cy="144000"/>
          </a:xfrm>
          <a:prstGeom prst="rect">
            <a:avLst/>
          </a:prstGeom>
          <a:solidFill>
            <a:schemeClr val="accent6">
              <a:lumMod val="75000"/>
            </a:schemeClr>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r>
              <a:rPr lang="en-US" altLang="ja-JP" sz="800" dirty="0"/>
              <a:t>extension</a:t>
            </a:r>
            <a:r>
              <a:rPr lang="ja-JP" altLang="en-US" sz="800" dirty="0"/>
              <a:t> 診療科コード・名称 </a:t>
            </a:r>
          </a:p>
        </p:txBody>
      </p:sp>
      <p:sp>
        <p:nvSpPr>
          <p:cNvPr id="55" name="テキスト ボックス 54">
            <a:extLst>
              <a:ext uri="{FF2B5EF4-FFF2-40B4-BE49-F238E27FC236}">
                <a16:creationId xmlns:a16="http://schemas.microsoft.com/office/drawing/2014/main" id="{C91918E0-E0CD-E134-2C68-6C7549DF9F8E}"/>
              </a:ext>
            </a:extLst>
          </p:cNvPr>
          <p:cNvSpPr txBox="1"/>
          <p:nvPr/>
        </p:nvSpPr>
        <p:spPr>
          <a:xfrm>
            <a:off x="4690804" y="1526044"/>
            <a:ext cx="3240000" cy="668294"/>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PlanDefinition</a:t>
            </a:r>
            <a:br>
              <a:rPr lang="en-US" altLang="ja-JP" sz="1000" dirty="0"/>
            </a:br>
            <a:r>
              <a:rPr lang="en-US" altLang="ja-JP" sz="1000" dirty="0"/>
              <a:t>(</a:t>
            </a:r>
            <a:r>
              <a:rPr lang="ja-JP" altLang="en-US" sz="1000" dirty="0"/>
              <a:t>ひな型パス定義</a:t>
            </a:r>
            <a:r>
              <a:rPr lang="en-US" altLang="ja-JP" sz="1000" dirty="0"/>
              <a:t>)</a:t>
            </a:r>
            <a:endParaRPr lang="ja-JP" altLang="en-US" sz="1000" dirty="0"/>
          </a:p>
        </p:txBody>
      </p:sp>
      <p:sp>
        <p:nvSpPr>
          <p:cNvPr id="56" name="テキスト ボックス 55">
            <a:extLst>
              <a:ext uri="{FF2B5EF4-FFF2-40B4-BE49-F238E27FC236}">
                <a16:creationId xmlns:a16="http://schemas.microsoft.com/office/drawing/2014/main" id="{9E52B731-C19A-D129-74F6-06EAA720DE30}"/>
              </a:ext>
            </a:extLst>
          </p:cNvPr>
          <p:cNvSpPr txBox="1"/>
          <p:nvPr/>
        </p:nvSpPr>
        <p:spPr>
          <a:xfrm>
            <a:off x="4626043" y="1371764"/>
            <a:ext cx="405481" cy="184666"/>
          </a:xfrm>
          <a:prstGeom prst="rect">
            <a:avLst/>
          </a:prstGeom>
          <a:noFill/>
        </p:spPr>
        <p:txBody>
          <a:bodyPr wrap="square" rtlCol="0">
            <a:spAutoFit/>
          </a:bodyPr>
          <a:lstStyle/>
          <a:p>
            <a:r>
              <a:rPr lang="en-US" altLang="ja-JP" sz="600" dirty="0"/>
              <a:t>0</a:t>
            </a:r>
            <a:r>
              <a:rPr kumimoji="1" lang="en-US" altLang="ja-JP" sz="600" dirty="0" smtClean="0"/>
              <a:t>..</a:t>
            </a:r>
            <a:r>
              <a:rPr kumimoji="1" lang="en-US" altLang="ja-JP" sz="600" dirty="0"/>
              <a:t>1</a:t>
            </a:r>
            <a:endParaRPr kumimoji="1" lang="ja-JP" altLang="en-US" sz="600" dirty="0"/>
          </a:p>
        </p:txBody>
      </p:sp>
    </p:spTree>
    <p:extLst>
      <p:ext uri="{BB962C8B-B14F-4D97-AF65-F5344CB8AC3E}">
        <p14:creationId xmlns:p14="http://schemas.microsoft.com/office/powerpoint/2010/main" val="1667489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正方形/長方形 106">
            <a:extLst>
              <a:ext uri="{FF2B5EF4-FFF2-40B4-BE49-F238E27FC236}">
                <a16:creationId xmlns:a16="http://schemas.microsoft.com/office/drawing/2014/main" id="{F7EFFFEF-5A2C-896C-A11F-7B7E9FE4A3F1}"/>
              </a:ext>
            </a:extLst>
          </p:cNvPr>
          <p:cNvSpPr/>
          <p:nvPr/>
        </p:nvSpPr>
        <p:spPr>
          <a:xfrm>
            <a:off x="4429063" y="694307"/>
            <a:ext cx="7552002" cy="5548466"/>
          </a:xfrm>
          <a:prstGeom prst="rect">
            <a:avLst/>
          </a:prstGeom>
          <a:solidFill>
            <a:schemeClr val="accent5">
              <a:lumMod val="20000"/>
              <a:lumOff val="80000"/>
            </a:schemeClr>
          </a:solidFill>
          <a:ln>
            <a:solidFill>
              <a:schemeClr val="accent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C5B0FB0B-C678-9FE4-5F16-35B7DF604F76}"/>
              </a:ext>
            </a:extLst>
          </p:cNvPr>
          <p:cNvCxnSpPr>
            <a:cxnSpLocks/>
            <a:stCxn id="31" idx="3"/>
          </p:cNvCxnSpPr>
          <p:nvPr/>
        </p:nvCxnSpPr>
        <p:spPr>
          <a:xfrm>
            <a:off x="6906725" y="1679323"/>
            <a:ext cx="389942"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EA0F59A-D54A-3285-5C75-666B2C137800}"/>
              </a:ext>
            </a:extLst>
          </p:cNvPr>
          <p:cNvSpPr txBox="1"/>
          <p:nvPr/>
        </p:nvSpPr>
        <p:spPr>
          <a:xfrm>
            <a:off x="5829819" y="870568"/>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kumimoji="1" lang="en-US" altLang="ja-JP" sz="1000" dirty="0"/>
              <a:t>Patient</a:t>
            </a:r>
            <a:br>
              <a:rPr kumimoji="1" lang="en-US" altLang="ja-JP" sz="1000" dirty="0"/>
            </a:br>
            <a:r>
              <a:rPr kumimoji="1" lang="en-US" altLang="ja-JP" sz="1000" dirty="0"/>
              <a:t>(</a:t>
            </a:r>
            <a:r>
              <a:rPr kumimoji="1" lang="ja-JP" altLang="en-US" sz="1000" dirty="0"/>
              <a:t>患者情報</a:t>
            </a:r>
            <a:r>
              <a:rPr kumimoji="1" lang="en-US" altLang="ja-JP" sz="1000" dirty="0"/>
              <a:t>)</a:t>
            </a:r>
            <a:endParaRPr kumimoji="1" lang="ja-JP" altLang="en-US" sz="1000" dirty="0"/>
          </a:p>
        </p:txBody>
      </p:sp>
      <p:sp>
        <p:nvSpPr>
          <p:cNvPr id="5" name="テキスト ボックス 4">
            <a:extLst>
              <a:ext uri="{FF2B5EF4-FFF2-40B4-BE49-F238E27FC236}">
                <a16:creationId xmlns:a16="http://schemas.microsoft.com/office/drawing/2014/main" id="{9C44F72A-0C28-8E63-AB9A-B5508DEC0575}"/>
              </a:ext>
            </a:extLst>
          </p:cNvPr>
          <p:cNvSpPr txBox="1"/>
          <p:nvPr/>
        </p:nvSpPr>
        <p:spPr>
          <a:xfrm>
            <a:off x="4696343" y="874887"/>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Organization</a:t>
            </a:r>
            <a:br>
              <a:rPr lang="en-US" altLang="ja-JP" sz="1000" dirty="0"/>
            </a:br>
            <a:r>
              <a:rPr lang="en-US" altLang="ja-JP" sz="1000" dirty="0"/>
              <a:t>(</a:t>
            </a:r>
            <a:r>
              <a:rPr lang="ja-JP" altLang="en-US" sz="1000" dirty="0"/>
              <a:t>医療機関</a:t>
            </a:r>
            <a:r>
              <a:rPr lang="en-US" altLang="ja-JP" sz="1000" dirty="0"/>
              <a:t>)</a:t>
            </a:r>
            <a:endParaRPr lang="ja-JP" altLang="en-US" sz="1000" dirty="0"/>
          </a:p>
        </p:txBody>
      </p:sp>
      <p:sp>
        <p:nvSpPr>
          <p:cNvPr id="6" name="テキスト ボックス 5">
            <a:extLst>
              <a:ext uri="{FF2B5EF4-FFF2-40B4-BE49-F238E27FC236}">
                <a16:creationId xmlns:a16="http://schemas.microsoft.com/office/drawing/2014/main" id="{C91918E0-E0CD-E134-2C68-6C7549DF9F8E}"/>
              </a:ext>
            </a:extLst>
          </p:cNvPr>
          <p:cNvSpPr txBox="1"/>
          <p:nvPr/>
        </p:nvSpPr>
        <p:spPr>
          <a:xfrm>
            <a:off x="4696343" y="1515751"/>
            <a:ext cx="2124076" cy="599003"/>
          </a:xfrm>
          <a:prstGeom prst="rect">
            <a:avLst/>
          </a:prstGeom>
          <a:solidFill>
            <a:schemeClr val="accent2">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r>
              <a:rPr lang="en-US" altLang="ja-JP" sz="1000" dirty="0"/>
              <a:t/>
            </a:r>
            <a:br>
              <a:rPr lang="en-US" altLang="ja-JP" sz="1000" dirty="0"/>
            </a:br>
            <a:r>
              <a:rPr lang="en-US" altLang="ja-JP" sz="1000" dirty="0"/>
              <a:t>(</a:t>
            </a:r>
            <a:r>
              <a:rPr lang="ja-JP" altLang="en-US" sz="1000" dirty="0"/>
              <a:t>パス適用</a:t>
            </a:r>
            <a:r>
              <a:rPr lang="en-US" altLang="ja-JP" sz="1000" dirty="0"/>
              <a:t>)</a:t>
            </a:r>
            <a:endParaRPr lang="ja-JP" altLang="en-US" sz="1000" dirty="0"/>
          </a:p>
        </p:txBody>
      </p:sp>
      <p:sp>
        <p:nvSpPr>
          <p:cNvPr id="7" name="テキスト ボックス 6">
            <a:extLst>
              <a:ext uri="{FF2B5EF4-FFF2-40B4-BE49-F238E27FC236}">
                <a16:creationId xmlns:a16="http://schemas.microsoft.com/office/drawing/2014/main" id="{54F35612-40E8-C50F-76C0-04C2B89FD69F}"/>
              </a:ext>
            </a:extLst>
          </p:cNvPr>
          <p:cNvSpPr txBox="1"/>
          <p:nvPr/>
        </p:nvSpPr>
        <p:spPr>
          <a:xfrm>
            <a:off x="7314526" y="1594971"/>
            <a:ext cx="2046836" cy="554170"/>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solidFill>
                  <a:schemeClr val="bg1"/>
                </a:solidFill>
              </a:rPr>
              <a:t>Goal</a:t>
            </a:r>
            <a:br>
              <a:rPr lang="en-US" altLang="ja-JP" sz="1000" dirty="0">
                <a:solidFill>
                  <a:schemeClr val="bg1"/>
                </a:solidFill>
              </a:rPr>
            </a:br>
            <a:r>
              <a:rPr lang="en-US" altLang="ja-JP" sz="1000" dirty="0">
                <a:solidFill>
                  <a:schemeClr val="bg1"/>
                </a:solidFill>
              </a:rPr>
              <a:t>(</a:t>
            </a:r>
            <a:r>
              <a:rPr lang="ja-JP" altLang="en-US" sz="1000" dirty="0">
                <a:solidFill>
                  <a:schemeClr val="bg1"/>
                </a:solidFill>
              </a:rPr>
              <a:t>パス適用</a:t>
            </a:r>
            <a:r>
              <a:rPr lang="en-US" altLang="ja-JP" sz="1000" dirty="0">
                <a:solidFill>
                  <a:schemeClr val="bg1"/>
                </a:solidFill>
              </a:rPr>
              <a:t>)</a:t>
            </a:r>
            <a:endParaRPr lang="ja-JP" altLang="en-US" sz="1000" dirty="0">
              <a:solidFill>
                <a:schemeClr val="bg1"/>
              </a:solidFill>
            </a:endParaRPr>
          </a:p>
        </p:txBody>
      </p:sp>
      <p:sp>
        <p:nvSpPr>
          <p:cNvPr id="8" name="テキスト ボックス 7">
            <a:extLst>
              <a:ext uri="{FF2B5EF4-FFF2-40B4-BE49-F238E27FC236}">
                <a16:creationId xmlns:a16="http://schemas.microsoft.com/office/drawing/2014/main" id="{AFBBE6F2-0363-C984-7313-8311809E3E86}"/>
              </a:ext>
            </a:extLst>
          </p:cNvPr>
          <p:cNvSpPr txBox="1"/>
          <p:nvPr/>
        </p:nvSpPr>
        <p:spPr>
          <a:xfrm>
            <a:off x="5829820" y="2258714"/>
            <a:ext cx="1790700" cy="5844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r>
              <a:rPr lang="en-US" altLang="ja-JP" sz="1000" dirty="0"/>
              <a:t/>
            </a:r>
            <a:br>
              <a:rPr lang="en-US" altLang="ja-JP" sz="1000" dirty="0"/>
            </a:br>
            <a:r>
              <a:rPr lang="en-US" altLang="ja-JP" sz="1000" dirty="0"/>
              <a:t>(</a:t>
            </a:r>
            <a:r>
              <a:rPr lang="ja-JP" altLang="en-US" sz="1000" dirty="0"/>
              <a:t>病日・イベント</a:t>
            </a:r>
            <a:r>
              <a:rPr lang="en-US" altLang="ja-JP" sz="1000" dirty="0"/>
              <a:t>)</a:t>
            </a:r>
            <a:endParaRPr lang="ja-JP" altLang="en-US" sz="1000" dirty="0"/>
          </a:p>
        </p:txBody>
      </p:sp>
      <p:sp>
        <p:nvSpPr>
          <p:cNvPr id="9" name="テキスト ボックス 8">
            <a:extLst>
              <a:ext uri="{FF2B5EF4-FFF2-40B4-BE49-F238E27FC236}">
                <a16:creationId xmlns:a16="http://schemas.microsoft.com/office/drawing/2014/main" id="{AA66169D-81BB-6D3B-4A1F-C9416EC32E60}"/>
              </a:ext>
            </a:extLst>
          </p:cNvPr>
          <p:cNvSpPr txBox="1"/>
          <p:nvPr/>
        </p:nvSpPr>
        <p:spPr>
          <a:xfrm>
            <a:off x="6764141" y="3018123"/>
            <a:ext cx="1789228" cy="73019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r>
              <a:rPr lang="en-US" altLang="ja-JP" sz="1000" dirty="0"/>
              <a:t/>
            </a:r>
            <a:br>
              <a:rPr lang="en-US" altLang="ja-JP" sz="1000" dirty="0"/>
            </a:br>
            <a:r>
              <a:rPr lang="en-US" altLang="ja-JP" sz="1000" dirty="0"/>
              <a:t>(</a:t>
            </a:r>
            <a:r>
              <a:rPr lang="ja-JP" altLang="en-US" sz="1000" dirty="0"/>
              <a:t>アウトカム</a:t>
            </a:r>
            <a:r>
              <a:rPr lang="en-US" altLang="ja-JP" sz="1000" dirty="0"/>
              <a:t>)</a:t>
            </a:r>
            <a:endParaRPr lang="ja-JP" altLang="en-US" sz="1000" dirty="0"/>
          </a:p>
        </p:txBody>
      </p:sp>
      <p:sp>
        <p:nvSpPr>
          <p:cNvPr id="10" name="テキスト ボックス 9">
            <a:extLst>
              <a:ext uri="{FF2B5EF4-FFF2-40B4-BE49-F238E27FC236}">
                <a16:creationId xmlns:a16="http://schemas.microsoft.com/office/drawing/2014/main" id="{6BA674B1-1B3A-C378-CDED-26FABE003502}"/>
              </a:ext>
            </a:extLst>
          </p:cNvPr>
          <p:cNvSpPr txBox="1"/>
          <p:nvPr/>
        </p:nvSpPr>
        <p:spPr>
          <a:xfrm>
            <a:off x="7496044" y="3902395"/>
            <a:ext cx="1789227" cy="85292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CarePlan</a:t>
            </a:r>
            <a:r>
              <a:rPr lang="en-US" altLang="ja-JP" sz="1000" dirty="0"/>
              <a:t/>
            </a:r>
            <a:br>
              <a:rPr lang="en-US" altLang="ja-JP" sz="1000" dirty="0"/>
            </a:br>
            <a:r>
              <a:rPr lang="en-US" altLang="ja-JP" sz="1000" dirty="0"/>
              <a:t>(</a:t>
            </a:r>
            <a:r>
              <a:rPr lang="ja-JP" altLang="en-US" sz="1000" dirty="0"/>
              <a:t>アセスメント</a:t>
            </a:r>
            <a:r>
              <a:rPr lang="en-US" altLang="ja-JP" sz="1000" dirty="0"/>
              <a:t>)</a:t>
            </a:r>
            <a:endParaRPr lang="ja-JP" altLang="en-US" sz="1000" dirty="0"/>
          </a:p>
        </p:txBody>
      </p:sp>
      <p:sp>
        <p:nvSpPr>
          <p:cNvPr id="11" name="テキスト ボックス 10">
            <a:extLst>
              <a:ext uri="{FF2B5EF4-FFF2-40B4-BE49-F238E27FC236}">
                <a16:creationId xmlns:a16="http://schemas.microsoft.com/office/drawing/2014/main" id="{674E2887-6D25-D3C3-A1DB-F32886E6CA07}"/>
              </a:ext>
            </a:extLst>
          </p:cNvPr>
          <p:cNvSpPr txBox="1"/>
          <p:nvPr/>
        </p:nvSpPr>
        <p:spPr>
          <a:xfrm>
            <a:off x="6979965" y="870683"/>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Encounter</a:t>
            </a:r>
            <a:br>
              <a:rPr lang="en-US" altLang="ja-JP" sz="1000" dirty="0"/>
            </a:br>
            <a:r>
              <a:rPr lang="en-US" altLang="ja-JP" sz="1000" dirty="0"/>
              <a:t>(</a:t>
            </a:r>
            <a:r>
              <a:rPr lang="ja-JP" altLang="en-US" sz="1000" dirty="0"/>
              <a:t>入院情報</a:t>
            </a:r>
            <a:r>
              <a:rPr lang="en-US" altLang="ja-JP" sz="1000" dirty="0"/>
              <a:t>)</a:t>
            </a:r>
            <a:endParaRPr lang="ja-JP" altLang="en-US" sz="1000" dirty="0"/>
          </a:p>
        </p:txBody>
      </p:sp>
      <p:sp>
        <p:nvSpPr>
          <p:cNvPr id="12" name="テキスト ボックス 11">
            <a:extLst>
              <a:ext uri="{FF2B5EF4-FFF2-40B4-BE49-F238E27FC236}">
                <a16:creationId xmlns:a16="http://schemas.microsoft.com/office/drawing/2014/main" id="{C789B9A7-F30D-89DC-561B-04A5C757E27B}"/>
              </a:ext>
            </a:extLst>
          </p:cNvPr>
          <p:cNvSpPr txBox="1"/>
          <p:nvPr/>
        </p:nvSpPr>
        <p:spPr>
          <a:xfrm>
            <a:off x="8134269" y="869946"/>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Condition</a:t>
            </a:r>
            <a:br>
              <a:rPr lang="en-US" altLang="ja-JP" sz="1000" dirty="0"/>
            </a:br>
            <a:r>
              <a:rPr lang="en-US" altLang="ja-JP" sz="1000" dirty="0"/>
              <a:t>(</a:t>
            </a:r>
            <a:r>
              <a:rPr lang="ja-JP" altLang="en-US" sz="1000" dirty="0"/>
              <a:t>病名</a:t>
            </a:r>
            <a:r>
              <a:rPr lang="en-US" altLang="ja-JP" sz="1000" dirty="0"/>
              <a:t>)</a:t>
            </a:r>
            <a:endParaRPr lang="ja-JP" altLang="en-US" sz="1000" dirty="0"/>
          </a:p>
        </p:txBody>
      </p:sp>
      <p:sp>
        <p:nvSpPr>
          <p:cNvPr id="13" name="テキスト ボックス 12">
            <a:extLst>
              <a:ext uri="{FF2B5EF4-FFF2-40B4-BE49-F238E27FC236}">
                <a16:creationId xmlns:a16="http://schemas.microsoft.com/office/drawing/2014/main" id="{5A02BC36-95EA-0825-1002-1F9816A8325F}"/>
              </a:ext>
            </a:extLst>
          </p:cNvPr>
          <p:cNvSpPr txBox="1"/>
          <p:nvPr/>
        </p:nvSpPr>
        <p:spPr>
          <a:xfrm>
            <a:off x="9263588" y="870568"/>
            <a:ext cx="1057275" cy="307777"/>
          </a:xfrm>
          <a:prstGeom prst="rect">
            <a:avLst/>
          </a:prstGeom>
          <a:solidFill>
            <a:schemeClr val="accent6">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Procedure</a:t>
            </a:r>
            <a:br>
              <a:rPr lang="en-US" altLang="ja-JP" sz="1000" dirty="0"/>
            </a:br>
            <a:r>
              <a:rPr lang="en-US" altLang="ja-JP" sz="1000" dirty="0"/>
              <a:t>(</a:t>
            </a:r>
            <a:r>
              <a:rPr lang="ja-JP" altLang="en-US" sz="1000" dirty="0"/>
              <a:t>主要イベント</a:t>
            </a:r>
            <a:r>
              <a:rPr lang="en-US" altLang="ja-JP" sz="1000" dirty="0"/>
              <a:t>)</a:t>
            </a:r>
            <a:endParaRPr lang="ja-JP" altLang="en-US" sz="1000" dirty="0"/>
          </a:p>
        </p:txBody>
      </p:sp>
      <p:sp>
        <p:nvSpPr>
          <p:cNvPr id="16" name="テキスト ボックス 15">
            <a:extLst>
              <a:ext uri="{FF2B5EF4-FFF2-40B4-BE49-F238E27FC236}">
                <a16:creationId xmlns:a16="http://schemas.microsoft.com/office/drawing/2014/main" id="{54B50E83-4655-CABE-2C99-EDF54E97ECA0}"/>
              </a:ext>
            </a:extLst>
          </p:cNvPr>
          <p:cNvSpPr txBox="1"/>
          <p:nvPr/>
        </p:nvSpPr>
        <p:spPr>
          <a:xfrm>
            <a:off x="9556289" y="4103259"/>
            <a:ext cx="1993915" cy="1741511"/>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Goal</a:t>
            </a:r>
            <a:br>
              <a:rPr lang="en-US" altLang="ja-JP" sz="1000" dirty="0"/>
            </a:br>
            <a:r>
              <a:rPr lang="en-US" altLang="ja-JP" sz="1000" dirty="0"/>
              <a:t>(</a:t>
            </a:r>
            <a:r>
              <a:rPr lang="ja-JP" altLang="en-US" sz="1000" dirty="0"/>
              <a:t>アセスメント評価</a:t>
            </a:r>
            <a:r>
              <a:rPr lang="en-US" altLang="ja-JP" sz="1000" dirty="0"/>
              <a:t>)</a:t>
            </a:r>
            <a:endParaRPr lang="ja-JP" altLang="en-US" sz="1000" dirty="0"/>
          </a:p>
        </p:txBody>
      </p:sp>
      <p:sp>
        <p:nvSpPr>
          <p:cNvPr id="17" name="テキスト ボックス 16">
            <a:extLst>
              <a:ext uri="{FF2B5EF4-FFF2-40B4-BE49-F238E27FC236}">
                <a16:creationId xmlns:a16="http://schemas.microsoft.com/office/drawing/2014/main" id="{66D32F25-1E82-7EC0-7109-B1E1AA02960D}"/>
              </a:ext>
            </a:extLst>
          </p:cNvPr>
          <p:cNvSpPr txBox="1"/>
          <p:nvPr/>
        </p:nvSpPr>
        <p:spPr>
          <a:xfrm>
            <a:off x="7490699" y="4898033"/>
            <a:ext cx="1794572" cy="307777"/>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Procedure</a:t>
            </a:r>
            <a:br>
              <a:rPr lang="en-US" altLang="ja-JP" sz="1000" dirty="0"/>
            </a:br>
            <a:r>
              <a:rPr lang="en-US" altLang="ja-JP" sz="1000" dirty="0"/>
              <a:t>(</a:t>
            </a:r>
            <a:r>
              <a:rPr lang="ja-JP" altLang="en-US" sz="1000" dirty="0"/>
              <a:t>タスク</a:t>
            </a:r>
            <a:r>
              <a:rPr lang="en-US" altLang="ja-JP" sz="1000" dirty="0"/>
              <a:t>)</a:t>
            </a:r>
            <a:endParaRPr lang="ja-JP" altLang="en-US" sz="1000" dirty="0"/>
          </a:p>
        </p:txBody>
      </p:sp>
      <p:sp>
        <p:nvSpPr>
          <p:cNvPr id="18" name="テキスト ボックス 17">
            <a:extLst>
              <a:ext uri="{FF2B5EF4-FFF2-40B4-BE49-F238E27FC236}">
                <a16:creationId xmlns:a16="http://schemas.microsoft.com/office/drawing/2014/main" id="{AE42D1E1-5A68-1B05-8CB2-AC68D8DA73A7}"/>
              </a:ext>
            </a:extLst>
          </p:cNvPr>
          <p:cNvSpPr txBox="1"/>
          <p:nvPr/>
        </p:nvSpPr>
        <p:spPr>
          <a:xfrm>
            <a:off x="4778011" y="5690883"/>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a:t>QuestionnaireResponse</a:t>
            </a:r>
            <a:r>
              <a:rPr lang="en-US" altLang="ja-JP" sz="1000" dirty="0"/>
              <a:t/>
            </a:r>
            <a:br>
              <a:rPr lang="en-US" altLang="ja-JP" sz="1000" dirty="0"/>
            </a:br>
            <a:r>
              <a:rPr lang="en-US" altLang="ja-JP" sz="1000" dirty="0"/>
              <a:t>(</a:t>
            </a:r>
            <a:r>
              <a:rPr lang="ja-JP" altLang="en-US" sz="1000" dirty="0"/>
              <a:t>患者入力フォームの回答</a:t>
            </a:r>
            <a:r>
              <a:rPr lang="en-US" altLang="ja-JP" sz="1000" dirty="0"/>
              <a:t>)</a:t>
            </a:r>
            <a:endParaRPr lang="ja-JP" altLang="en-US" sz="1000" dirty="0"/>
          </a:p>
        </p:txBody>
      </p:sp>
      <p:sp>
        <p:nvSpPr>
          <p:cNvPr id="19" name="テキスト ボックス 18">
            <a:extLst>
              <a:ext uri="{FF2B5EF4-FFF2-40B4-BE49-F238E27FC236}">
                <a16:creationId xmlns:a16="http://schemas.microsoft.com/office/drawing/2014/main" id="{28671A1A-4E19-8EA2-4BB3-780872D8FB9F}"/>
              </a:ext>
            </a:extLst>
          </p:cNvPr>
          <p:cNvSpPr txBox="1"/>
          <p:nvPr/>
        </p:nvSpPr>
        <p:spPr>
          <a:xfrm>
            <a:off x="9681397" y="5496607"/>
            <a:ext cx="1817993" cy="309108"/>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smtClean="0"/>
              <a:t>Observation (</a:t>
            </a:r>
            <a:r>
              <a:rPr lang="ja-JP" altLang="en-US" sz="1000" dirty="0" smtClean="0"/>
              <a:t>観察結果</a:t>
            </a:r>
            <a:r>
              <a:rPr lang="en-US" altLang="ja-JP" sz="1000" dirty="0" smtClean="0"/>
              <a:t>)</a:t>
            </a:r>
            <a:endParaRPr lang="ja-JP" altLang="en-US" sz="1000" dirty="0"/>
          </a:p>
        </p:txBody>
      </p:sp>
      <p:sp>
        <p:nvSpPr>
          <p:cNvPr id="20" name="テキスト ボックス 19">
            <a:extLst>
              <a:ext uri="{FF2B5EF4-FFF2-40B4-BE49-F238E27FC236}">
                <a16:creationId xmlns:a16="http://schemas.microsoft.com/office/drawing/2014/main" id="{99699290-5B32-B33E-7F20-B0C974FF48F0}"/>
              </a:ext>
            </a:extLst>
          </p:cNvPr>
          <p:cNvSpPr txBox="1"/>
          <p:nvPr/>
        </p:nvSpPr>
        <p:spPr>
          <a:xfrm>
            <a:off x="9705023" y="5051892"/>
            <a:ext cx="1187735" cy="107722"/>
          </a:xfrm>
          <a:prstGeom prst="rect">
            <a:avLst/>
          </a:prstGeom>
          <a:noFill/>
        </p:spPr>
        <p:txBody>
          <a:bodyPr wrap="square" lIns="0" tIns="0" rIns="0" bIns="0" rtlCol="0">
            <a:spAutoFit/>
          </a:bodyPr>
          <a:lstStyle/>
          <a:p>
            <a:r>
              <a:rPr kumimoji="1" lang="en-US" altLang="ja-JP" sz="700" dirty="0">
                <a:solidFill>
                  <a:schemeClr val="bg1"/>
                </a:solidFill>
              </a:rPr>
              <a:t>contained</a:t>
            </a:r>
            <a:r>
              <a:rPr kumimoji="1" lang="ja-JP" altLang="en-US" sz="700" dirty="0">
                <a:solidFill>
                  <a:schemeClr val="bg1"/>
                </a:solidFill>
              </a:rPr>
              <a:t>  </a:t>
            </a:r>
            <a:r>
              <a:rPr kumimoji="1" lang="en-US" altLang="ja-JP" sz="700" dirty="0">
                <a:solidFill>
                  <a:schemeClr val="bg1"/>
                </a:solidFill>
              </a:rPr>
              <a:t>(</a:t>
            </a:r>
            <a:r>
              <a:rPr kumimoji="1" lang="ja-JP" altLang="en-US" sz="700" dirty="0">
                <a:solidFill>
                  <a:schemeClr val="bg1"/>
                </a:solidFill>
              </a:rPr>
              <a:t>リソースを内包</a:t>
            </a:r>
            <a:r>
              <a:rPr kumimoji="1" lang="en-US" altLang="ja-JP" sz="700" dirty="0">
                <a:solidFill>
                  <a:schemeClr val="bg1"/>
                </a:solidFill>
              </a:rPr>
              <a:t>)</a:t>
            </a:r>
            <a:endParaRPr kumimoji="1" lang="ja-JP" altLang="en-US" sz="700" dirty="0">
              <a:solidFill>
                <a:schemeClr val="bg1"/>
              </a:solidFill>
            </a:endParaRPr>
          </a:p>
        </p:txBody>
      </p:sp>
      <p:sp>
        <p:nvSpPr>
          <p:cNvPr id="21" name="テキスト ボックス 20">
            <a:extLst>
              <a:ext uri="{FF2B5EF4-FFF2-40B4-BE49-F238E27FC236}">
                <a16:creationId xmlns:a16="http://schemas.microsoft.com/office/drawing/2014/main" id="{6E411A0A-728A-8966-1902-BB3DDA2F0276}"/>
              </a:ext>
            </a:extLst>
          </p:cNvPr>
          <p:cNvSpPr txBox="1"/>
          <p:nvPr/>
        </p:nvSpPr>
        <p:spPr>
          <a:xfrm>
            <a:off x="10611715" y="4448205"/>
            <a:ext cx="1019921" cy="111272"/>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outcomeReference</a:t>
            </a:r>
            <a:r>
              <a:rPr kumimoji="1" lang="en-US" altLang="ja-JP" sz="600" dirty="0">
                <a:solidFill>
                  <a:schemeClr val="tx1"/>
                </a:solidFill>
              </a:rPr>
              <a:t> : 0..*</a:t>
            </a:r>
            <a:endParaRPr kumimoji="1" lang="ja-JP" altLang="en-US" sz="600" dirty="0">
              <a:solidFill>
                <a:schemeClr val="tx1"/>
              </a:solidFill>
            </a:endParaRPr>
          </a:p>
        </p:txBody>
      </p:sp>
      <p:cxnSp>
        <p:nvCxnSpPr>
          <p:cNvPr id="23" name="コネクタ: カギ線 22">
            <a:extLst>
              <a:ext uri="{FF2B5EF4-FFF2-40B4-BE49-F238E27FC236}">
                <a16:creationId xmlns:a16="http://schemas.microsoft.com/office/drawing/2014/main" id="{2B532430-719B-268D-4F3C-295EBDC2D6C5}"/>
              </a:ext>
            </a:extLst>
          </p:cNvPr>
          <p:cNvCxnSpPr>
            <a:cxnSpLocks/>
            <a:stCxn id="21" idx="3"/>
            <a:endCxn id="19" idx="3"/>
          </p:cNvCxnSpPr>
          <p:nvPr/>
        </p:nvCxnSpPr>
        <p:spPr>
          <a:xfrm flipH="1">
            <a:off x="11499390" y="4503841"/>
            <a:ext cx="132246" cy="1147320"/>
          </a:xfrm>
          <a:prstGeom prst="bentConnector3">
            <a:avLst>
              <a:gd name="adj1" fmla="val -172860"/>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32618C1D-F6DE-79B0-A826-F0189EBBADBF}"/>
              </a:ext>
            </a:extLst>
          </p:cNvPr>
          <p:cNvSpPr txBox="1"/>
          <p:nvPr/>
        </p:nvSpPr>
        <p:spPr>
          <a:xfrm>
            <a:off x="8023179" y="4660262"/>
            <a:ext cx="1338184" cy="105928"/>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activity.outcomeReference</a:t>
            </a:r>
            <a:r>
              <a:rPr kumimoji="1" lang="en-US" altLang="ja-JP" sz="600" dirty="0">
                <a:solidFill>
                  <a:schemeClr val="tx1"/>
                </a:solidFill>
              </a:rPr>
              <a:t> : 0..1</a:t>
            </a:r>
            <a:endParaRPr kumimoji="1" lang="ja-JP" altLang="en-US" sz="600" dirty="0">
              <a:solidFill>
                <a:schemeClr val="tx1"/>
              </a:solidFill>
            </a:endParaRPr>
          </a:p>
        </p:txBody>
      </p:sp>
      <p:sp>
        <p:nvSpPr>
          <p:cNvPr id="28" name="テキスト ボックス 27">
            <a:extLst>
              <a:ext uri="{FF2B5EF4-FFF2-40B4-BE49-F238E27FC236}">
                <a16:creationId xmlns:a16="http://schemas.microsoft.com/office/drawing/2014/main" id="{49FDF8C7-EA9C-6F2A-5EE6-1A7CDFCA50B7}"/>
              </a:ext>
            </a:extLst>
          </p:cNvPr>
          <p:cNvSpPr txBox="1"/>
          <p:nvPr/>
        </p:nvSpPr>
        <p:spPr>
          <a:xfrm>
            <a:off x="8826803" y="4111999"/>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0..*</a:t>
            </a:r>
            <a:endParaRPr kumimoji="1" lang="ja-JP" altLang="en-US" sz="600" dirty="0">
              <a:solidFill>
                <a:schemeClr val="tx1"/>
              </a:solidFill>
            </a:endParaRPr>
          </a:p>
        </p:txBody>
      </p:sp>
      <p:sp>
        <p:nvSpPr>
          <p:cNvPr id="31" name="テキスト ボックス 30">
            <a:extLst>
              <a:ext uri="{FF2B5EF4-FFF2-40B4-BE49-F238E27FC236}">
                <a16:creationId xmlns:a16="http://schemas.microsoft.com/office/drawing/2014/main" id="{F48AF21E-4070-F73C-49D2-6BA7FDBB234E}"/>
              </a:ext>
            </a:extLst>
          </p:cNvPr>
          <p:cNvSpPr txBox="1"/>
          <p:nvPr/>
        </p:nvSpPr>
        <p:spPr>
          <a:xfrm>
            <a:off x="6372165" y="1628245"/>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a:t>
            </a:r>
            <a:r>
              <a:rPr kumimoji="1" lang="en-US" altLang="ja-JP" sz="600" dirty="0" smtClean="0">
                <a:solidFill>
                  <a:schemeClr val="tx1"/>
                </a:solidFill>
              </a:rPr>
              <a:t>1..</a:t>
            </a:r>
            <a:r>
              <a:rPr kumimoji="1" lang="en-US" altLang="ja-JP" sz="600" dirty="0">
                <a:solidFill>
                  <a:schemeClr val="tx1"/>
                </a:solidFill>
              </a:rPr>
              <a:t>1</a:t>
            </a:r>
            <a:endParaRPr kumimoji="1" lang="ja-JP" altLang="en-US" sz="600" dirty="0">
              <a:solidFill>
                <a:schemeClr val="tx1"/>
              </a:solidFill>
            </a:endParaRPr>
          </a:p>
        </p:txBody>
      </p:sp>
      <p:sp>
        <p:nvSpPr>
          <p:cNvPr id="32" name="テキスト ボックス 31">
            <a:extLst>
              <a:ext uri="{FF2B5EF4-FFF2-40B4-BE49-F238E27FC236}">
                <a16:creationId xmlns:a16="http://schemas.microsoft.com/office/drawing/2014/main" id="{E9CA851E-80C6-CB82-414B-E4B906A8448E}"/>
              </a:ext>
            </a:extLst>
          </p:cNvPr>
          <p:cNvSpPr txBox="1"/>
          <p:nvPr/>
        </p:nvSpPr>
        <p:spPr>
          <a:xfrm>
            <a:off x="7257993" y="2547142"/>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a:t>
            </a:r>
            <a:r>
              <a:rPr kumimoji="1" lang="en-US" altLang="ja-JP" sz="600" dirty="0" smtClean="0">
                <a:solidFill>
                  <a:schemeClr val="tx1"/>
                </a:solidFill>
              </a:rPr>
              <a:t>1..</a:t>
            </a:r>
            <a:r>
              <a:rPr kumimoji="1" lang="en-US" altLang="ja-JP" sz="600" dirty="0">
                <a:solidFill>
                  <a:schemeClr val="tx1"/>
                </a:solidFill>
              </a:rPr>
              <a:t>1</a:t>
            </a:r>
            <a:endParaRPr kumimoji="1" lang="ja-JP" altLang="en-US" sz="600" dirty="0">
              <a:solidFill>
                <a:schemeClr val="tx1"/>
              </a:solidFill>
            </a:endParaRPr>
          </a:p>
        </p:txBody>
      </p:sp>
      <p:sp>
        <p:nvSpPr>
          <p:cNvPr id="33" name="テキスト ボックス 32">
            <a:extLst>
              <a:ext uri="{FF2B5EF4-FFF2-40B4-BE49-F238E27FC236}">
                <a16:creationId xmlns:a16="http://schemas.microsoft.com/office/drawing/2014/main" id="{B36AD31C-DC65-8F55-3752-C0E03FD56A98}"/>
              </a:ext>
            </a:extLst>
          </p:cNvPr>
          <p:cNvSpPr txBox="1"/>
          <p:nvPr/>
        </p:nvSpPr>
        <p:spPr>
          <a:xfrm>
            <a:off x="8192033" y="3138953"/>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a:solidFill>
                  <a:schemeClr val="tx1"/>
                </a:solidFill>
              </a:rPr>
              <a:t>goal </a:t>
            </a:r>
            <a:r>
              <a:rPr kumimoji="1" lang="en-US" altLang="ja-JP" sz="600" dirty="0">
                <a:solidFill>
                  <a:schemeClr val="tx1"/>
                </a:solidFill>
              </a:rPr>
              <a:t>: 0</a:t>
            </a:r>
            <a:r>
              <a:rPr kumimoji="1" lang="en-US" altLang="ja-JP" sz="600" dirty="0" smtClean="0">
                <a:solidFill>
                  <a:schemeClr val="tx1"/>
                </a:solidFill>
              </a:rPr>
              <a:t>..*</a:t>
            </a:r>
            <a:endParaRPr kumimoji="1" lang="ja-JP" altLang="en-US" sz="600" dirty="0">
              <a:solidFill>
                <a:schemeClr val="tx1"/>
              </a:solidFill>
            </a:endParaRPr>
          </a:p>
        </p:txBody>
      </p:sp>
      <p:cxnSp>
        <p:nvCxnSpPr>
          <p:cNvPr id="36" name="コネクタ: カギ線 35">
            <a:extLst>
              <a:ext uri="{FF2B5EF4-FFF2-40B4-BE49-F238E27FC236}">
                <a16:creationId xmlns:a16="http://schemas.microsoft.com/office/drawing/2014/main" id="{E9513158-9309-CD18-6574-28FD0B8106F7}"/>
              </a:ext>
            </a:extLst>
          </p:cNvPr>
          <p:cNvCxnSpPr>
            <a:cxnSpLocks/>
            <a:stCxn id="51" idx="1"/>
          </p:cNvCxnSpPr>
          <p:nvPr/>
        </p:nvCxnSpPr>
        <p:spPr>
          <a:xfrm rot="10800000">
            <a:off x="5224981" y="2125702"/>
            <a:ext cx="432806" cy="254147"/>
          </a:xfrm>
          <a:prstGeom prst="bentConnector3">
            <a:avLst>
              <a:gd name="adj1" fmla="val 10144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4E53FF47-5A32-8D1E-5E58-8ADE7C0BA83B}"/>
              </a:ext>
            </a:extLst>
          </p:cNvPr>
          <p:cNvCxnSpPr>
            <a:cxnSpLocks/>
            <a:stCxn id="32" idx="3"/>
          </p:cNvCxnSpPr>
          <p:nvPr/>
        </p:nvCxnSpPr>
        <p:spPr>
          <a:xfrm>
            <a:off x="7792553" y="2598220"/>
            <a:ext cx="490744"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5387261F-5A03-90BD-2B0B-E04A599B17EF}"/>
              </a:ext>
            </a:extLst>
          </p:cNvPr>
          <p:cNvCxnSpPr>
            <a:cxnSpLocks/>
            <a:stCxn id="33" idx="3"/>
          </p:cNvCxnSpPr>
          <p:nvPr/>
        </p:nvCxnSpPr>
        <p:spPr>
          <a:xfrm>
            <a:off x="8726593" y="3190031"/>
            <a:ext cx="490744"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7075D2CE-C05E-C19D-925D-287F9A74C919}"/>
              </a:ext>
            </a:extLst>
          </p:cNvPr>
          <p:cNvSpPr txBox="1"/>
          <p:nvPr/>
        </p:nvSpPr>
        <p:spPr>
          <a:xfrm>
            <a:off x="8149155" y="2258714"/>
            <a:ext cx="2124075" cy="680534"/>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Goal</a:t>
            </a:r>
            <a:br>
              <a:rPr lang="en-US" altLang="ja-JP" sz="1000" dirty="0"/>
            </a:br>
            <a:r>
              <a:rPr lang="en-US" altLang="ja-JP" sz="1000" dirty="0"/>
              <a:t>(</a:t>
            </a:r>
            <a:r>
              <a:rPr lang="ja-JP" altLang="en-US" sz="1000" dirty="0"/>
              <a:t>病日・イベント 総合評価</a:t>
            </a:r>
            <a:r>
              <a:rPr lang="en-US" altLang="ja-JP" sz="1000" dirty="0"/>
              <a:t>)</a:t>
            </a:r>
            <a:endParaRPr lang="ja-JP" altLang="en-US" sz="1000" dirty="0"/>
          </a:p>
        </p:txBody>
      </p:sp>
      <p:sp>
        <p:nvSpPr>
          <p:cNvPr id="15" name="テキスト ボックス 14">
            <a:extLst>
              <a:ext uri="{FF2B5EF4-FFF2-40B4-BE49-F238E27FC236}">
                <a16:creationId xmlns:a16="http://schemas.microsoft.com/office/drawing/2014/main" id="{56546FAD-C3B1-60E7-136D-497FCD56F91A}"/>
              </a:ext>
            </a:extLst>
          </p:cNvPr>
          <p:cNvSpPr txBox="1"/>
          <p:nvPr/>
        </p:nvSpPr>
        <p:spPr>
          <a:xfrm>
            <a:off x="8899953" y="3035957"/>
            <a:ext cx="2124076" cy="721819"/>
          </a:xfrm>
          <a:prstGeom prst="rect">
            <a:avLst/>
          </a:prstGeom>
          <a:solidFill>
            <a:schemeClr val="accent4">
              <a:lumMod val="75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a:t>Goal</a:t>
            </a:r>
            <a:br>
              <a:rPr lang="en-US" altLang="ja-JP" sz="1000" dirty="0"/>
            </a:br>
            <a:r>
              <a:rPr lang="en-US" altLang="ja-JP" sz="1000" dirty="0"/>
              <a:t>(</a:t>
            </a:r>
            <a:r>
              <a:rPr lang="ja-JP" altLang="en-US" sz="1000" dirty="0"/>
              <a:t>アウトカム評価</a:t>
            </a:r>
            <a:r>
              <a:rPr lang="en-US" altLang="ja-JP" sz="1000" dirty="0"/>
              <a:t>)</a:t>
            </a:r>
            <a:endParaRPr lang="ja-JP" altLang="en-US" sz="1000" dirty="0"/>
          </a:p>
        </p:txBody>
      </p:sp>
      <p:cxnSp>
        <p:nvCxnSpPr>
          <p:cNvPr id="46" name="直線コネクタ 45">
            <a:extLst>
              <a:ext uri="{FF2B5EF4-FFF2-40B4-BE49-F238E27FC236}">
                <a16:creationId xmlns:a16="http://schemas.microsoft.com/office/drawing/2014/main" id="{AE3653B2-5099-8C72-D063-0D29A9F2395C}"/>
              </a:ext>
            </a:extLst>
          </p:cNvPr>
          <p:cNvCxnSpPr>
            <a:cxnSpLocks/>
            <a:stCxn id="28" idx="3"/>
          </p:cNvCxnSpPr>
          <p:nvPr/>
        </p:nvCxnSpPr>
        <p:spPr>
          <a:xfrm>
            <a:off x="9361363" y="4163077"/>
            <a:ext cx="194926" cy="0"/>
          </a:xfrm>
          <a:prstGeom prst="line">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BFA9030F-0568-804A-DA36-FF70DB206137}"/>
              </a:ext>
            </a:extLst>
          </p:cNvPr>
          <p:cNvCxnSpPr>
            <a:cxnSpLocks/>
            <a:stCxn id="17" idx="3"/>
            <a:endCxn id="27" idx="3"/>
          </p:cNvCxnSpPr>
          <p:nvPr/>
        </p:nvCxnSpPr>
        <p:spPr>
          <a:xfrm flipV="1">
            <a:off x="9285271" y="4713226"/>
            <a:ext cx="76092" cy="338696"/>
          </a:xfrm>
          <a:prstGeom prst="bentConnector3">
            <a:avLst>
              <a:gd name="adj1" fmla="val 256471"/>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21E939D5-B118-CB77-70CA-77355C6AC290}"/>
              </a:ext>
            </a:extLst>
          </p:cNvPr>
          <p:cNvSpPr txBox="1"/>
          <p:nvPr/>
        </p:nvSpPr>
        <p:spPr>
          <a:xfrm>
            <a:off x="5657787" y="2328770"/>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part of : </a:t>
            </a:r>
            <a:r>
              <a:rPr lang="en-US" altLang="ja-JP" sz="600" dirty="0" smtClean="0">
                <a:solidFill>
                  <a:schemeClr val="tx1"/>
                </a:solidFill>
              </a:rPr>
              <a:t>1..1</a:t>
            </a:r>
            <a:endParaRPr kumimoji="1" lang="ja-JP" altLang="en-US" sz="600" dirty="0">
              <a:solidFill>
                <a:schemeClr val="tx1"/>
              </a:solidFill>
            </a:endParaRPr>
          </a:p>
        </p:txBody>
      </p:sp>
      <p:sp>
        <p:nvSpPr>
          <p:cNvPr id="53" name="テキスト ボックス 52">
            <a:extLst>
              <a:ext uri="{FF2B5EF4-FFF2-40B4-BE49-F238E27FC236}">
                <a16:creationId xmlns:a16="http://schemas.microsoft.com/office/drawing/2014/main" id="{912F97E6-71F2-3B40-6F7C-1120C21C171C}"/>
              </a:ext>
            </a:extLst>
          </p:cNvPr>
          <p:cNvSpPr txBox="1"/>
          <p:nvPr/>
        </p:nvSpPr>
        <p:spPr>
          <a:xfrm>
            <a:off x="6553139" y="3072280"/>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part of : 0..*</a:t>
            </a:r>
            <a:endParaRPr kumimoji="1" lang="ja-JP" altLang="en-US" sz="600" dirty="0">
              <a:solidFill>
                <a:schemeClr val="tx1"/>
              </a:solidFill>
            </a:endParaRPr>
          </a:p>
        </p:txBody>
      </p:sp>
      <p:sp>
        <p:nvSpPr>
          <p:cNvPr id="54" name="テキスト ボックス 53">
            <a:extLst>
              <a:ext uri="{FF2B5EF4-FFF2-40B4-BE49-F238E27FC236}">
                <a16:creationId xmlns:a16="http://schemas.microsoft.com/office/drawing/2014/main" id="{60075E25-37A9-9D74-8C78-1CA66C439CA5}"/>
              </a:ext>
            </a:extLst>
          </p:cNvPr>
          <p:cNvSpPr txBox="1"/>
          <p:nvPr/>
        </p:nvSpPr>
        <p:spPr>
          <a:xfrm>
            <a:off x="7325449" y="3975600"/>
            <a:ext cx="534560" cy="102156"/>
          </a:xfrm>
          <a:prstGeom prst="roundRect">
            <a:avLst/>
          </a:prstGeom>
          <a:solidFill>
            <a:schemeClr val="accent2">
              <a:lumMod val="20000"/>
              <a:lumOff val="8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part of : 0..*</a:t>
            </a:r>
            <a:endParaRPr kumimoji="1" lang="ja-JP" altLang="en-US" sz="600" dirty="0">
              <a:solidFill>
                <a:schemeClr val="tx1"/>
              </a:solidFill>
            </a:endParaRPr>
          </a:p>
        </p:txBody>
      </p:sp>
      <p:cxnSp>
        <p:nvCxnSpPr>
          <p:cNvPr id="57" name="コネクタ: カギ線 56">
            <a:extLst>
              <a:ext uri="{FF2B5EF4-FFF2-40B4-BE49-F238E27FC236}">
                <a16:creationId xmlns:a16="http://schemas.microsoft.com/office/drawing/2014/main" id="{9A3366CF-4993-6A49-9B3B-12B063865DC1}"/>
              </a:ext>
            </a:extLst>
          </p:cNvPr>
          <p:cNvCxnSpPr>
            <a:cxnSpLocks/>
            <a:stCxn id="53" idx="1"/>
          </p:cNvCxnSpPr>
          <p:nvPr/>
        </p:nvCxnSpPr>
        <p:spPr>
          <a:xfrm rot="10800000">
            <a:off x="6119599" y="2854090"/>
            <a:ext cx="433541" cy="269268"/>
          </a:xfrm>
          <a:prstGeom prst="bentConnector3">
            <a:avLst>
              <a:gd name="adj1" fmla="val 101193"/>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コネクタ: カギ線 59">
            <a:extLst>
              <a:ext uri="{FF2B5EF4-FFF2-40B4-BE49-F238E27FC236}">
                <a16:creationId xmlns:a16="http://schemas.microsoft.com/office/drawing/2014/main" id="{4D727401-6CFC-43C1-4707-69B7075B3C4D}"/>
              </a:ext>
            </a:extLst>
          </p:cNvPr>
          <p:cNvCxnSpPr>
            <a:cxnSpLocks/>
            <a:stCxn id="54" idx="1"/>
          </p:cNvCxnSpPr>
          <p:nvPr/>
        </p:nvCxnSpPr>
        <p:spPr>
          <a:xfrm rot="10800000">
            <a:off x="6976401" y="3748322"/>
            <a:ext cx="349048" cy="278357"/>
          </a:xfrm>
          <a:prstGeom prst="bentConnector3">
            <a:avLst>
              <a:gd name="adj1" fmla="val 103411"/>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24820346-4044-3A95-706A-D98E94A27BA6}"/>
              </a:ext>
            </a:extLst>
          </p:cNvPr>
          <p:cNvSpPr txBox="1"/>
          <p:nvPr/>
        </p:nvSpPr>
        <p:spPr>
          <a:xfrm>
            <a:off x="9656966" y="5889384"/>
            <a:ext cx="1924713" cy="323165"/>
          </a:xfrm>
          <a:prstGeom prst="rect">
            <a:avLst/>
          </a:prstGeom>
          <a:noFill/>
        </p:spPr>
        <p:txBody>
          <a:bodyPr wrap="square" lIns="0" tIns="0" rIns="0" bIns="0" rtlCol="0">
            <a:spAutoFit/>
          </a:bodyPr>
          <a:lstStyle/>
          <a:p>
            <a:r>
              <a:rPr kumimoji="1" lang="en-US" altLang="ja-JP" sz="700" dirty="0"/>
              <a:t>Observation</a:t>
            </a:r>
            <a:r>
              <a:rPr kumimoji="1" lang="ja-JP" altLang="en-US" sz="700" dirty="0"/>
              <a:t>は</a:t>
            </a:r>
            <a:r>
              <a:rPr kumimoji="1" lang="en-US" altLang="ja-JP" sz="700" dirty="0"/>
              <a:t>contained</a:t>
            </a:r>
            <a:r>
              <a:rPr kumimoji="1" lang="ja-JP" altLang="en-US" sz="700" dirty="0"/>
              <a:t>に内包することを想定。内包しない場合は</a:t>
            </a:r>
            <a:r>
              <a:rPr kumimoji="1" lang="en-US" altLang="ja-JP" sz="700" dirty="0" err="1"/>
              <a:t>Bundle.entry</a:t>
            </a:r>
            <a:r>
              <a:rPr kumimoji="1" lang="ja-JP" altLang="en-US" sz="700" dirty="0"/>
              <a:t>内に格納するなどし</a:t>
            </a:r>
            <a:r>
              <a:rPr kumimoji="1" lang="en-US" altLang="ja-JP" sz="700" dirty="0" err="1"/>
              <a:t>outcomeReferrence</a:t>
            </a:r>
            <a:r>
              <a:rPr kumimoji="1" lang="ja-JP" altLang="en-US" sz="700" dirty="0"/>
              <a:t>を適切にセットする。</a:t>
            </a:r>
          </a:p>
        </p:txBody>
      </p:sp>
      <p:sp>
        <p:nvSpPr>
          <p:cNvPr id="68" name="テキスト ボックス 67">
            <a:extLst>
              <a:ext uri="{FF2B5EF4-FFF2-40B4-BE49-F238E27FC236}">
                <a16:creationId xmlns:a16="http://schemas.microsoft.com/office/drawing/2014/main" id="{E1F3BF14-2CA8-62F2-C122-DE7F2533C485}"/>
              </a:ext>
            </a:extLst>
          </p:cNvPr>
          <p:cNvSpPr txBox="1"/>
          <p:nvPr/>
        </p:nvSpPr>
        <p:spPr>
          <a:xfrm>
            <a:off x="9122953" y="5635316"/>
            <a:ext cx="703807" cy="103486"/>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derivedFrom</a:t>
            </a:r>
            <a:r>
              <a:rPr kumimoji="1" lang="en-US" altLang="ja-JP" sz="600" dirty="0">
                <a:solidFill>
                  <a:schemeClr val="tx1"/>
                </a:solidFill>
              </a:rPr>
              <a:t> : 0..</a:t>
            </a:r>
            <a:r>
              <a:rPr kumimoji="1" lang="ja-JP" altLang="en-US" sz="600" dirty="0">
                <a:solidFill>
                  <a:schemeClr val="tx1"/>
                </a:solidFill>
              </a:rPr>
              <a:t>*</a:t>
            </a:r>
          </a:p>
        </p:txBody>
      </p:sp>
      <p:cxnSp>
        <p:nvCxnSpPr>
          <p:cNvPr id="71" name="コネクタ: カギ線 70">
            <a:extLst>
              <a:ext uri="{FF2B5EF4-FFF2-40B4-BE49-F238E27FC236}">
                <a16:creationId xmlns:a16="http://schemas.microsoft.com/office/drawing/2014/main" id="{662A7B92-4505-F8BE-E3FB-707B81D22BDD}"/>
              </a:ext>
            </a:extLst>
          </p:cNvPr>
          <p:cNvCxnSpPr>
            <a:cxnSpLocks/>
            <a:stCxn id="18" idx="3"/>
            <a:endCxn id="68" idx="1"/>
          </p:cNvCxnSpPr>
          <p:nvPr/>
        </p:nvCxnSpPr>
        <p:spPr>
          <a:xfrm flipV="1">
            <a:off x="6372165" y="5687059"/>
            <a:ext cx="2750788" cy="157713"/>
          </a:xfrm>
          <a:prstGeom prst="bentConnector3">
            <a:avLst>
              <a:gd name="adj1" fmla="val 50000"/>
            </a:avLst>
          </a:pr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0447AF95-0318-3072-CFBC-1D87914C58C8}"/>
              </a:ext>
            </a:extLst>
          </p:cNvPr>
          <p:cNvCxnSpPr>
            <a:cxnSpLocks/>
            <a:endCxn id="5" idx="2"/>
          </p:cNvCxnSpPr>
          <p:nvPr/>
        </p:nvCxnSpPr>
        <p:spPr>
          <a:xfrm flipV="1">
            <a:off x="5224981" y="1182664"/>
            <a:ext cx="0" cy="33308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79F36F1-C700-BC8E-F961-264F3337C25D}"/>
              </a:ext>
            </a:extLst>
          </p:cNvPr>
          <p:cNvCxnSpPr>
            <a:cxnSpLocks/>
            <a:stCxn id="6" idx="0"/>
            <a:endCxn id="4" idx="2"/>
          </p:cNvCxnSpPr>
          <p:nvPr/>
        </p:nvCxnSpPr>
        <p:spPr>
          <a:xfrm flipV="1">
            <a:off x="5758381" y="1178345"/>
            <a:ext cx="600076" cy="33740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BFFEC5AC-CC01-3C08-5FC7-E69A06FC497E}"/>
              </a:ext>
            </a:extLst>
          </p:cNvPr>
          <p:cNvCxnSpPr>
            <a:cxnSpLocks/>
          </p:cNvCxnSpPr>
          <p:nvPr/>
        </p:nvCxnSpPr>
        <p:spPr>
          <a:xfrm flipV="1">
            <a:off x="6067280" y="1170163"/>
            <a:ext cx="1461883" cy="348133"/>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522E937A-F802-7503-DA99-89923876F4B0}"/>
              </a:ext>
            </a:extLst>
          </p:cNvPr>
          <p:cNvCxnSpPr>
            <a:cxnSpLocks/>
            <a:endCxn id="12" idx="2"/>
          </p:cNvCxnSpPr>
          <p:nvPr/>
        </p:nvCxnSpPr>
        <p:spPr>
          <a:xfrm flipV="1">
            <a:off x="6544872" y="1177723"/>
            <a:ext cx="2118035" cy="325348"/>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56810395-A162-9B76-AE5D-3F77BE6D9278}"/>
              </a:ext>
            </a:extLst>
          </p:cNvPr>
          <p:cNvCxnSpPr>
            <a:cxnSpLocks/>
            <a:endCxn id="13" idx="2"/>
          </p:cNvCxnSpPr>
          <p:nvPr/>
        </p:nvCxnSpPr>
        <p:spPr>
          <a:xfrm flipV="1">
            <a:off x="6836049" y="1178345"/>
            <a:ext cx="2956177" cy="403444"/>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A899BCA-057B-2B69-C8BC-A5C1B8FF7CD5}"/>
              </a:ext>
            </a:extLst>
          </p:cNvPr>
          <p:cNvSpPr txBox="1"/>
          <p:nvPr/>
        </p:nvSpPr>
        <p:spPr>
          <a:xfrm rot="21193797">
            <a:off x="6830981" y="1404375"/>
            <a:ext cx="1093804" cy="125881"/>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activity.outcomeReference</a:t>
            </a:r>
            <a:endParaRPr kumimoji="1" lang="ja-JP" altLang="en-US" sz="600" dirty="0">
              <a:solidFill>
                <a:schemeClr val="tx1"/>
              </a:solidFill>
            </a:endParaRPr>
          </a:p>
        </p:txBody>
      </p:sp>
      <p:sp>
        <p:nvSpPr>
          <p:cNvPr id="80" name="テキスト ボックス 79">
            <a:extLst>
              <a:ext uri="{FF2B5EF4-FFF2-40B4-BE49-F238E27FC236}">
                <a16:creationId xmlns:a16="http://schemas.microsoft.com/office/drawing/2014/main" id="{9BD14FC4-8A18-39AB-28E5-4D851E1473A1}"/>
              </a:ext>
            </a:extLst>
          </p:cNvPr>
          <p:cNvSpPr txBox="1"/>
          <p:nvPr/>
        </p:nvSpPr>
        <p:spPr>
          <a:xfrm rot="21176781">
            <a:off x="6448214" y="1362528"/>
            <a:ext cx="759767" cy="125880"/>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addresses</a:t>
            </a:r>
            <a:endParaRPr kumimoji="1" lang="ja-JP" altLang="en-US" sz="600" dirty="0">
              <a:solidFill>
                <a:schemeClr val="tx1"/>
              </a:solidFill>
            </a:endParaRPr>
          </a:p>
        </p:txBody>
      </p:sp>
      <p:sp>
        <p:nvSpPr>
          <p:cNvPr id="97" name="テキスト ボックス 96">
            <a:extLst>
              <a:ext uri="{FF2B5EF4-FFF2-40B4-BE49-F238E27FC236}">
                <a16:creationId xmlns:a16="http://schemas.microsoft.com/office/drawing/2014/main" id="{B198719D-34A0-6093-D78D-C9A2A26A3D3D}"/>
              </a:ext>
            </a:extLst>
          </p:cNvPr>
          <p:cNvSpPr txBox="1"/>
          <p:nvPr/>
        </p:nvSpPr>
        <p:spPr>
          <a:xfrm rot="20816030">
            <a:off x="6004370" y="1366183"/>
            <a:ext cx="475870" cy="122246"/>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encounter</a:t>
            </a:r>
            <a:endParaRPr kumimoji="1" lang="ja-JP" altLang="en-US" sz="600" dirty="0">
              <a:solidFill>
                <a:schemeClr val="tx1"/>
              </a:solidFill>
            </a:endParaRPr>
          </a:p>
        </p:txBody>
      </p:sp>
      <p:sp>
        <p:nvSpPr>
          <p:cNvPr id="98" name="テキスト ボックス 97">
            <a:extLst>
              <a:ext uri="{FF2B5EF4-FFF2-40B4-BE49-F238E27FC236}">
                <a16:creationId xmlns:a16="http://schemas.microsoft.com/office/drawing/2014/main" id="{415D372D-CAC8-3931-33B3-63F9907B26A5}"/>
              </a:ext>
            </a:extLst>
          </p:cNvPr>
          <p:cNvSpPr txBox="1"/>
          <p:nvPr/>
        </p:nvSpPr>
        <p:spPr>
          <a:xfrm rot="19789137">
            <a:off x="5563365" y="1367168"/>
            <a:ext cx="475757" cy="103378"/>
          </a:xfrm>
          <a:prstGeom prst="roundRect">
            <a:avLst/>
          </a:prstGeom>
          <a:noFill/>
          <a:ln>
            <a:no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a:solidFill>
                  <a:schemeClr val="tx1"/>
                </a:solidFill>
              </a:rPr>
              <a:t>subject</a:t>
            </a:r>
          </a:p>
        </p:txBody>
      </p:sp>
      <p:sp>
        <p:nvSpPr>
          <p:cNvPr id="99" name="テキスト ボックス 98">
            <a:extLst>
              <a:ext uri="{FF2B5EF4-FFF2-40B4-BE49-F238E27FC236}">
                <a16:creationId xmlns:a16="http://schemas.microsoft.com/office/drawing/2014/main" id="{3557A5BF-B26C-6402-3C04-8F9130F38E5C}"/>
              </a:ext>
            </a:extLst>
          </p:cNvPr>
          <p:cNvSpPr txBox="1"/>
          <p:nvPr/>
        </p:nvSpPr>
        <p:spPr>
          <a:xfrm>
            <a:off x="6723246" y="5881584"/>
            <a:ext cx="2735580" cy="107722"/>
          </a:xfrm>
          <a:prstGeom prst="rect">
            <a:avLst/>
          </a:prstGeom>
          <a:noFill/>
        </p:spPr>
        <p:txBody>
          <a:bodyPr wrap="square" lIns="0" tIns="0" rIns="0" bIns="0" rtlCol="0">
            <a:spAutoFit/>
          </a:bodyPr>
          <a:lstStyle/>
          <a:p>
            <a:r>
              <a:rPr kumimoji="1" lang="en-US" altLang="ja-JP" sz="700" dirty="0" err="1"/>
              <a:t>QuestionnaireResponse</a:t>
            </a:r>
            <a:r>
              <a:rPr lang="ja-JP" altLang="en-US" sz="700" dirty="0"/>
              <a:t>を</a:t>
            </a:r>
            <a:r>
              <a:rPr kumimoji="1" lang="en-US" altLang="ja-JP" sz="700" dirty="0"/>
              <a:t>Observation</a:t>
            </a:r>
            <a:r>
              <a:rPr kumimoji="1" lang="ja-JP" altLang="en-US" sz="700" dirty="0"/>
              <a:t>に変換生成し格納する</a:t>
            </a:r>
          </a:p>
        </p:txBody>
      </p:sp>
      <p:sp>
        <p:nvSpPr>
          <p:cNvPr id="104" name="テキスト ボックス 103">
            <a:extLst>
              <a:ext uri="{FF2B5EF4-FFF2-40B4-BE49-F238E27FC236}">
                <a16:creationId xmlns:a16="http://schemas.microsoft.com/office/drawing/2014/main" id="{70EDEE26-9EDC-4AFC-E73F-ABA23843EA2B}"/>
              </a:ext>
            </a:extLst>
          </p:cNvPr>
          <p:cNvSpPr txBox="1"/>
          <p:nvPr/>
        </p:nvSpPr>
        <p:spPr>
          <a:xfrm>
            <a:off x="4429063" y="317368"/>
            <a:ext cx="2124076" cy="366070"/>
          </a:xfrm>
          <a:prstGeom prst="rect">
            <a:avLst/>
          </a:prstGeom>
          <a:solidFill>
            <a:schemeClr val="accent1">
              <a:lumMod val="75000"/>
            </a:schemeClr>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US" altLang="ja-JP" sz="1000" dirty="0"/>
              <a:t>Bundle</a:t>
            </a:r>
            <a:br>
              <a:rPr lang="en-US" altLang="ja-JP" sz="1000" dirty="0"/>
            </a:br>
            <a:r>
              <a:rPr lang="ja-JP" altLang="en-US" sz="1000" dirty="0"/>
              <a:t>（適用後パスデータ）</a:t>
            </a:r>
          </a:p>
        </p:txBody>
      </p:sp>
      <p:sp>
        <p:nvSpPr>
          <p:cNvPr id="106" name="テキスト ボックス 105">
            <a:extLst>
              <a:ext uri="{FF2B5EF4-FFF2-40B4-BE49-F238E27FC236}">
                <a16:creationId xmlns:a16="http://schemas.microsoft.com/office/drawing/2014/main" id="{6C766AF5-669F-3C50-E820-45CE136CD47A}"/>
              </a:ext>
            </a:extLst>
          </p:cNvPr>
          <p:cNvSpPr txBox="1"/>
          <p:nvPr/>
        </p:nvSpPr>
        <p:spPr>
          <a:xfrm>
            <a:off x="4429063" y="615227"/>
            <a:ext cx="534560" cy="184666"/>
          </a:xfrm>
          <a:prstGeom prst="roundRect">
            <a:avLst/>
          </a:prstGeom>
          <a:solidFill>
            <a:schemeClr val="bg1">
              <a:lumMod val="85000"/>
            </a:schemeClr>
          </a:solidFill>
          <a:ln>
            <a:solidFill>
              <a:schemeClr val="tx1"/>
            </a:solidFill>
          </a:ln>
        </p:spPr>
        <p:style>
          <a:lnRef idx="1">
            <a:schemeClr val="accent6"/>
          </a:lnRef>
          <a:fillRef idx="2">
            <a:schemeClr val="accent6"/>
          </a:fillRef>
          <a:effectRef idx="1">
            <a:schemeClr val="accent6"/>
          </a:effectRef>
          <a:fontRef idx="minor">
            <a:schemeClr val="dk1"/>
          </a:fontRef>
        </p:style>
        <p:txBody>
          <a:bodyPr wrap="square" lIns="0" tIns="0" rIns="0" bIns="0" rtlCol="0" anchor="ctr" anchorCtr="0">
            <a:noAutofit/>
          </a:bodyPr>
          <a:lstStyle/>
          <a:p>
            <a:pPr algn="ctr"/>
            <a:r>
              <a:rPr lang="en-US" altLang="ja-JP" sz="600" dirty="0" err="1"/>
              <a:t>Bundle.entry</a:t>
            </a:r>
            <a:endParaRPr kumimoji="1" lang="ja-JP" altLang="en-US" sz="600" dirty="0"/>
          </a:p>
        </p:txBody>
      </p:sp>
      <p:sp>
        <p:nvSpPr>
          <p:cNvPr id="2" name="テキスト ボックス 1">
            <a:extLst>
              <a:ext uri="{FF2B5EF4-FFF2-40B4-BE49-F238E27FC236}">
                <a16:creationId xmlns:a16="http://schemas.microsoft.com/office/drawing/2014/main" id="{BE858AD0-A158-6EAC-8D5A-BDC762DFBA5F}"/>
              </a:ext>
            </a:extLst>
          </p:cNvPr>
          <p:cNvSpPr txBox="1"/>
          <p:nvPr/>
        </p:nvSpPr>
        <p:spPr>
          <a:xfrm>
            <a:off x="4959876" y="738307"/>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3" name="テキスト ボックス 2">
            <a:extLst>
              <a:ext uri="{FF2B5EF4-FFF2-40B4-BE49-F238E27FC236}">
                <a16:creationId xmlns:a16="http://schemas.microsoft.com/office/drawing/2014/main" id="{42A10CD9-6CE2-1B39-6E61-509375F36834}"/>
              </a:ext>
            </a:extLst>
          </p:cNvPr>
          <p:cNvSpPr txBox="1"/>
          <p:nvPr/>
        </p:nvSpPr>
        <p:spPr>
          <a:xfrm>
            <a:off x="4683594" y="1380067"/>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22" name="テキスト ボックス 21">
            <a:extLst>
              <a:ext uri="{FF2B5EF4-FFF2-40B4-BE49-F238E27FC236}">
                <a16:creationId xmlns:a16="http://schemas.microsoft.com/office/drawing/2014/main" id="{8C197BA9-737C-932D-C1CF-484EB65434EA}"/>
              </a:ext>
            </a:extLst>
          </p:cNvPr>
          <p:cNvSpPr txBox="1"/>
          <p:nvPr/>
        </p:nvSpPr>
        <p:spPr>
          <a:xfrm>
            <a:off x="5818533" y="730399"/>
            <a:ext cx="327844" cy="184666"/>
          </a:xfrm>
          <a:prstGeom prst="rect">
            <a:avLst/>
          </a:prstGeom>
          <a:noFill/>
        </p:spPr>
        <p:txBody>
          <a:bodyPr wrap="square" rtlCol="0">
            <a:spAutoFit/>
          </a:bodyPr>
          <a:lstStyle/>
          <a:p>
            <a:r>
              <a:rPr kumimoji="1" lang="en-US" altLang="ja-JP" sz="600" dirty="0"/>
              <a:t>1..1</a:t>
            </a:r>
            <a:endParaRPr kumimoji="1" lang="ja-JP" altLang="en-US" sz="600" dirty="0"/>
          </a:p>
        </p:txBody>
      </p:sp>
      <p:sp>
        <p:nvSpPr>
          <p:cNvPr id="24" name="テキスト ボックス 23">
            <a:extLst>
              <a:ext uri="{FF2B5EF4-FFF2-40B4-BE49-F238E27FC236}">
                <a16:creationId xmlns:a16="http://schemas.microsoft.com/office/drawing/2014/main" id="{2F1F6FCE-8A04-F2A4-4EF1-E1A1A273CB91}"/>
              </a:ext>
            </a:extLst>
          </p:cNvPr>
          <p:cNvSpPr txBox="1"/>
          <p:nvPr/>
        </p:nvSpPr>
        <p:spPr>
          <a:xfrm>
            <a:off x="6976401" y="738307"/>
            <a:ext cx="327844" cy="184666"/>
          </a:xfrm>
          <a:prstGeom prst="rect">
            <a:avLst/>
          </a:prstGeom>
          <a:noFill/>
        </p:spPr>
        <p:txBody>
          <a:bodyPr wrap="square" rtlCol="0">
            <a:spAutoFit/>
          </a:bodyPr>
          <a:lstStyle/>
          <a:p>
            <a:r>
              <a:rPr kumimoji="1" lang="en-US" altLang="ja-JP" sz="600" dirty="0"/>
              <a:t>0..1</a:t>
            </a:r>
            <a:endParaRPr kumimoji="1" lang="ja-JP" altLang="en-US" sz="600" dirty="0"/>
          </a:p>
        </p:txBody>
      </p:sp>
      <p:sp>
        <p:nvSpPr>
          <p:cNvPr id="25" name="テキスト ボックス 24">
            <a:extLst>
              <a:ext uri="{FF2B5EF4-FFF2-40B4-BE49-F238E27FC236}">
                <a16:creationId xmlns:a16="http://schemas.microsoft.com/office/drawing/2014/main" id="{FFDE3A0B-09E4-02CD-751F-73B5E6CBAA5A}"/>
              </a:ext>
            </a:extLst>
          </p:cNvPr>
          <p:cNvSpPr txBox="1"/>
          <p:nvPr/>
        </p:nvSpPr>
        <p:spPr>
          <a:xfrm>
            <a:off x="8109284" y="738307"/>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26" name="テキスト ボックス 25">
            <a:extLst>
              <a:ext uri="{FF2B5EF4-FFF2-40B4-BE49-F238E27FC236}">
                <a16:creationId xmlns:a16="http://schemas.microsoft.com/office/drawing/2014/main" id="{35B9956D-F7F2-0A3E-25F7-276E1C46CB31}"/>
              </a:ext>
            </a:extLst>
          </p:cNvPr>
          <p:cNvSpPr txBox="1"/>
          <p:nvPr/>
        </p:nvSpPr>
        <p:spPr>
          <a:xfrm>
            <a:off x="9228445" y="738307"/>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29" name="テキスト ボックス 28">
            <a:extLst>
              <a:ext uri="{FF2B5EF4-FFF2-40B4-BE49-F238E27FC236}">
                <a16:creationId xmlns:a16="http://schemas.microsoft.com/office/drawing/2014/main" id="{AF6F89AB-3C1B-4A5E-544C-6A0F2593A855}"/>
              </a:ext>
            </a:extLst>
          </p:cNvPr>
          <p:cNvSpPr txBox="1"/>
          <p:nvPr/>
        </p:nvSpPr>
        <p:spPr>
          <a:xfrm>
            <a:off x="4769471" y="5534339"/>
            <a:ext cx="327844" cy="184666"/>
          </a:xfrm>
          <a:prstGeom prst="rect">
            <a:avLst/>
          </a:prstGeom>
          <a:noFill/>
        </p:spPr>
        <p:txBody>
          <a:bodyPr wrap="square" rtlCol="0">
            <a:spAutoFit/>
          </a:bodyPr>
          <a:lstStyle/>
          <a:p>
            <a:r>
              <a:rPr kumimoji="1" lang="en-US" altLang="ja-JP" sz="600" dirty="0"/>
              <a:t>0..</a:t>
            </a:r>
            <a:r>
              <a:rPr kumimoji="1" lang="ja-JP" altLang="en-US" sz="600" dirty="0"/>
              <a:t>*</a:t>
            </a:r>
          </a:p>
        </p:txBody>
      </p:sp>
      <p:sp>
        <p:nvSpPr>
          <p:cNvPr id="30" name="テキスト ボックス 29">
            <a:extLst>
              <a:ext uri="{FF2B5EF4-FFF2-40B4-BE49-F238E27FC236}">
                <a16:creationId xmlns:a16="http://schemas.microsoft.com/office/drawing/2014/main" id="{80AA005D-20D6-558E-0498-C8CDFA2E1D28}"/>
              </a:ext>
            </a:extLst>
          </p:cNvPr>
          <p:cNvSpPr txBox="1"/>
          <p:nvPr/>
        </p:nvSpPr>
        <p:spPr>
          <a:xfrm>
            <a:off x="340910" y="413469"/>
            <a:ext cx="3462486" cy="523220"/>
          </a:xfrm>
          <a:prstGeom prst="rect">
            <a:avLst/>
          </a:prstGeom>
          <a:noFill/>
        </p:spPr>
        <p:txBody>
          <a:bodyPr wrap="square" rtlCol="0">
            <a:spAutoFit/>
          </a:bodyPr>
          <a:lstStyle/>
          <a:p>
            <a:r>
              <a:rPr kumimoji="1" lang="en-US" altLang="ja-JP" sz="1400" dirty="0"/>
              <a:t>ePath </a:t>
            </a:r>
            <a:r>
              <a:rPr kumimoji="1" lang="ja-JP" altLang="en-US" sz="1400" dirty="0"/>
              <a:t>仕様</a:t>
            </a:r>
            <a:r>
              <a:rPr lang="en-US" altLang="ja-JP" sz="1400" dirty="0"/>
              <a:t>【</a:t>
            </a:r>
            <a:r>
              <a:rPr lang="ja-JP" altLang="en-US" sz="1400" dirty="0"/>
              <a:t>適用後パスデータ</a:t>
            </a:r>
            <a:r>
              <a:rPr lang="en-US" altLang="ja-JP" sz="1400" dirty="0"/>
              <a:t>】</a:t>
            </a:r>
          </a:p>
          <a:p>
            <a:r>
              <a:rPr lang="ja-JP" altLang="en-US" sz="1400" dirty="0"/>
              <a:t>メッセージ</a:t>
            </a:r>
            <a:r>
              <a:rPr kumimoji="1" lang="ja-JP" altLang="en-US" sz="1400" dirty="0"/>
              <a:t>モデル</a:t>
            </a:r>
          </a:p>
        </p:txBody>
      </p:sp>
      <p:sp>
        <p:nvSpPr>
          <p:cNvPr id="37" name="テキスト ボックス 36">
            <a:extLst>
              <a:ext uri="{FF2B5EF4-FFF2-40B4-BE49-F238E27FC236}">
                <a16:creationId xmlns:a16="http://schemas.microsoft.com/office/drawing/2014/main" id="{E316601C-1479-1983-335B-928C4C0407F1}"/>
              </a:ext>
            </a:extLst>
          </p:cNvPr>
          <p:cNvSpPr txBox="1"/>
          <p:nvPr/>
        </p:nvSpPr>
        <p:spPr>
          <a:xfrm>
            <a:off x="7375090" y="1937772"/>
            <a:ext cx="1999935" cy="215444"/>
          </a:xfrm>
          <a:prstGeom prst="rect">
            <a:avLst/>
          </a:prstGeom>
          <a:noFill/>
        </p:spPr>
        <p:txBody>
          <a:bodyPr wrap="square" lIns="0" tIns="0" rIns="0" bIns="0" rtlCol="0">
            <a:spAutoFit/>
          </a:bodyPr>
          <a:lstStyle/>
          <a:p>
            <a:r>
              <a:rPr kumimoji="1" lang="en-US" altLang="ja-JP" sz="700" dirty="0">
                <a:solidFill>
                  <a:schemeClr val="bg1"/>
                </a:solidFill>
              </a:rPr>
              <a:t>extension </a:t>
            </a:r>
            <a:r>
              <a:rPr kumimoji="1" lang="ja-JP" altLang="en-US" sz="700" dirty="0">
                <a:solidFill>
                  <a:schemeClr val="bg1"/>
                </a:solidFill>
              </a:rPr>
              <a:t>パス中止理由コード・名称・テキスト</a:t>
            </a:r>
          </a:p>
          <a:p>
            <a:r>
              <a:rPr kumimoji="1" lang="en-US" altLang="ja-JP" sz="700" dirty="0" err="1">
                <a:solidFill>
                  <a:schemeClr val="bg1"/>
                </a:solidFill>
              </a:rPr>
              <a:t>lifecycleStatus</a:t>
            </a:r>
            <a:r>
              <a:rPr kumimoji="1" lang="en-US" altLang="ja-JP" sz="700" dirty="0">
                <a:solidFill>
                  <a:schemeClr val="bg1"/>
                </a:solidFill>
              </a:rPr>
              <a:t> </a:t>
            </a:r>
            <a:r>
              <a:rPr kumimoji="1" lang="ja-JP" altLang="en-US" sz="700" dirty="0">
                <a:solidFill>
                  <a:schemeClr val="bg1"/>
                </a:solidFill>
              </a:rPr>
              <a:t>パス終了区分</a:t>
            </a:r>
          </a:p>
        </p:txBody>
      </p:sp>
      <p:cxnSp>
        <p:nvCxnSpPr>
          <p:cNvPr id="38" name="コネクタ: カギ線 37">
            <a:extLst>
              <a:ext uri="{FF2B5EF4-FFF2-40B4-BE49-F238E27FC236}">
                <a16:creationId xmlns:a16="http://schemas.microsoft.com/office/drawing/2014/main" id="{C8975DC2-0C95-3750-0C25-AD39439393B5}"/>
              </a:ext>
            </a:extLst>
          </p:cNvPr>
          <p:cNvCxnSpPr>
            <a:cxnSpLocks/>
            <a:stCxn id="53" idx="1"/>
          </p:cNvCxnSpPr>
          <p:nvPr/>
        </p:nvCxnSpPr>
        <p:spPr>
          <a:xfrm rot="10800000">
            <a:off x="5038241" y="2125702"/>
            <a:ext cx="1514898" cy="997656"/>
          </a:xfrm>
          <a:prstGeom prst="bentConnector3">
            <a:avLst>
              <a:gd name="adj1" fmla="val 99226"/>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B6DF6FD7-65C7-37D9-9EF9-1CD6DD77DBA0}"/>
              </a:ext>
            </a:extLst>
          </p:cNvPr>
          <p:cNvSpPr txBox="1"/>
          <p:nvPr/>
        </p:nvSpPr>
        <p:spPr>
          <a:xfrm>
            <a:off x="5817729" y="2102217"/>
            <a:ext cx="1220115" cy="184666"/>
          </a:xfrm>
          <a:prstGeom prst="rect">
            <a:avLst/>
          </a:prstGeom>
          <a:noFill/>
        </p:spPr>
        <p:txBody>
          <a:bodyPr wrap="square" rtlCol="0">
            <a:spAutoFit/>
          </a:bodyPr>
          <a:lstStyle/>
          <a:p>
            <a:r>
              <a:rPr lang="ja-JP" altLang="en-US" sz="600" dirty="0"/>
              <a:t>↑↓ 論理的な関係は </a:t>
            </a:r>
            <a:r>
              <a:rPr kumimoji="1" lang="en-US" altLang="ja-JP" sz="600" dirty="0"/>
              <a:t>1..*</a:t>
            </a:r>
            <a:endParaRPr kumimoji="1" lang="ja-JP" altLang="en-US" sz="600" dirty="0"/>
          </a:p>
        </p:txBody>
      </p:sp>
      <p:cxnSp>
        <p:nvCxnSpPr>
          <p:cNvPr id="49" name="コネクタ: カギ線 48">
            <a:extLst>
              <a:ext uri="{FF2B5EF4-FFF2-40B4-BE49-F238E27FC236}">
                <a16:creationId xmlns:a16="http://schemas.microsoft.com/office/drawing/2014/main" id="{82305690-0D2D-3B65-171E-FFB605D86077}"/>
              </a:ext>
            </a:extLst>
          </p:cNvPr>
          <p:cNvCxnSpPr>
            <a:cxnSpLocks/>
            <a:stCxn id="54" idx="1"/>
          </p:cNvCxnSpPr>
          <p:nvPr/>
        </p:nvCxnSpPr>
        <p:spPr>
          <a:xfrm rot="10800000">
            <a:off x="5886385" y="2843142"/>
            <a:ext cx="1439064" cy="1183536"/>
          </a:xfrm>
          <a:prstGeom prst="bentConnector3">
            <a:avLst>
              <a:gd name="adj1" fmla="val 96268"/>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コネクタ: カギ線 49">
            <a:extLst>
              <a:ext uri="{FF2B5EF4-FFF2-40B4-BE49-F238E27FC236}">
                <a16:creationId xmlns:a16="http://schemas.microsoft.com/office/drawing/2014/main" id="{8934AA53-DD8F-67C4-F09F-5E9581C14AD3}"/>
              </a:ext>
            </a:extLst>
          </p:cNvPr>
          <p:cNvCxnSpPr>
            <a:cxnSpLocks/>
            <a:stCxn id="54" idx="1"/>
          </p:cNvCxnSpPr>
          <p:nvPr/>
        </p:nvCxnSpPr>
        <p:spPr>
          <a:xfrm rot="10800000">
            <a:off x="4866553" y="2114754"/>
            <a:ext cx="2458897" cy="1911924"/>
          </a:xfrm>
          <a:prstGeom prst="bentConnector3">
            <a:avLst>
              <a:gd name="adj1" fmla="val 99824"/>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77" name="テキスト ボックス 76">
            <a:extLst>
              <a:ext uri="{FF2B5EF4-FFF2-40B4-BE49-F238E27FC236}">
                <a16:creationId xmlns:a16="http://schemas.microsoft.com/office/drawing/2014/main" id="{D940CFE4-5707-6ABB-C244-2F010F1F1A25}"/>
              </a:ext>
            </a:extLst>
          </p:cNvPr>
          <p:cNvSpPr txBox="1"/>
          <p:nvPr/>
        </p:nvSpPr>
        <p:spPr>
          <a:xfrm>
            <a:off x="6803063" y="2847217"/>
            <a:ext cx="1220115" cy="184666"/>
          </a:xfrm>
          <a:prstGeom prst="rect">
            <a:avLst/>
          </a:prstGeom>
          <a:noFill/>
        </p:spPr>
        <p:txBody>
          <a:bodyPr wrap="square" rtlCol="0">
            <a:spAutoFit/>
          </a:bodyPr>
          <a:lstStyle/>
          <a:p>
            <a:r>
              <a:rPr lang="ja-JP" altLang="en-US" sz="600" dirty="0"/>
              <a:t>↑↓ 論理的な関係は </a:t>
            </a:r>
            <a:r>
              <a:rPr kumimoji="1" lang="en-US" altLang="ja-JP" sz="600" dirty="0"/>
              <a:t>1..*</a:t>
            </a:r>
            <a:endParaRPr kumimoji="1" lang="ja-JP" altLang="en-US" sz="600" dirty="0"/>
          </a:p>
        </p:txBody>
      </p:sp>
      <p:sp>
        <p:nvSpPr>
          <p:cNvPr id="78" name="テキスト ボックス 77">
            <a:extLst>
              <a:ext uri="{FF2B5EF4-FFF2-40B4-BE49-F238E27FC236}">
                <a16:creationId xmlns:a16="http://schemas.microsoft.com/office/drawing/2014/main" id="{4F549954-593A-0233-ED51-8B23603CD586}"/>
              </a:ext>
            </a:extLst>
          </p:cNvPr>
          <p:cNvSpPr txBox="1"/>
          <p:nvPr/>
        </p:nvSpPr>
        <p:spPr>
          <a:xfrm>
            <a:off x="7615837" y="3745158"/>
            <a:ext cx="1220115" cy="184666"/>
          </a:xfrm>
          <a:prstGeom prst="rect">
            <a:avLst/>
          </a:prstGeom>
          <a:noFill/>
        </p:spPr>
        <p:txBody>
          <a:bodyPr wrap="square" rtlCol="0">
            <a:spAutoFit/>
          </a:bodyPr>
          <a:lstStyle/>
          <a:p>
            <a:r>
              <a:rPr lang="ja-JP" altLang="en-US" sz="600" dirty="0"/>
              <a:t>↑↓ 論理的な関係は </a:t>
            </a:r>
            <a:r>
              <a:rPr lang="en-US" altLang="ja-JP" sz="600" dirty="0"/>
              <a:t>0</a:t>
            </a:r>
            <a:r>
              <a:rPr kumimoji="1" lang="en-US" altLang="ja-JP" sz="600" dirty="0"/>
              <a:t>..*</a:t>
            </a:r>
            <a:endParaRPr kumimoji="1" lang="ja-JP" altLang="en-US" sz="600" dirty="0"/>
          </a:p>
        </p:txBody>
      </p:sp>
      <p:sp>
        <p:nvSpPr>
          <p:cNvPr id="83" name="テキスト ボックス 82">
            <a:extLst>
              <a:ext uri="{FF2B5EF4-FFF2-40B4-BE49-F238E27FC236}">
                <a16:creationId xmlns:a16="http://schemas.microsoft.com/office/drawing/2014/main" id="{EE6DB0CA-2267-C900-26FB-6C407AA1D1FF}"/>
              </a:ext>
            </a:extLst>
          </p:cNvPr>
          <p:cNvSpPr txBox="1"/>
          <p:nvPr/>
        </p:nvSpPr>
        <p:spPr>
          <a:xfrm>
            <a:off x="4744111" y="1793772"/>
            <a:ext cx="1827352" cy="107722"/>
          </a:xfrm>
          <a:prstGeom prst="rect">
            <a:avLst/>
          </a:prstGeom>
          <a:noFill/>
        </p:spPr>
        <p:txBody>
          <a:bodyPr wrap="square" lIns="0" tIns="0" rIns="0" bIns="0" rtlCol="0">
            <a:spAutoFit/>
          </a:bodyPr>
          <a:lstStyle/>
          <a:p>
            <a:r>
              <a:rPr lang="en-US" altLang="ja-JP" sz="700" dirty="0">
                <a:solidFill>
                  <a:schemeClr val="bg1"/>
                </a:solidFill>
              </a:rPr>
              <a:t>identifier 1</a:t>
            </a:r>
            <a:r>
              <a:rPr lang="en-US" altLang="ja-JP" sz="700" dirty="0" smtClean="0">
                <a:solidFill>
                  <a:schemeClr val="bg1"/>
                </a:solidFill>
              </a:rPr>
              <a:t>..*</a:t>
            </a:r>
            <a:endParaRPr lang="ja-JP" altLang="en-US" sz="700" dirty="0">
              <a:solidFill>
                <a:schemeClr val="bg1"/>
              </a:solidFill>
            </a:endParaRPr>
          </a:p>
        </p:txBody>
      </p:sp>
      <p:sp>
        <p:nvSpPr>
          <p:cNvPr id="84" name="テキスト ボックス 83">
            <a:extLst>
              <a:ext uri="{FF2B5EF4-FFF2-40B4-BE49-F238E27FC236}">
                <a16:creationId xmlns:a16="http://schemas.microsoft.com/office/drawing/2014/main" id="{D33CD206-4FF2-4C38-73BD-71BDDFE95617}"/>
              </a:ext>
            </a:extLst>
          </p:cNvPr>
          <p:cNvSpPr txBox="1"/>
          <p:nvPr/>
        </p:nvSpPr>
        <p:spPr>
          <a:xfrm>
            <a:off x="5886385" y="2573712"/>
            <a:ext cx="1589801" cy="107722"/>
          </a:xfrm>
          <a:prstGeom prst="rect">
            <a:avLst/>
          </a:prstGeom>
          <a:noFill/>
        </p:spPr>
        <p:txBody>
          <a:bodyPr wrap="square" lIns="0" tIns="0" rIns="0" bIns="0" rtlCol="0">
            <a:spAutoFit/>
          </a:bodyPr>
          <a:lstStyle/>
          <a:p>
            <a:r>
              <a:rPr lang="en-US" altLang="ja-JP" sz="700" dirty="0">
                <a:solidFill>
                  <a:schemeClr val="bg1"/>
                </a:solidFill>
              </a:rPr>
              <a:t>identifier 1</a:t>
            </a:r>
            <a:r>
              <a:rPr lang="en-US" altLang="ja-JP" sz="700" dirty="0" smtClean="0">
                <a:solidFill>
                  <a:schemeClr val="bg1"/>
                </a:solidFill>
              </a:rPr>
              <a:t>..*</a:t>
            </a:r>
            <a:endParaRPr lang="ja-JP" altLang="en-US" sz="700" dirty="0">
              <a:solidFill>
                <a:schemeClr val="bg1"/>
              </a:solidFill>
            </a:endParaRPr>
          </a:p>
        </p:txBody>
      </p:sp>
      <p:sp>
        <p:nvSpPr>
          <p:cNvPr id="92" name="テキスト ボックス 91">
            <a:extLst>
              <a:ext uri="{FF2B5EF4-FFF2-40B4-BE49-F238E27FC236}">
                <a16:creationId xmlns:a16="http://schemas.microsoft.com/office/drawing/2014/main" id="{DF971C0A-5D7E-BF58-860C-105D53AD85FC}"/>
              </a:ext>
            </a:extLst>
          </p:cNvPr>
          <p:cNvSpPr txBox="1"/>
          <p:nvPr/>
        </p:nvSpPr>
        <p:spPr>
          <a:xfrm>
            <a:off x="6830059" y="3319984"/>
            <a:ext cx="1642581" cy="323165"/>
          </a:xfrm>
          <a:prstGeom prst="rect">
            <a:avLst/>
          </a:prstGeom>
          <a:noFill/>
        </p:spPr>
        <p:txBody>
          <a:bodyPr wrap="square" lIns="0" tIns="0" rIns="0" bIns="0" rtlCol="0">
            <a:spAutoFit/>
          </a:bodyPr>
          <a:lstStyle/>
          <a:p>
            <a:r>
              <a:rPr lang="en-US" altLang="ja-JP" sz="700" dirty="0">
                <a:solidFill>
                  <a:schemeClr val="bg1"/>
                </a:solidFill>
              </a:rPr>
              <a:t>identifier </a:t>
            </a:r>
            <a:r>
              <a:rPr lang="en-US" altLang="ja-JP" sz="700" dirty="0" smtClean="0">
                <a:solidFill>
                  <a:schemeClr val="bg1"/>
                </a:solidFill>
              </a:rPr>
              <a:t>1..* </a:t>
            </a:r>
          </a:p>
          <a:p>
            <a:r>
              <a:rPr lang="en-US" altLang="ja-JP" sz="700" dirty="0" smtClean="0">
                <a:solidFill>
                  <a:schemeClr val="bg1"/>
                </a:solidFill>
              </a:rPr>
              <a:t>category</a:t>
            </a:r>
            <a:endParaRPr lang="en-US" altLang="ja-JP" sz="700" dirty="0">
              <a:solidFill>
                <a:schemeClr val="bg1"/>
              </a:solidFill>
            </a:endParaRPr>
          </a:p>
          <a:p>
            <a:r>
              <a:rPr lang="en-US" altLang="ja-JP" sz="700" dirty="0">
                <a:solidFill>
                  <a:schemeClr val="bg1"/>
                </a:solidFill>
              </a:rPr>
              <a:t> </a:t>
            </a:r>
            <a:r>
              <a:rPr lang="ja-JP" altLang="en-US" sz="700" dirty="0">
                <a:solidFill>
                  <a:schemeClr val="bg1"/>
                </a:solidFill>
              </a:rPr>
              <a:t>アウトカムコード・名称</a:t>
            </a:r>
            <a:endParaRPr lang="en-US" altLang="ja-JP" sz="700" dirty="0">
              <a:solidFill>
                <a:schemeClr val="bg1"/>
              </a:solidFill>
            </a:endParaRPr>
          </a:p>
        </p:txBody>
      </p:sp>
      <p:sp>
        <p:nvSpPr>
          <p:cNvPr id="292" name="テキスト ボックス 291">
            <a:extLst>
              <a:ext uri="{FF2B5EF4-FFF2-40B4-BE49-F238E27FC236}">
                <a16:creationId xmlns:a16="http://schemas.microsoft.com/office/drawing/2014/main" id="{37023592-DE52-2186-72E9-B8AAEA7CFB0D}"/>
              </a:ext>
            </a:extLst>
          </p:cNvPr>
          <p:cNvSpPr txBox="1"/>
          <p:nvPr/>
        </p:nvSpPr>
        <p:spPr>
          <a:xfrm>
            <a:off x="7548570" y="4250399"/>
            <a:ext cx="1642581" cy="323165"/>
          </a:xfrm>
          <a:prstGeom prst="rect">
            <a:avLst/>
          </a:prstGeom>
          <a:noFill/>
        </p:spPr>
        <p:txBody>
          <a:bodyPr wrap="square" lIns="0" tIns="0" rIns="0" bIns="0" rtlCol="0">
            <a:spAutoFit/>
          </a:bodyPr>
          <a:lstStyle/>
          <a:p>
            <a:r>
              <a:rPr lang="en-US" altLang="ja-JP" sz="700" dirty="0">
                <a:solidFill>
                  <a:schemeClr val="bg1"/>
                </a:solidFill>
              </a:rPr>
              <a:t>identifier </a:t>
            </a:r>
            <a:r>
              <a:rPr lang="en-US" altLang="ja-JP" sz="700" dirty="0" smtClean="0">
                <a:solidFill>
                  <a:schemeClr val="bg1"/>
                </a:solidFill>
              </a:rPr>
              <a:t>1..* </a:t>
            </a:r>
          </a:p>
          <a:p>
            <a:r>
              <a:rPr lang="en-US" altLang="ja-JP" sz="700" dirty="0" smtClean="0">
                <a:solidFill>
                  <a:schemeClr val="bg1"/>
                </a:solidFill>
              </a:rPr>
              <a:t>category</a:t>
            </a:r>
            <a:endParaRPr lang="en-US" altLang="ja-JP" sz="700" dirty="0">
              <a:solidFill>
                <a:schemeClr val="bg1"/>
              </a:solidFill>
            </a:endParaRPr>
          </a:p>
          <a:p>
            <a:r>
              <a:rPr lang="ja-JP" altLang="en-US" sz="700" dirty="0">
                <a:solidFill>
                  <a:schemeClr val="bg1"/>
                </a:solidFill>
              </a:rPr>
              <a:t>観察項目コード・名称</a:t>
            </a:r>
            <a:endParaRPr lang="en-US" altLang="ja-JP" sz="700" dirty="0">
              <a:solidFill>
                <a:schemeClr val="bg1"/>
              </a:solidFill>
            </a:endParaRPr>
          </a:p>
        </p:txBody>
      </p:sp>
      <p:sp>
        <p:nvSpPr>
          <p:cNvPr id="306" name="テキスト ボックス 305">
            <a:extLst>
              <a:ext uri="{FF2B5EF4-FFF2-40B4-BE49-F238E27FC236}">
                <a16:creationId xmlns:a16="http://schemas.microsoft.com/office/drawing/2014/main" id="{F5B834B6-8F36-EE5E-45F6-EF6773003084}"/>
              </a:ext>
            </a:extLst>
          </p:cNvPr>
          <p:cNvSpPr txBox="1"/>
          <p:nvPr/>
        </p:nvSpPr>
        <p:spPr>
          <a:xfrm>
            <a:off x="8268665" y="2586994"/>
            <a:ext cx="1737100" cy="107722"/>
          </a:xfrm>
          <a:prstGeom prst="rect">
            <a:avLst/>
          </a:prstGeom>
          <a:noFill/>
        </p:spPr>
        <p:txBody>
          <a:bodyPr wrap="square" lIns="0" tIns="0" rIns="0" bIns="0" rtlCol="0">
            <a:spAutoFit/>
          </a:bodyPr>
          <a:lstStyle/>
          <a:p>
            <a:r>
              <a:rPr kumimoji="1" lang="en-US" altLang="ja-JP" sz="700" dirty="0" err="1" smtClean="0">
                <a:solidFill>
                  <a:schemeClr val="bg1"/>
                </a:solidFill>
              </a:rPr>
              <a:t>statusDate</a:t>
            </a:r>
            <a:r>
              <a:rPr kumimoji="1" lang="en-US" altLang="ja-JP" sz="700" dirty="0" smtClean="0">
                <a:solidFill>
                  <a:schemeClr val="bg1"/>
                </a:solidFill>
              </a:rPr>
              <a:t> </a:t>
            </a:r>
            <a:r>
              <a:rPr kumimoji="1" lang="ja-JP" altLang="en-US" sz="700" dirty="0">
                <a:solidFill>
                  <a:schemeClr val="bg1"/>
                </a:solidFill>
              </a:rPr>
              <a:t>記録</a:t>
            </a:r>
            <a:r>
              <a:rPr kumimoji="1" lang="ja-JP" altLang="en-US" sz="700" dirty="0" smtClean="0">
                <a:solidFill>
                  <a:schemeClr val="bg1"/>
                </a:solidFill>
              </a:rPr>
              <a:t>日</a:t>
            </a:r>
            <a:endParaRPr kumimoji="1" lang="ja-JP" altLang="en-US" sz="700" dirty="0">
              <a:solidFill>
                <a:schemeClr val="bg1"/>
              </a:solidFill>
            </a:endParaRPr>
          </a:p>
        </p:txBody>
      </p:sp>
      <p:sp>
        <p:nvSpPr>
          <p:cNvPr id="307" name="テキスト ボックス 306">
            <a:extLst>
              <a:ext uri="{FF2B5EF4-FFF2-40B4-BE49-F238E27FC236}">
                <a16:creationId xmlns:a16="http://schemas.microsoft.com/office/drawing/2014/main" id="{AEE0AF22-D239-4C29-8A76-855AC06A1ED2}"/>
              </a:ext>
            </a:extLst>
          </p:cNvPr>
          <p:cNvSpPr txBox="1"/>
          <p:nvPr/>
        </p:nvSpPr>
        <p:spPr>
          <a:xfrm>
            <a:off x="8971964" y="3340843"/>
            <a:ext cx="1639751" cy="215444"/>
          </a:xfrm>
          <a:prstGeom prst="rect">
            <a:avLst/>
          </a:prstGeom>
          <a:noFill/>
        </p:spPr>
        <p:txBody>
          <a:bodyPr wrap="square" lIns="0" tIns="0" rIns="0" bIns="0" rtlCol="0">
            <a:spAutoFit/>
          </a:bodyPr>
          <a:lstStyle/>
          <a:p>
            <a:r>
              <a:rPr kumimoji="1" lang="en-US" altLang="ja-JP" sz="700" dirty="0" err="1" smtClean="0">
                <a:solidFill>
                  <a:schemeClr val="bg1"/>
                </a:solidFill>
              </a:rPr>
              <a:t>achievementStatus</a:t>
            </a:r>
            <a:r>
              <a:rPr kumimoji="1" lang="en-US" altLang="ja-JP" sz="700" dirty="0" smtClean="0">
                <a:solidFill>
                  <a:schemeClr val="bg1"/>
                </a:solidFill>
              </a:rPr>
              <a:t> </a:t>
            </a:r>
            <a:r>
              <a:rPr kumimoji="1" lang="ja-JP" altLang="en-US" sz="700" dirty="0">
                <a:solidFill>
                  <a:schemeClr val="bg1"/>
                </a:solidFill>
              </a:rPr>
              <a:t>評価状況</a:t>
            </a:r>
            <a:endParaRPr kumimoji="1" lang="en-US" altLang="ja-JP" sz="700" dirty="0">
              <a:solidFill>
                <a:schemeClr val="bg1"/>
              </a:solidFill>
            </a:endParaRPr>
          </a:p>
          <a:p>
            <a:r>
              <a:rPr kumimoji="1" lang="ja-JP" altLang="en-US" sz="700" dirty="0" smtClean="0">
                <a:solidFill>
                  <a:schemeClr val="bg1"/>
                </a:solidFill>
              </a:rPr>
              <a:t>（</a:t>
            </a:r>
            <a:r>
              <a:rPr kumimoji="1" lang="ja-JP" altLang="en-US" sz="700" dirty="0">
                <a:solidFill>
                  <a:schemeClr val="bg1"/>
                </a:solidFill>
              </a:rPr>
              <a:t>達成</a:t>
            </a:r>
            <a:r>
              <a:rPr kumimoji="1" lang="en-US" altLang="ja-JP" sz="700" dirty="0">
                <a:solidFill>
                  <a:schemeClr val="bg1"/>
                </a:solidFill>
              </a:rPr>
              <a:t>/</a:t>
            </a:r>
            <a:r>
              <a:rPr kumimoji="1" lang="ja-JP" altLang="en-US" sz="700" dirty="0">
                <a:solidFill>
                  <a:schemeClr val="bg1"/>
                </a:solidFill>
              </a:rPr>
              <a:t>バリアンス</a:t>
            </a:r>
            <a:r>
              <a:rPr kumimoji="1" lang="en-US" altLang="ja-JP" sz="700" dirty="0">
                <a:solidFill>
                  <a:schemeClr val="bg1"/>
                </a:solidFill>
              </a:rPr>
              <a:t>/</a:t>
            </a:r>
            <a:r>
              <a:rPr kumimoji="1" lang="ja-JP" altLang="en-US" sz="700" dirty="0">
                <a:solidFill>
                  <a:schemeClr val="bg1"/>
                </a:solidFill>
              </a:rPr>
              <a:t>未評価）</a:t>
            </a:r>
          </a:p>
        </p:txBody>
      </p:sp>
      <p:sp>
        <p:nvSpPr>
          <p:cNvPr id="308" name="テキスト ボックス 307">
            <a:extLst>
              <a:ext uri="{FF2B5EF4-FFF2-40B4-BE49-F238E27FC236}">
                <a16:creationId xmlns:a16="http://schemas.microsoft.com/office/drawing/2014/main" id="{66AA1AF6-CA96-DA16-F95F-B9B1538E2193}"/>
              </a:ext>
            </a:extLst>
          </p:cNvPr>
          <p:cNvSpPr txBox="1"/>
          <p:nvPr/>
        </p:nvSpPr>
        <p:spPr>
          <a:xfrm>
            <a:off x="9681397" y="4588646"/>
            <a:ext cx="1868807" cy="323165"/>
          </a:xfrm>
          <a:prstGeom prst="rect">
            <a:avLst/>
          </a:prstGeom>
          <a:noFill/>
        </p:spPr>
        <p:txBody>
          <a:bodyPr wrap="square" lIns="0" tIns="0" rIns="0" bIns="0" rtlCol="0">
            <a:spAutoFit/>
          </a:bodyPr>
          <a:lstStyle/>
          <a:p>
            <a:r>
              <a:rPr kumimoji="1" lang="en-US" altLang="ja-JP" sz="700" dirty="0" err="1" smtClean="0">
                <a:solidFill>
                  <a:schemeClr val="bg1"/>
                </a:solidFill>
              </a:rPr>
              <a:t>achievementStatus</a:t>
            </a:r>
            <a:r>
              <a:rPr kumimoji="1" lang="en-US" altLang="ja-JP" sz="700" dirty="0" smtClean="0">
                <a:solidFill>
                  <a:schemeClr val="bg1"/>
                </a:solidFill>
              </a:rPr>
              <a:t> </a:t>
            </a:r>
            <a:r>
              <a:rPr kumimoji="1" lang="ja-JP" altLang="en-US" sz="700" dirty="0">
                <a:solidFill>
                  <a:schemeClr val="bg1"/>
                </a:solidFill>
              </a:rPr>
              <a:t>評価状況</a:t>
            </a:r>
            <a:endParaRPr kumimoji="1" lang="en-US" altLang="ja-JP" sz="700" dirty="0">
              <a:solidFill>
                <a:schemeClr val="bg1"/>
              </a:solidFill>
            </a:endParaRPr>
          </a:p>
          <a:p>
            <a:r>
              <a:rPr lang="ja-JP" altLang="en-US" sz="700" dirty="0">
                <a:solidFill>
                  <a:schemeClr val="bg1"/>
                </a:solidFill>
              </a:rPr>
              <a:t>　　　　　　</a:t>
            </a:r>
            <a:r>
              <a:rPr kumimoji="1" lang="ja-JP" altLang="en-US" sz="700" dirty="0">
                <a:solidFill>
                  <a:schemeClr val="bg1"/>
                </a:solidFill>
              </a:rPr>
              <a:t>（達成</a:t>
            </a:r>
            <a:r>
              <a:rPr kumimoji="1" lang="en-US" altLang="ja-JP" sz="700" dirty="0">
                <a:solidFill>
                  <a:schemeClr val="bg1"/>
                </a:solidFill>
              </a:rPr>
              <a:t>/</a:t>
            </a:r>
            <a:r>
              <a:rPr kumimoji="1" lang="ja-JP" altLang="en-US" sz="700" dirty="0">
                <a:solidFill>
                  <a:schemeClr val="bg1"/>
                </a:solidFill>
              </a:rPr>
              <a:t>バリアンス</a:t>
            </a:r>
            <a:r>
              <a:rPr kumimoji="1" lang="en-US" altLang="ja-JP" sz="700" dirty="0">
                <a:solidFill>
                  <a:schemeClr val="bg1"/>
                </a:solidFill>
              </a:rPr>
              <a:t>/</a:t>
            </a:r>
            <a:r>
              <a:rPr kumimoji="1" lang="ja-JP" altLang="en-US" sz="700" dirty="0">
                <a:solidFill>
                  <a:schemeClr val="bg1"/>
                </a:solidFill>
              </a:rPr>
              <a:t>未評価）</a:t>
            </a:r>
          </a:p>
          <a:p>
            <a:r>
              <a:rPr kumimoji="1" lang="en-US" altLang="ja-JP" sz="700" dirty="0" err="1">
                <a:solidFill>
                  <a:schemeClr val="bg1"/>
                </a:solidFill>
              </a:rPr>
              <a:t>target.detail</a:t>
            </a:r>
            <a:r>
              <a:rPr kumimoji="1" lang="en-US" altLang="ja-JP" sz="700" dirty="0">
                <a:solidFill>
                  <a:schemeClr val="bg1"/>
                </a:solidFill>
              </a:rPr>
              <a:t>[x] </a:t>
            </a:r>
            <a:r>
              <a:rPr kumimoji="1" lang="ja-JP" altLang="en-US" sz="700" dirty="0">
                <a:solidFill>
                  <a:schemeClr val="bg1"/>
                </a:solidFill>
              </a:rPr>
              <a:t>適正値</a:t>
            </a:r>
          </a:p>
        </p:txBody>
      </p:sp>
      <p:sp>
        <p:nvSpPr>
          <p:cNvPr id="34" name="テキスト ボックス 33">
            <a:extLst>
              <a:ext uri="{FF2B5EF4-FFF2-40B4-BE49-F238E27FC236}">
                <a16:creationId xmlns:a16="http://schemas.microsoft.com/office/drawing/2014/main" id="{609722F5-182E-77AD-5099-9EE3D1794F9B}"/>
              </a:ext>
            </a:extLst>
          </p:cNvPr>
          <p:cNvSpPr txBox="1"/>
          <p:nvPr/>
        </p:nvSpPr>
        <p:spPr>
          <a:xfrm>
            <a:off x="9881595" y="5652011"/>
            <a:ext cx="1562959" cy="107722"/>
          </a:xfrm>
          <a:prstGeom prst="rect">
            <a:avLst/>
          </a:prstGeom>
          <a:noFill/>
        </p:spPr>
        <p:txBody>
          <a:bodyPr wrap="square" lIns="0" tIns="0" rIns="0" bIns="0" rtlCol="0">
            <a:spAutoFit/>
          </a:bodyPr>
          <a:lstStyle/>
          <a:p>
            <a:r>
              <a:rPr kumimoji="1" lang="en-US" altLang="ja-JP" sz="700" dirty="0">
                <a:solidFill>
                  <a:schemeClr val="bg1"/>
                </a:solidFill>
              </a:rPr>
              <a:t>code</a:t>
            </a:r>
            <a:r>
              <a:rPr kumimoji="1" lang="ja-JP" altLang="en-US" sz="700" dirty="0">
                <a:solidFill>
                  <a:schemeClr val="bg1"/>
                </a:solidFill>
              </a:rPr>
              <a:t> 観察項目</a:t>
            </a:r>
            <a:r>
              <a:rPr kumimoji="1" lang="ja-JP" altLang="en-US" sz="700" dirty="0" smtClean="0">
                <a:solidFill>
                  <a:schemeClr val="bg1"/>
                </a:solidFill>
              </a:rPr>
              <a:t>コード</a:t>
            </a:r>
            <a:r>
              <a:rPr lang="ja-JP" altLang="en-US" sz="700" dirty="0">
                <a:solidFill>
                  <a:schemeClr val="bg1"/>
                </a:solidFill>
              </a:rPr>
              <a:t>、</a:t>
            </a:r>
            <a:r>
              <a:rPr kumimoji="1" lang="en-US" altLang="ja-JP" sz="700" dirty="0" smtClean="0">
                <a:solidFill>
                  <a:schemeClr val="bg1"/>
                </a:solidFill>
              </a:rPr>
              <a:t>value[x</a:t>
            </a:r>
            <a:r>
              <a:rPr kumimoji="1" lang="en-US" altLang="ja-JP" sz="700" dirty="0">
                <a:solidFill>
                  <a:schemeClr val="bg1"/>
                </a:solidFill>
              </a:rPr>
              <a:t>]</a:t>
            </a:r>
            <a:r>
              <a:rPr kumimoji="1" lang="ja-JP" altLang="en-US" sz="700" dirty="0">
                <a:solidFill>
                  <a:schemeClr val="bg1"/>
                </a:solidFill>
              </a:rPr>
              <a:t> 結果値</a:t>
            </a:r>
          </a:p>
        </p:txBody>
      </p:sp>
      <p:sp>
        <p:nvSpPr>
          <p:cNvPr id="35" name="コンテンツ プレースホルダー 2">
            <a:extLst>
              <a:ext uri="{FF2B5EF4-FFF2-40B4-BE49-F238E27FC236}">
                <a16:creationId xmlns:a16="http://schemas.microsoft.com/office/drawing/2014/main" id="{8F88C15A-0CAB-1CB4-187B-C75453B1A503}"/>
              </a:ext>
            </a:extLst>
          </p:cNvPr>
          <p:cNvSpPr>
            <a:spLocks noGrp="1"/>
          </p:cNvSpPr>
          <p:nvPr>
            <p:ph idx="1"/>
          </p:nvPr>
        </p:nvSpPr>
        <p:spPr>
          <a:xfrm>
            <a:off x="6600266" y="317368"/>
            <a:ext cx="5380799" cy="396040"/>
          </a:xfrm>
        </p:spPr>
        <p:txBody>
          <a:bodyPr>
            <a:noAutofit/>
          </a:bodyPr>
          <a:lstStyle/>
          <a:p>
            <a:pPr marL="0" indent="0">
              <a:buNone/>
            </a:pPr>
            <a:r>
              <a:rPr lang="ja-JP" altLang="en-US" sz="1200" dirty="0"/>
              <a:t>複数の階層をもつ適用後パスデータ治療計画（</a:t>
            </a:r>
            <a:r>
              <a:rPr lang="en-US" altLang="ja-JP" sz="1200" dirty="0" err="1"/>
              <a:t>CarePlan</a:t>
            </a:r>
            <a:r>
              <a:rPr lang="ja-JP" altLang="en-US" sz="1200" dirty="0"/>
              <a:t>）および関連リソース群をバンドル（</a:t>
            </a:r>
            <a:r>
              <a:rPr lang="en-US" altLang="ja-JP" sz="1200" dirty="0"/>
              <a:t>Bundle</a:t>
            </a:r>
            <a:r>
              <a:rPr lang="ja-JP" altLang="en-US" sz="1200" dirty="0"/>
              <a:t>）した構造</a:t>
            </a:r>
            <a:endParaRPr lang="en-US" altLang="ja-JP" sz="1200" dirty="0"/>
          </a:p>
        </p:txBody>
      </p:sp>
      <p:sp>
        <p:nvSpPr>
          <p:cNvPr id="85" name="テキスト ボックス 84">
            <a:extLst>
              <a:ext uri="{FF2B5EF4-FFF2-40B4-BE49-F238E27FC236}">
                <a16:creationId xmlns:a16="http://schemas.microsoft.com/office/drawing/2014/main" id="{28671A1A-4E19-8EA2-4BB3-780872D8FB9F}"/>
              </a:ext>
            </a:extLst>
          </p:cNvPr>
          <p:cNvSpPr txBox="1"/>
          <p:nvPr/>
        </p:nvSpPr>
        <p:spPr>
          <a:xfrm>
            <a:off x="9681397" y="5203944"/>
            <a:ext cx="1817993" cy="288590"/>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smtClean="0"/>
              <a:t>Observation (</a:t>
            </a:r>
            <a:r>
              <a:rPr lang="ja-JP" altLang="en-US" sz="1000" dirty="0" smtClean="0"/>
              <a:t>評価</a:t>
            </a:r>
            <a:r>
              <a:rPr lang="en-US" altLang="ja-JP" sz="1000" dirty="0" smtClean="0"/>
              <a:t>)</a:t>
            </a:r>
            <a:endParaRPr lang="ja-JP" altLang="en-US" sz="1000" dirty="0"/>
          </a:p>
        </p:txBody>
      </p:sp>
      <p:cxnSp>
        <p:nvCxnSpPr>
          <p:cNvPr id="87" name="コネクタ: カギ線 22">
            <a:extLst>
              <a:ext uri="{FF2B5EF4-FFF2-40B4-BE49-F238E27FC236}">
                <a16:creationId xmlns:a16="http://schemas.microsoft.com/office/drawing/2014/main" id="{2B532430-719B-268D-4F3C-295EBDC2D6C5}"/>
              </a:ext>
            </a:extLst>
          </p:cNvPr>
          <p:cNvCxnSpPr>
            <a:cxnSpLocks/>
            <a:stCxn id="21" idx="3"/>
            <a:endCxn id="85" idx="3"/>
          </p:cNvCxnSpPr>
          <p:nvPr/>
        </p:nvCxnSpPr>
        <p:spPr>
          <a:xfrm flipH="1">
            <a:off x="11499390" y="4503841"/>
            <a:ext cx="132246" cy="844398"/>
          </a:xfrm>
          <a:prstGeom prst="bentConnector3">
            <a:avLst>
              <a:gd name="adj1" fmla="val -172860"/>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88" name="テキスト ボックス 87">
            <a:extLst>
              <a:ext uri="{FF2B5EF4-FFF2-40B4-BE49-F238E27FC236}">
                <a16:creationId xmlns:a16="http://schemas.microsoft.com/office/drawing/2014/main" id="{28671A1A-4E19-8EA2-4BB3-780872D8FB9F}"/>
              </a:ext>
            </a:extLst>
          </p:cNvPr>
          <p:cNvSpPr txBox="1"/>
          <p:nvPr/>
        </p:nvSpPr>
        <p:spPr>
          <a:xfrm>
            <a:off x="9416315" y="3603052"/>
            <a:ext cx="1817993" cy="357425"/>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smtClean="0"/>
              <a:t>Observation (</a:t>
            </a:r>
            <a:r>
              <a:rPr lang="ja-JP" altLang="en-US" sz="1000" dirty="0" smtClean="0"/>
              <a:t>評価</a:t>
            </a:r>
            <a:r>
              <a:rPr lang="en-US" altLang="ja-JP" sz="1000" dirty="0" smtClean="0"/>
              <a:t>)</a:t>
            </a:r>
            <a:endParaRPr lang="ja-JP" altLang="en-US" sz="1000" dirty="0"/>
          </a:p>
        </p:txBody>
      </p:sp>
      <p:sp>
        <p:nvSpPr>
          <p:cNvPr id="90" name="テキスト ボックス 89">
            <a:extLst>
              <a:ext uri="{FF2B5EF4-FFF2-40B4-BE49-F238E27FC236}">
                <a16:creationId xmlns:a16="http://schemas.microsoft.com/office/drawing/2014/main" id="{AEE0AF22-D239-4C29-8A76-855AC06A1ED2}"/>
              </a:ext>
            </a:extLst>
          </p:cNvPr>
          <p:cNvSpPr txBox="1"/>
          <p:nvPr/>
        </p:nvSpPr>
        <p:spPr>
          <a:xfrm>
            <a:off x="9562656" y="3764763"/>
            <a:ext cx="1594074" cy="107722"/>
          </a:xfrm>
          <a:prstGeom prst="rect">
            <a:avLst/>
          </a:prstGeom>
          <a:noFill/>
        </p:spPr>
        <p:txBody>
          <a:bodyPr wrap="square" lIns="0" tIns="0" rIns="0" bIns="0" rtlCol="0">
            <a:spAutoFit/>
          </a:bodyPr>
          <a:lstStyle/>
          <a:p>
            <a:r>
              <a:rPr lang="en-US" altLang="ja-JP" sz="700" dirty="0" smtClean="0">
                <a:solidFill>
                  <a:schemeClr val="bg1"/>
                </a:solidFill>
              </a:rPr>
              <a:t>S/O/A/P</a:t>
            </a:r>
            <a:r>
              <a:rPr lang="ja-JP" altLang="en-US" sz="700" dirty="0">
                <a:solidFill>
                  <a:schemeClr val="bg1"/>
                </a:solidFill>
              </a:rPr>
              <a:t>、</a:t>
            </a:r>
            <a:r>
              <a:rPr lang="ja-JP" altLang="en-US" sz="700" dirty="0" smtClean="0">
                <a:solidFill>
                  <a:schemeClr val="bg1"/>
                </a:solidFill>
              </a:rPr>
              <a:t>評価</a:t>
            </a:r>
            <a:r>
              <a:rPr kumimoji="1" lang="ja-JP" altLang="en-US" sz="700" dirty="0">
                <a:solidFill>
                  <a:schemeClr val="bg1"/>
                </a:solidFill>
              </a:rPr>
              <a:t>日時、評価者、</a:t>
            </a:r>
            <a:r>
              <a:rPr kumimoji="1" lang="ja-JP" altLang="en-US" sz="700" dirty="0" smtClean="0">
                <a:solidFill>
                  <a:schemeClr val="bg1"/>
                </a:solidFill>
              </a:rPr>
              <a:t>職種</a:t>
            </a:r>
            <a:endParaRPr kumimoji="1" lang="ja-JP" altLang="en-US" sz="700" dirty="0">
              <a:solidFill>
                <a:schemeClr val="bg1"/>
              </a:solidFill>
            </a:endParaRPr>
          </a:p>
        </p:txBody>
      </p:sp>
      <p:sp>
        <p:nvSpPr>
          <p:cNvPr id="93" name="テキスト ボックス 92">
            <a:extLst>
              <a:ext uri="{FF2B5EF4-FFF2-40B4-BE49-F238E27FC236}">
                <a16:creationId xmlns:a16="http://schemas.microsoft.com/office/drawing/2014/main" id="{AEE0AF22-D239-4C29-8A76-855AC06A1ED2}"/>
              </a:ext>
            </a:extLst>
          </p:cNvPr>
          <p:cNvSpPr txBox="1"/>
          <p:nvPr/>
        </p:nvSpPr>
        <p:spPr>
          <a:xfrm>
            <a:off x="9814678" y="5353943"/>
            <a:ext cx="1594074" cy="107722"/>
          </a:xfrm>
          <a:prstGeom prst="rect">
            <a:avLst/>
          </a:prstGeom>
          <a:noFill/>
        </p:spPr>
        <p:txBody>
          <a:bodyPr wrap="square" lIns="0" tIns="0" rIns="0" bIns="0" rtlCol="0">
            <a:spAutoFit/>
          </a:bodyPr>
          <a:lstStyle/>
          <a:p>
            <a:r>
              <a:rPr lang="en-US" altLang="ja-JP" sz="700" dirty="0" smtClean="0">
                <a:solidFill>
                  <a:schemeClr val="bg1"/>
                </a:solidFill>
              </a:rPr>
              <a:t>S/O/A/P</a:t>
            </a:r>
            <a:r>
              <a:rPr lang="ja-JP" altLang="en-US" sz="700" dirty="0">
                <a:solidFill>
                  <a:schemeClr val="bg1"/>
                </a:solidFill>
              </a:rPr>
              <a:t>、</a:t>
            </a:r>
            <a:r>
              <a:rPr lang="ja-JP" altLang="en-US" sz="700" dirty="0" smtClean="0">
                <a:solidFill>
                  <a:schemeClr val="bg1"/>
                </a:solidFill>
              </a:rPr>
              <a:t>評価</a:t>
            </a:r>
            <a:r>
              <a:rPr kumimoji="1" lang="ja-JP" altLang="en-US" sz="700" dirty="0">
                <a:solidFill>
                  <a:schemeClr val="bg1"/>
                </a:solidFill>
              </a:rPr>
              <a:t>日時、評価者、</a:t>
            </a:r>
            <a:r>
              <a:rPr kumimoji="1" lang="ja-JP" altLang="en-US" sz="700" dirty="0" smtClean="0">
                <a:solidFill>
                  <a:schemeClr val="bg1"/>
                </a:solidFill>
              </a:rPr>
              <a:t>職種</a:t>
            </a:r>
            <a:endParaRPr kumimoji="1" lang="ja-JP" altLang="en-US" sz="700" dirty="0">
              <a:solidFill>
                <a:schemeClr val="bg1"/>
              </a:solidFill>
            </a:endParaRPr>
          </a:p>
        </p:txBody>
      </p:sp>
      <p:sp>
        <p:nvSpPr>
          <p:cNvPr id="95" name="テキスト ボックス 94">
            <a:extLst>
              <a:ext uri="{FF2B5EF4-FFF2-40B4-BE49-F238E27FC236}">
                <a16:creationId xmlns:a16="http://schemas.microsoft.com/office/drawing/2014/main" id="{6E411A0A-728A-8966-1902-BB3DDA2F0276}"/>
              </a:ext>
            </a:extLst>
          </p:cNvPr>
          <p:cNvSpPr txBox="1"/>
          <p:nvPr/>
        </p:nvSpPr>
        <p:spPr>
          <a:xfrm>
            <a:off x="10545592" y="3195319"/>
            <a:ext cx="1019921" cy="111272"/>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outcomeReference</a:t>
            </a:r>
            <a:r>
              <a:rPr kumimoji="1" lang="en-US" altLang="ja-JP" sz="600" dirty="0">
                <a:solidFill>
                  <a:schemeClr val="tx1"/>
                </a:solidFill>
              </a:rPr>
              <a:t> : 0..*</a:t>
            </a:r>
            <a:endParaRPr kumimoji="1" lang="ja-JP" altLang="en-US" sz="600" dirty="0">
              <a:solidFill>
                <a:schemeClr val="tx1"/>
              </a:solidFill>
            </a:endParaRPr>
          </a:p>
        </p:txBody>
      </p:sp>
      <p:cxnSp>
        <p:nvCxnSpPr>
          <p:cNvPr id="96" name="コネクタ: カギ線 22">
            <a:extLst>
              <a:ext uri="{FF2B5EF4-FFF2-40B4-BE49-F238E27FC236}">
                <a16:creationId xmlns:a16="http://schemas.microsoft.com/office/drawing/2014/main" id="{2B532430-719B-268D-4F3C-295EBDC2D6C5}"/>
              </a:ext>
            </a:extLst>
          </p:cNvPr>
          <p:cNvCxnSpPr>
            <a:cxnSpLocks/>
            <a:stCxn id="95" idx="3"/>
            <a:endCxn id="88" idx="3"/>
          </p:cNvCxnSpPr>
          <p:nvPr/>
        </p:nvCxnSpPr>
        <p:spPr>
          <a:xfrm flipH="1">
            <a:off x="11234308" y="3250955"/>
            <a:ext cx="331205" cy="530810"/>
          </a:xfrm>
          <a:prstGeom prst="bentConnector3">
            <a:avLst>
              <a:gd name="adj1" fmla="val -69021"/>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28671A1A-4E19-8EA2-4BB3-780872D8FB9F}"/>
              </a:ext>
            </a:extLst>
          </p:cNvPr>
          <p:cNvSpPr txBox="1"/>
          <p:nvPr/>
        </p:nvSpPr>
        <p:spPr>
          <a:xfrm>
            <a:off x="9411866" y="2599621"/>
            <a:ext cx="1817993" cy="383958"/>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smtClean="0"/>
              <a:t>Observation (</a:t>
            </a:r>
            <a:r>
              <a:rPr lang="ja-JP" altLang="en-US" sz="1000" dirty="0"/>
              <a:t>総合</a:t>
            </a:r>
            <a:r>
              <a:rPr lang="ja-JP" altLang="en-US" sz="1000" dirty="0" smtClean="0"/>
              <a:t>評価</a:t>
            </a:r>
            <a:r>
              <a:rPr lang="en-US" altLang="ja-JP" sz="1000" dirty="0" smtClean="0"/>
              <a:t>)</a:t>
            </a:r>
            <a:endParaRPr lang="ja-JP" altLang="en-US" sz="1000" dirty="0"/>
          </a:p>
        </p:txBody>
      </p:sp>
      <p:sp>
        <p:nvSpPr>
          <p:cNvPr id="101" name="テキスト ボックス 100">
            <a:extLst>
              <a:ext uri="{FF2B5EF4-FFF2-40B4-BE49-F238E27FC236}">
                <a16:creationId xmlns:a16="http://schemas.microsoft.com/office/drawing/2014/main" id="{AEE0AF22-D239-4C29-8A76-855AC06A1ED2}"/>
              </a:ext>
            </a:extLst>
          </p:cNvPr>
          <p:cNvSpPr txBox="1"/>
          <p:nvPr/>
        </p:nvSpPr>
        <p:spPr>
          <a:xfrm>
            <a:off x="9458826" y="2754136"/>
            <a:ext cx="1697903" cy="215444"/>
          </a:xfrm>
          <a:prstGeom prst="rect">
            <a:avLst/>
          </a:prstGeom>
          <a:noFill/>
        </p:spPr>
        <p:txBody>
          <a:bodyPr wrap="square" lIns="0" tIns="0" rIns="0" bIns="0" rtlCol="0">
            <a:spAutoFit/>
          </a:bodyPr>
          <a:lstStyle/>
          <a:p>
            <a:r>
              <a:rPr lang="ja-JP" altLang="en-US" sz="700" dirty="0">
                <a:solidFill>
                  <a:schemeClr val="bg1"/>
                </a:solidFill>
              </a:rPr>
              <a:t>総合評価</a:t>
            </a:r>
            <a:r>
              <a:rPr lang="ja-JP" altLang="en-US" sz="700" dirty="0" smtClean="0">
                <a:solidFill>
                  <a:schemeClr val="bg1"/>
                </a:solidFill>
              </a:rPr>
              <a:t>フリーテキスト</a:t>
            </a:r>
            <a:endParaRPr lang="en-US" altLang="ja-JP" sz="700" dirty="0" smtClean="0">
              <a:solidFill>
                <a:schemeClr val="bg1"/>
              </a:solidFill>
            </a:endParaRPr>
          </a:p>
          <a:p>
            <a:r>
              <a:rPr lang="ja-JP" altLang="en-US" sz="700" dirty="0" smtClean="0">
                <a:solidFill>
                  <a:schemeClr val="bg1"/>
                </a:solidFill>
              </a:rPr>
              <a:t>評価</a:t>
            </a:r>
            <a:r>
              <a:rPr kumimoji="1" lang="ja-JP" altLang="en-US" sz="700" dirty="0">
                <a:solidFill>
                  <a:schemeClr val="bg1"/>
                </a:solidFill>
              </a:rPr>
              <a:t>日時、評価者、</a:t>
            </a:r>
            <a:r>
              <a:rPr kumimoji="1" lang="ja-JP" altLang="en-US" sz="700" dirty="0" smtClean="0">
                <a:solidFill>
                  <a:schemeClr val="bg1"/>
                </a:solidFill>
              </a:rPr>
              <a:t>職種</a:t>
            </a:r>
            <a:endParaRPr kumimoji="1" lang="ja-JP" altLang="en-US" sz="700" dirty="0">
              <a:solidFill>
                <a:schemeClr val="bg1"/>
              </a:solidFill>
            </a:endParaRPr>
          </a:p>
        </p:txBody>
      </p:sp>
      <p:sp>
        <p:nvSpPr>
          <p:cNvPr id="102" name="テキスト ボックス 101">
            <a:extLst>
              <a:ext uri="{FF2B5EF4-FFF2-40B4-BE49-F238E27FC236}">
                <a16:creationId xmlns:a16="http://schemas.microsoft.com/office/drawing/2014/main" id="{6E411A0A-728A-8966-1902-BB3DDA2F0276}"/>
              </a:ext>
            </a:extLst>
          </p:cNvPr>
          <p:cNvSpPr txBox="1"/>
          <p:nvPr/>
        </p:nvSpPr>
        <p:spPr>
          <a:xfrm>
            <a:off x="10077014" y="2383238"/>
            <a:ext cx="1019921" cy="111272"/>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kumimoji="1" lang="en-US" altLang="ja-JP" sz="600" dirty="0" err="1">
                <a:solidFill>
                  <a:schemeClr val="tx1"/>
                </a:solidFill>
              </a:rPr>
              <a:t>outcomeReference</a:t>
            </a:r>
            <a:r>
              <a:rPr kumimoji="1" lang="en-US" altLang="ja-JP" sz="600" dirty="0">
                <a:solidFill>
                  <a:schemeClr val="tx1"/>
                </a:solidFill>
              </a:rPr>
              <a:t> : 0..*</a:t>
            </a:r>
            <a:endParaRPr kumimoji="1" lang="ja-JP" altLang="en-US" sz="600" dirty="0">
              <a:solidFill>
                <a:schemeClr val="tx1"/>
              </a:solidFill>
            </a:endParaRPr>
          </a:p>
        </p:txBody>
      </p:sp>
      <p:cxnSp>
        <p:nvCxnSpPr>
          <p:cNvPr id="103" name="コネクタ: カギ線 22">
            <a:extLst>
              <a:ext uri="{FF2B5EF4-FFF2-40B4-BE49-F238E27FC236}">
                <a16:creationId xmlns:a16="http://schemas.microsoft.com/office/drawing/2014/main" id="{2B532430-719B-268D-4F3C-295EBDC2D6C5}"/>
              </a:ext>
            </a:extLst>
          </p:cNvPr>
          <p:cNvCxnSpPr>
            <a:cxnSpLocks/>
            <a:stCxn id="102" idx="3"/>
            <a:endCxn id="100" idx="3"/>
          </p:cNvCxnSpPr>
          <p:nvPr/>
        </p:nvCxnSpPr>
        <p:spPr>
          <a:xfrm>
            <a:off x="11096935" y="2438874"/>
            <a:ext cx="132924" cy="352726"/>
          </a:xfrm>
          <a:prstGeom prst="bentConnector3">
            <a:avLst>
              <a:gd name="adj1" fmla="val 271978"/>
            </a:avLst>
          </a:prstGeom>
          <a:ln w="127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108" name="テキスト ボックス 107">
            <a:extLst>
              <a:ext uri="{FF2B5EF4-FFF2-40B4-BE49-F238E27FC236}">
                <a16:creationId xmlns:a16="http://schemas.microsoft.com/office/drawing/2014/main" id="{AE42D1E1-5A68-1B05-8CB2-AC68D8DA73A7}"/>
              </a:ext>
            </a:extLst>
          </p:cNvPr>
          <p:cNvSpPr txBox="1"/>
          <p:nvPr/>
        </p:nvSpPr>
        <p:spPr>
          <a:xfrm>
            <a:off x="4742215" y="4196914"/>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smtClean="0"/>
              <a:t>PlanDefinition</a:t>
            </a:r>
            <a:r>
              <a:rPr lang="en-US" altLang="ja-JP" sz="1000" dirty="0"/>
              <a:t/>
            </a:r>
            <a:br>
              <a:rPr lang="en-US" altLang="ja-JP" sz="1000" dirty="0"/>
            </a:br>
            <a:r>
              <a:rPr lang="en-US" altLang="ja-JP" sz="1000" dirty="0" smtClean="0"/>
              <a:t>(</a:t>
            </a:r>
            <a:r>
              <a:rPr lang="ja-JP" altLang="en-US" sz="1000" dirty="0" smtClean="0"/>
              <a:t>ひな型パス</a:t>
            </a:r>
            <a:r>
              <a:rPr lang="en-US" altLang="ja-JP" sz="1000" dirty="0" smtClean="0"/>
              <a:t>)</a:t>
            </a:r>
            <a:endParaRPr lang="ja-JP" altLang="en-US" sz="1000" dirty="0"/>
          </a:p>
        </p:txBody>
      </p:sp>
      <p:cxnSp>
        <p:nvCxnSpPr>
          <p:cNvPr id="109" name="コネクタ: カギ線 49">
            <a:extLst>
              <a:ext uri="{FF2B5EF4-FFF2-40B4-BE49-F238E27FC236}">
                <a16:creationId xmlns:a16="http://schemas.microsoft.com/office/drawing/2014/main" id="{8934AA53-DD8F-67C4-F09F-5E9581C14AD3}"/>
              </a:ext>
            </a:extLst>
          </p:cNvPr>
          <p:cNvCxnSpPr>
            <a:cxnSpLocks/>
            <a:stCxn id="108" idx="1"/>
            <a:endCxn id="111" idx="1"/>
          </p:cNvCxnSpPr>
          <p:nvPr/>
        </p:nvCxnSpPr>
        <p:spPr>
          <a:xfrm rot="10800000">
            <a:off x="4629539" y="1997925"/>
            <a:ext cx="112677" cy="2352878"/>
          </a:xfrm>
          <a:prstGeom prst="bentConnector3">
            <a:avLst>
              <a:gd name="adj1" fmla="val 199596"/>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6E411A0A-728A-8966-1902-BB3DDA2F0276}"/>
              </a:ext>
            </a:extLst>
          </p:cNvPr>
          <p:cNvSpPr txBox="1"/>
          <p:nvPr/>
        </p:nvSpPr>
        <p:spPr>
          <a:xfrm>
            <a:off x="4629538" y="1938644"/>
            <a:ext cx="1200281" cy="118561"/>
          </a:xfrm>
          <a:prstGeom prst="roundRect">
            <a:avLst/>
          </a:prstGeom>
          <a:solidFill>
            <a:schemeClr val="accent4">
              <a:lumMod val="40000"/>
              <a:lumOff val="60000"/>
            </a:schemeClr>
          </a:solidFill>
          <a:ln>
            <a:solidFill>
              <a:schemeClr val="accent6"/>
            </a:solidFill>
          </a:ln>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gn="ctr"/>
            <a:r>
              <a:rPr lang="en-US" altLang="ja-JP" sz="600" dirty="0" err="1">
                <a:solidFill>
                  <a:schemeClr val="tx1"/>
                </a:solidFill>
              </a:rPr>
              <a:t>instantiatesCanonical</a:t>
            </a:r>
            <a:r>
              <a:rPr lang="en-US" altLang="ja-JP" sz="600" dirty="0">
                <a:solidFill>
                  <a:schemeClr val="tx1"/>
                </a:solidFill>
              </a:rPr>
              <a:t> </a:t>
            </a:r>
            <a:r>
              <a:rPr kumimoji="1" lang="en-US" altLang="ja-JP" sz="600" dirty="0">
                <a:solidFill>
                  <a:schemeClr val="tx1"/>
                </a:solidFill>
              </a:rPr>
              <a:t>: </a:t>
            </a:r>
            <a:r>
              <a:rPr lang="en-US" altLang="ja-JP" sz="600" dirty="0" smtClean="0">
                <a:solidFill>
                  <a:schemeClr val="tx1"/>
                </a:solidFill>
              </a:rPr>
              <a:t>1</a:t>
            </a:r>
            <a:r>
              <a:rPr kumimoji="1" lang="en-US" altLang="ja-JP" sz="600" dirty="0" smtClean="0">
                <a:solidFill>
                  <a:schemeClr val="tx1"/>
                </a:solidFill>
              </a:rPr>
              <a:t>..*</a:t>
            </a:r>
            <a:endParaRPr kumimoji="1" lang="ja-JP" altLang="en-US" sz="600" dirty="0">
              <a:solidFill>
                <a:schemeClr val="tx1"/>
              </a:solidFill>
            </a:endParaRPr>
          </a:p>
        </p:txBody>
      </p:sp>
      <p:sp>
        <p:nvSpPr>
          <p:cNvPr id="114" name="テキスト ボックス 113">
            <a:extLst>
              <a:ext uri="{FF2B5EF4-FFF2-40B4-BE49-F238E27FC236}">
                <a16:creationId xmlns:a16="http://schemas.microsoft.com/office/drawing/2014/main" id="{AE42D1E1-5A68-1B05-8CB2-AC68D8DA73A7}"/>
              </a:ext>
            </a:extLst>
          </p:cNvPr>
          <p:cNvSpPr txBox="1"/>
          <p:nvPr/>
        </p:nvSpPr>
        <p:spPr>
          <a:xfrm>
            <a:off x="4737833" y="4666237"/>
            <a:ext cx="1594154" cy="307777"/>
          </a:xfrm>
          <a:prstGeom prst="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oAutofit/>
          </a:bodyPr>
          <a:lstStyle/>
          <a:p>
            <a:pPr algn="ctr"/>
            <a:r>
              <a:rPr lang="en-US" altLang="ja-JP" sz="1000" dirty="0" err="1" smtClean="0"/>
              <a:t>PlanDefinition</a:t>
            </a:r>
            <a:r>
              <a:rPr lang="en-US" altLang="ja-JP" sz="1000" dirty="0"/>
              <a:t/>
            </a:r>
            <a:br>
              <a:rPr lang="en-US" altLang="ja-JP" sz="1000" dirty="0"/>
            </a:br>
            <a:r>
              <a:rPr lang="en-US" altLang="ja-JP" sz="1000" dirty="0" smtClean="0"/>
              <a:t>(</a:t>
            </a:r>
            <a:r>
              <a:rPr lang="ja-JP" altLang="en-US" sz="1000" dirty="0" smtClean="0"/>
              <a:t>施設パス</a:t>
            </a:r>
            <a:r>
              <a:rPr lang="en-US" altLang="ja-JP" sz="1000" dirty="0" smtClean="0"/>
              <a:t>)</a:t>
            </a:r>
            <a:endParaRPr lang="ja-JP" altLang="en-US" sz="1000" dirty="0"/>
          </a:p>
        </p:txBody>
      </p:sp>
      <p:cxnSp>
        <p:nvCxnSpPr>
          <p:cNvPr id="115" name="コネクタ: カギ線 49">
            <a:extLst>
              <a:ext uri="{FF2B5EF4-FFF2-40B4-BE49-F238E27FC236}">
                <a16:creationId xmlns:a16="http://schemas.microsoft.com/office/drawing/2014/main" id="{8934AA53-DD8F-67C4-F09F-5E9581C14AD3}"/>
              </a:ext>
            </a:extLst>
          </p:cNvPr>
          <p:cNvCxnSpPr>
            <a:cxnSpLocks/>
            <a:stCxn id="114" idx="1"/>
            <a:endCxn id="111" idx="1"/>
          </p:cNvCxnSpPr>
          <p:nvPr/>
        </p:nvCxnSpPr>
        <p:spPr>
          <a:xfrm rot="10800000">
            <a:off x="4629539" y="1997926"/>
            <a:ext cx="108295" cy="2822201"/>
          </a:xfrm>
          <a:prstGeom prst="bentConnector3">
            <a:avLst>
              <a:gd name="adj1" fmla="val 203626"/>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090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9" name="四角形: 角を丸くする 338">
            <a:extLst>
              <a:ext uri="{FF2B5EF4-FFF2-40B4-BE49-F238E27FC236}">
                <a16:creationId xmlns:a16="http://schemas.microsoft.com/office/drawing/2014/main" id="{DB4E67BA-A7D5-C3D0-6FB8-F8EA988CCB78}"/>
              </a:ext>
            </a:extLst>
          </p:cNvPr>
          <p:cNvSpPr/>
          <p:nvPr/>
        </p:nvSpPr>
        <p:spPr>
          <a:xfrm>
            <a:off x="6984134" y="314049"/>
            <a:ext cx="2171443" cy="6401726"/>
          </a:xfrm>
          <a:prstGeom prst="roundRect">
            <a:avLst>
              <a:gd name="adj" fmla="val 10205"/>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cxnSp>
        <p:nvCxnSpPr>
          <p:cNvPr id="229" name="直線コネクタ 228">
            <a:extLst>
              <a:ext uri="{FF2B5EF4-FFF2-40B4-BE49-F238E27FC236}">
                <a16:creationId xmlns:a16="http://schemas.microsoft.com/office/drawing/2014/main" id="{8A62F05F-D990-1F5F-8903-0D764EA615C9}"/>
              </a:ext>
            </a:extLst>
          </p:cNvPr>
          <p:cNvCxnSpPr>
            <a:cxnSpLocks/>
            <a:stCxn id="322" idx="2"/>
            <a:endCxn id="306" idx="0"/>
          </p:cNvCxnSpPr>
          <p:nvPr/>
        </p:nvCxnSpPr>
        <p:spPr>
          <a:xfrm>
            <a:off x="8036070" y="1342726"/>
            <a:ext cx="18262" cy="356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133C37CB-CC6D-79FB-45D4-7F9B08274FBC}"/>
              </a:ext>
            </a:extLst>
          </p:cNvPr>
          <p:cNvCxnSpPr>
            <a:cxnSpLocks/>
          </p:cNvCxnSpPr>
          <p:nvPr/>
        </p:nvCxnSpPr>
        <p:spPr>
          <a:xfrm flipH="1">
            <a:off x="1694411" y="1260673"/>
            <a:ext cx="646559" cy="2382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線コネクタ 230">
            <a:extLst>
              <a:ext uri="{FF2B5EF4-FFF2-40B4-BE49-F238E27FC236}">
                <a16:creationId xmlns:a16="http://schemas.microsoft.com/office/drawing/2014/main" id="{F34548D3-63D7-5166-D5D8-0292E1BAC050}"/>
              </a:ext>
            </a:extLst>
          </p:cNvPr>
          <p:cNvCxnSpPr>
            <a:cxnSpLocks/>
            <a:stCxn id="274" idx="2"/>
            <a:endCxn id="271" idx="1"/>
          </p:cNvCxnSpPr>
          <p:nvPr/>
        </p:nvCxnSpPr>
        <p:spPr>
          <a:xfrm flipV="1">
            <a:off x="3739100" y="1273904"/>
            <a:ext cx="341443" cy="354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線コネクタ 231">
            <a:extLst>
              <a:ext uri="{FF2B5EF4-FFF2-40B4-BE49-F238E27FC236}">
                <a16:creationId xmlns:a16="http://schemas.microsoft.com/office/drawing/2014/main" id="{6CFBDEE3-9091-7A9B-CFBD-8633B84E7CE0}"/>
              </a:ext>
            </a:extLst>
          </p:cNvPr>
          <p:cNvCxnSpPr>
            <a:cxnSpLocks/>
          </p:cNvCxnSpPr>
          <p:nvPr/>
        </p:nvCxnSpPr>
        <p:spPr>
          <a:xfrm flipV="1">
            <a:off x="1509938" y="695590"/>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2C762386-1E56-071F-FD2F-C0B5D6F09811}"/>
              </a:ext>
            </a:extLst>
          </p:cNvPr>
          <p:cNvCxnSpPr>
            <a:cxnSpLocks/>
          </p:cNvCxnSpPr>
          <p:nvPr/>
        </p:nvCxnSpPr>
        <p:spPr>
          <a:xfrm>
            <a:off x="2932164" y="1539656"/>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01E284AB-679F-38A0-F919-F2742739D03F}"/>
              </a:ext>
            </a:extLst>
          </p:cNvPr>
          <p:cNvCxnSpPr>
            <a:cxnSpLocks/>
            <a:stCxn id="268" idx="2"/>
            <a:endCxn id="261" idx="2"/>
          </p:cNvCxnSpPr>
          <p:nvPr/>
        </p:nvCxnSpPr>
        <p:spPr>
          <a:xfrm flipH="1">
            <a:off x="2941652" y="2457156"/>
            <a:ext cx="10889" cy="464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12C67B0B-4370-F5E4-AC80-72CE1D16C36B}"/>
              </a:ext>
            </a:extLst>
          </p:cNvPr>
          <p:cNvSpPr/>
          <p:nvPr/>
        </p:nvSpPr>
        <p:spPr>
          <a:xfrm>
            <a:off x="2320788" y="1721048"/>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36" name="テキスト ボックス 235">
            <a:extLst>
              <a:ext uri="{FF2B5EF4-FFF2-40B4-BE49-F238E27FC236}">
                <a16:creationId xmlns:a16="http://schemas.microsoft.com/office/drawing/2014/main" id="{7F775ADF-DF1B-7E2F-D72F-50281CFDD0A8}"/>
              </a:ext>
            </a:extLst>
          </p:cNvPr>
          <p:cNvSpPr txBox="1"/>
          <p:nvPr/>
        </p:nvSpPr>
        <p:spPr>
          <a:xfrm>
            <a:off x="2352283" y="1678621"/>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37" name="正方形/長方形 236">
            <a:extLst>
              <a:ext uri="{FF2B5EF4-FFF2-40B4-BE49-F238E27FC236}">
                <a16:creationId xmlns:a16="http://schemas.microsoft.com/office/drawing/2014/main" id="{4F34F687-7FB6-9626-3AD9-EC58CDCF0C0F}"/>
              </a:ext>
            </a:extLst>
          </p:cNvPr>
          <p:cNvSpPr/>
          <p:nvPr/>
        </p:nvSpPr>
        <p:spPr>
          <a:xfrm>
            <a:off x="2340970" y="424099"/>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8" name="直線コネクタ 237">
            <a:extLst>
              <a:ext uri="{FF2B5EF4-FFF2-40B4-BE49-F238E27FC236}">
                <a16:creationId xmlns:a16="http://schemas.microsoft.com/office/drawing/2014/main" id="{F233E8EE-25B3-519E-E350-05FFF536089B}"/>
              </a:ext>
            </a:extLst>
          </p:cNvPr>
          <p:cNvCxnSpPr>
            <a:cxnSpLocks/>
          </p:cNvCxnSpPr>
          <p:nvPr/>
        </p:nvCxnSpPr>
        <p:spPr>
          <a:xfrm>
            <a:off x="2352283" y="573313"/>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正方形/長方形 242">
            <a:extLst>
              <a:ext uri="{FF2B5EF4-FFF2-40B4-BE49-F238E27FC236}">
                <a16:creationId xmlns:a16="http://schemas.microsoft.com/office/drawing/2014/main" id="{FA95C063-E54C-CB0E-E819-0EDD629F2BEA}"/>
              </a:ext>
            </a:extLst>
          </p:cNvPr>
          <p:cNvSpPr/>
          <p:nvPr/>
        </p:nvSpPr>
        <p:spPr>
          <a:xfrm>
            <a:off x="518312" y="3381690"/>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4" name="直線コネクタ 243">
            <a:extLst>
              <a:ext uri="{FF2B5EF4-FFF2-40B4-BE49-F238E27FC236}">
                <a16:creationId xmlns:a16="http://schemas.microsoft.com/office/drawing/2014/main" id="{9CA19320-517E-EF99-27B2-756AA8E1FFB4}"/>
              </a:ext>
            </a:extLst>
          </p:cNvPr>
          <p:cNvCxnSpPr>
            <a:cxnSpLocks/>
          </p:cNvCxnSpPr>
          <p:nvPr/>
        </p:nvCxnSpPr>
        <p:spPr>
          <a:xfrm>
            <a:off x="508160" y="3566163"/>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テキスト ボックス 244">
            <a:extLst>
              <a:ext uri="{FF2B5EF4-FFF2-40B4-BE49-F238E27FC236}">
                <a16:creationId xmlns:a16="http://schemas.microsoft.com/office/drawing/2014/main" id="{002796DE-0A10-B928-1B03-13A091027BD3}"/>
              </a:ext>
            </a:extLst>
          </p:cNvPr>
          <p:cNvSpPr txBox="1"/>
          <p:nvPr/>
        </p:nvSpPr>
        <p:spPr>
          <a:xfrm>
            <a:off x="552610" y="3354212"/>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6" name="テキスト ボックス 245">
            <a:extLst>
              <a:ext uri="{FF2B5EF4-FFF2-40B4-BE49-F238E27FC236}">
                <a16:creationId xmlns:a16="http://schemas.microsoft.com/office/drawing/2014/main" id="{B2833C6C-82A8-1F9C-50BF-31EDA6294C32}"/>
              </a:ext>
            </a:extLst>
          </p:cNvPr>
          <p:cNvSpPr txBox="1"/>
          <p:nvPr/>
        </p:nvSpPr>
        <p:spPr>
          <a:xfrm>
            <a:off x="464000" y="3537826"/>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退院日</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死亡有無</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56C13395-2056-B39A-D27E-1689E3A889FB}"/>
              </a:ext>
            </a:extLst>
          </p:cNvPr>
          <p:cNvSpPr txBox="1"/>
          <p:nvPr/>
        </p:nvSpPr>
        <p:spPr>
          <a:xfrm>
            <a:off x="2321690" y="1876533"/>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cxnSp>
        <p:nvCxnSpPr>
          <p:cNvPr id="252" name="直線コネクタ 251">
            <a:extLst>
              <a:ext uri="{FF2B5EF4-FFF2-40B4-BE49-F238E27FC236}">
                <a16:creationId xmlns:a16="http://schemas.microsoft.com/office/drawing/2014/main" id="{31780137-2FFF-E00E-2CFE-F280E4E08570}"/>
              </a:ext>
            </a:extLst>
          </p:cNvPr>
          <p:cNvCxnSpPr>
            <a:cxnSpLocks/>
          </p:cNvCxnSpPr>
          <p:nvPr/>
        </p:nvCxnSpPr>
        <p:spPr>
          <a:xfrm>
            <a:off x="2320585" y="1889575"/>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4" name="正方形/長方形 253">
            <a:extLst>
              <a:ext uri="{FF2B5EF4-FFF2-40B4-BE49-F238E27FC236}">
                <a16:creationId xmlns:a16="http://schemas.microsoft.com/office/drawing/2014/main" id="{FBBA79B3-7054-51E1-6EDA-EE08CBA21723}"/>
              </a:ext>
            </a:extLst>
          </p:cNvPr>
          <p:cNvSpPr/>
          <p:nvPr/>
        </p:nvSpPr>
        <p:spPr>
          <a:xfrm>
            <a:off x="2342770" y="2700828"/>
            <a:ext cx="1290032"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55" name="直線コネクタ 254">
            <a:extLst>
              <a:ext uri="{FF2B5EF4-FFF2-40B4-BE49-F238E27FC236}">
                <a16:creationId xmlns:a16="http://schemas.microsoft.com/office/drawing/2014/main" id="{C46EF9A6-1CB2-50E4-1ED9-D2FC73A519D8}"/>
              </a:ext>
            </a:extLst>
          </p:cNvPr>
          <p:cNvCxnSpPr>
            <a:cxnSpLocks/>
          </p:cNvCxnSpPr>
          <p:nvPr/>
        </p:nvCxnSpPr>
        <p:spPr>
          <a:xfrm flipV="1">
            <a:off x="2347789" y="2904138"/>
            <a:ext cx="1286813" cy="84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正方形/長方形 255">
            <a:extLst>
              <a:ext uri="{FF2B5EF4-FFF2-40B4-BE49-F238E27FC236}">
                <a16:creationId xmlns:a16="http://schemas.microsoft.com/office/drawing/2014/main" id="{D54B833E-3B94-22BF-55BB-F67A50FFA632}"/>
              </a:ext>
            </a:extLst>
          </p:cNvPr>
          <p:cNvSpPr/>
          <p:nvPr/>
        </p:nvSpPr>
        <p:spPr>
          <a:xfrm>
            <a:off x="518317" y="608888"/>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7" name="テキスト ボックス 256">
            <a:extLst>
              <a:ext uri="{FF2B5EF4-FFF2-40B4-BE49-F238E27FC236}">
                <a16:creationId xmlns:a16="http://schemas.microsoft.com/office/drawing/2014/main" id="{45948018-D409-C2C0-588E-104337EE1601}"/>
              </a:ext>
            </a:extLst>
          </p:cNvPr>
          <p:cNvSpPr txBox="1"/>
          <p:nvPr/>
        </p:nvSpPr>
        <p:spPr>
          <a:xfrm>
            <a:off x="518313" y="573313"/>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8" name="直線コネクタ 257">
            <a:extLst>
              <a:ext uri="{FF2B5EF4-FFF2-40B4-BE49-F238E27FC236}">
                <a16:creationId xmlns:a16="http://schemas.microsoft.com/office/drawing/2014/main" id="{8C0E1A84-346C-A2C9-2457-91B4EC33A8DB}"/>
              </a:ext>
            </a:extLst>
          </p:cNvPr>
          <p:cNvCxnSpPr>
            <a:cxnSpLocks/>
          </p:cNvCxnSpPr>
          <p:nvPr/>
        </p:nvCxnSpPr>
        <p:spPr>
          <a:xfrm>
            <a:off x="518313" y="819467"/>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テキスト ボックス 258">
            <a:extLst>
              <a:ext uri="{FF2B5EF4-FFF2-40B4-BE49-F238E27FC236}">
                <a16:creationId xmlns:a16="http://schemas.microsoft.com/office/drawing/2014/main" id="{9B8414B1-E0F9-3407-BEEE-8314CF8ACE20}"/>
              </a:ext>
            </a:extLst>
          </p:cNvPr>
          <p:cNvSpPr txBox="1"/>
          <p:nvPr/>
        </p:nvSpPr>
        <p:spPr>
          <a:xfrm>
            <a:off x="466684" y="787280"/>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施設パスバージョン</a:t>
            </a:r>
          </a:p>
        </p:txBody>
      </p:sp>
      <p:sp>
        <p:nvSpPr>
          <p:cNvPr id="260" name="テキスト ボックス 259">
            <a:extLst>
              <a:ext uri="{FF2B5EF4-FFF2-40B4-BE49-F238E27FC236}">
                <a16:creationId xmlns:a16="http://schemas.microsoft.com/office/drawing/2014/main" id="{29F090CD-82EB-4AEB-5636-D3600C3BA425}"/>
              </a:ext>
            </a:extLst>
          </p:cNvPr>
          <p:cNvSpPr txBox="1"/>
          <p:nvPr/>
        </p:nvSpPr>
        <p:spPr>
          <a:xfrm>
            <a:off x="2323941" y="2905028"/>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パス中止理由</a:t>
            </a:r>
          </a:p>
        </p:txBody>
      </p:sp>
      <p:sp>
        <p:nvSpPr>
          <p:cNvPr id="261" name="正方形/長方形 260">
            <a:extLst>
              <a:ext uri="{FF2B5EF4-FFF2-40B4-BE49-F238E27FC236}">
                <a16:creationId xmlns:a16="http://schemas.microsoft.com/office/drawing/2014/main" id="{D054EB8A-4419-BE0F-97C6-7BD02C6C7DFD}"/>
              </a:ext>
            </a:extLst>
          </p:cNvPr>
          <p:cNvSpPr/>
          <p:nvPr/>
        </p:nvSpPr>
        <p:spPr>
          <a:xfrm>
            <a:off x="2342770" y="2675673"/>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sp>
        <p:nvSpPr>
          <p:cNvPr id="268" name="ひし形 267">
            <a:extLst>
              <a:ext uri="{FF2B5EF4-FFF2-40B4-BE49-F238E27FC236}">
                <a16:creationId xmlns:a16="http://schemas.microsoft.com/office/drawing/2014/main" id="{776F2232-BBBB-C2A3-9CCA-FEB006C07D07}"/>
              </a:ext>
            </a:extLst>
          </p:cNvPr>
          <p:cNvSpPr/>
          <p:nvPr/>
        </p:nvSpPr>
        <p:spPr>
          <a:xfrm rot="21588860">
            <a:off x="2895055" y="228717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9" name="正方形/長方形 268">
            <a:extLst>
              <a:ext uri="{FF2B5EF4-FFF2-40B4-BE49-F238E27FC236}">
                <a16:creationId xmlns:a16="http://schemas.microsoft.com/office/drawing/2014/main" id="{25ABB024-A7EE-BB27-C095-3C015D9E1A8B}"/>
              </a:ext>
            </a:extLst>
          </p:cNvPr>
          <p:cNvSpPr/>
          <p:nvPr/>
        </p:nvSpPr>
        <p:spPr>
          <a:xfrm>
            <a:off x="4079641" y="621619"/>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0" name="テキスト ボックス 269">
            <a:extLst>
              <a:ext uri="{FF2B5EF4-FFF2-40B4-BE49-F238E27FC236}">
                <a16:creationId xmlns:a16="http://schemas.microsoft.com/office/drawing/2014/main" id="{897F5FE2-6DA8-E6EE-B60D-558F1A569387}"/>
              </a:ext>
            </a:extLst>
          </p:cNvPr>
          <p:cNvSpPr txBox="1"/>
          <p:nvPr/>
        </p:nvSpPr>
        <p:spPr>
          <a:xfrm>
            <a:off x="4111140" y="579193"/>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71" name="テキスト ボックス 270">
            <a:extLst>
              <a:ext uri="{FF2B5EF4-FFF2-40B4-BE49-F238E27FC236}">
                <a16:creationId xmlns:a16="http://schemas.microsoft.com/office/drawing/2014/main" id="{1EE0572F-0700-D74F-1BAE-331A84E3451C}"/>
              </a:ext>
            </a:extLst>
          </p:cNvPr>
          <p:cNvSpPr txBox="1"/>
          <p:nvPr/>
        </p:nvSpPr>
        <p:spPr>
          <a:xfrm>
            <a:off x="4080543" y="742989"/>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総合評価</a:t>
            </a:r>
          </a:p>
        </p:txBody>
      </p:sp>
      <p:cxnSp>
        <p:nvCxnSpPr>
          <p:cNvPr id="272" name="直線コネクタ 271">
            <a:extLst>
              <a:ext uri="{FF2B5EF4-FFF2-40B4-BE49-F238E27FC236}">
                <a16:creationId xmlns:a16="http://schemas.microsoft.com/office/drawing/2014/main" id="{4DECD42A-2F19-7D9F-0D21-7DAF6F5E20DB}"/>
              </a:ext>
            </a:extLst>
          </p:cNvPr>
          <p:cNvCxnSpPr>
            <a:cxnSpLocks/>
          </p:cNvCxnSpPr>
          <p:nvPr/>
        </p:nvCxnSpPr>
        <p:spPr>
          <a:xfrm>
            <a:off x="4090442" y="790941"/>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ひし形 273">
            <a:extLst>
              <a:ext uri="{FF2B5EF4-FFF2-40B4-BE49-F238E27FC236}">
                <a16:creationId xmlns:a16="http://schemas.microsoft.com/office/drawing/2014/main" id="{1AFC8B24-8230-3FD2-B15C-276823DE18C3}"/>
              </a:ext>
            </a:extLst>
          </p:cNvPr>
          <p:cNvSpPr/>
          <p:nvPr/>
        </p:nvSpPr>
        <p:spPr>
          <a:xfrm rot="12939424">
            <a:off x="3632346" y="1612371"/>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5" name="テキスト ボックス 274">
            <a:extLst>
              <a:ext uri="{FF2B5EF4-FFF2-40B4-BE49-F238E27FC236}">
                <a16:creationId xmlns:a16="http://schemas.microsoft.com/office/drawing/2014/main" id="{054D78C5-C924-6C01-40DF-9AB74A3A7F9B}"/>
              </a:ext>
            </a:extLst>
          </p:cNvPr>
          <p:cNvSpPr txBox="1"/>
          <p:nvPr/>
        </p:nvSpPr>
        <p:spPr>
          <a:xfrm>
            <a:off x="3749980" y="103746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6" name="テキスト ボックス 275">
            <a:extLst>
              <a:ext uri="{FF2B5EF4-FFF2-40B4-BE49-F238E27FC236}">
                <a16:creationId xmlns:a16="http://schemas.microsoft.com/office/drawing/2014/main" id="{13FC546F-9741-3E0B-C6C9-6C3750E8FD74}"/>
              </a:ext>
            </a:extLst>
          </p:cNvPr>
          <p:cNvSpPr txBox="1"/>
          <p:nvPr/>
        </p:nvSpPr>
        <p:spPr>
          <a:xfrm>
            <a:off x="2948910" y="147311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7" name="ひし形 276">
            <a:extLst>
              <a:ext uri="{FF2B5EF4-FFF2-40B4-BE49-F238E27FC236}">
                <a16:creationId xmlns:a16="http://schemas.microsoft.com/office/drawing/2014/main" id="{1BD374CB-6790-F7FD-D2B6-900F9529DD3F}"/>
              </a:ext>
            </a:extLst>
          </p:cNvPr>
          <p:cNvSpPr/>
          <p:nvPr/>
        </p:nvSpPr>
        <p:spPr>
          <a:xfrm>
            <a:off x="2874953" y="1362238"/>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8" name="テキスト ボックス 277">
            <a:extLst>
              <a:ext uri="{FF2B5EF4-FFF2-40B4-BE49-F238E27FC236}">
                <a16:creationId xmlns:a16="http://schemas.microsoft.com/office/drawing/2014/main" id="{17325067-C73A-BF70-3F81-BAC6CCC1EB62}"/>
              </a:ext>
            </a:extLst>
          </p:cNvPr>
          <p:cNvSpPr txBox="1"/>
          <p:nvPr/>
        </p:nvSpPr>
        <p:spPr>
          <a:xfrm>
            <a:off x="1672123" y="56478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1" name="テキスト ボックス 280">
            <a:extLst>
              <a:ext uri="{FF2B5EF4-FFF2-40B4-BE49-F238E27FC236}">
                <a16:creationId xmlns:a16="http://schemas.microsoft.com/office/drawing/2014/main" id="{974EF213-3C27-C52C-9F7B-B5B9021C3401}"/>
              </a:ext>
            </a:extLst>
          </p:cNvPr>
          <p:cNvSpPr txBox="1"/>
          <p:nvPr/>
        </p:nvSpPr>
        <p:spPr>
          <a:xfrm>
            <a:off x="2990710" y="2454686"/>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3" name="テキスト ボックス 282">
            <a:extLst>
              <a:ext uri="{FF2B5EF4-FFF2-40B4-BE49-F238E27FC236}">
                <a16:creationId xmlns:a16="http://schemas.microsoft.com/office/drawing/2014/main" id="{DDAA2AC9-7348-DA42-271B-218CEABC7373}"/>
              </a:ext>
            </a:extLst>
          </p:cNvPr>
          <p:cNvSpPr txBox="1"/>
          <p:nvPr/>
        </p:nvSpPr>
        <p:spPr>
          <a:xfrm>
            <a:off x="1660910" y="344701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84" name="直線コネクタ 283">
            <a:extLst>
              <a:ext uri="{FF2B5EF4-FFF2-40B4-BE49-F238E27FC236}">
                <a16:creationId xmlns:a16="http://schemas.microsoft.com/office/drawing/2014/main" id="{2D472108-6613-CE92-6BF7-DE3CE2A8C982}"/>
              </a:ext>
            </a:extLst>
          </p:cNvPr>
          <p:cNvCxnSpPr>
            <a:cxnSpLocks/>
            <a:endCxn id="285" idx="0"/>
          </p:cNvCxnSpPr>
          <p:nvPr/>
        </p:nvCxnSpPr>
        <p:spPr>
          <a:xfrm flipH="1" flipV="1">
            <a:off x="5560998" y="1028695"/>
            <a:ext cx="137102" cy="951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ひし形 284">
            <a:extLst>
              <a:ext uri="{FF2B5EF4-FFF2-40B4-BE49-F238E27FC236}">
                <a16:creationId xmlns:a16="http://schemas.microsoft.com/office/drawing/2014/main" id="{F5796523-65F0-40E5-126B-9EFE6E287B1E}"/>
              </a:ext>
            </a:extLst>
          </p:cNvPr>
          <p:cNvSpPr/>
          <p:nvPr/>
        </p:nvSpPr>
        <p:spPr>
          <a:xfrm rot="6514445">
            <a:off x="5400694" y="906683"/>
            <a:ext cx="145177" cy="18507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6" name="正方形/長方形 285">
            <a:extLst>
              <a:ext uri="{FF2B5EF4-FFF2-40B4-BE49-F238E27FC236}">
                <a16:creationId xmlns:a16="http://schemas.microsoft.com/office/drawing/2014/main" id="{503ED8D7-9A03-9764-8BC6-D18A19FE51BC}"/>
              </a:ext>
            </a:extLst>
          </p:cNvPr>
          <p:cNvSpPr/>
          <p:nvPr/>
        </p:nvSpPr>
        <p:spPr>
          <a:xfrm>
            <a:off x="5682300" y="986328"/>
            <a:ext cx="121992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7" name="テキスト ボックス 286">
            <a:extLst>
              <a:ext uri="{FF2B5EF4-FFF2-40B4-BE49-F238E27FC236}">
                <a16:creationId xmlns:a16="http://schemas.microsoft.com/office/drawing/2014/main" id="{B0347A81-9A30-7A7F-1643-398D687DA6A4}"/>
              </a:ext>
            </a:extLst>
          </p:cNvPr>
          <p:cNvSpPr txBox="1"/>
          <p:nvPr/>
        </p:nvSpPr>
        <p:spPr>
          <a:xfrm>
            <a:off x="5739516" y="951431"/>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88" name="直線コネクタ 287">
            <a:extLst>
              <a:ext uri="{FF2B5EF4-FFF2-40B4-BE49-F238E27FC236}">
                <a16:creationId xmlns:a16="http://schemas.microsoft.com/office/drawing/2014/main" id="{97388014-2799-352E-4E66-87877DAC71CD}"/>
              </a:ext>
            </a:extLst>
          </p:cNvPr>
          <p:cNvCxnSpPr>
            <a:cxnSpLocks/>
          </p:cNvCxnSpPr>
          <p:nvPr/>
        </p:nvCxnSpPr>
        <p:spPr>
          <a:xfrm flipV="1">
            <a:off x="5683202" y="1173464"/>
            <a:ext cx="1219022" cy="91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テキスト ボックス 288">
            <a:extLst>
              <a:ext uri="{FF2B5EF4-FFF2-40B4-BE49-F238E27FC236}">
                <a16:creationId xmlns:a16="http://schemas.microsoft.com/office/drawing/2014/main" id="{4177EF63-9D7D-3B09-B985-F8B069B70DF2}"/>
              </a:ext>
            </a:extLst>
          </p:cNvPr>
          <p:cNvSpPr txBox="1"/>
          <p:nvPr/>
        </p:nvSpPr>
        <p:spPr>
          <a:xfrm>
            <a:off x="5666874" y="1159202"/>
            <a:ext cx="1165072"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開始日</a:t>
            </a:r>
          </a:p>
        </p:txBody>
      </p:sp>
      <p:sp>
        <p:nvSpPr>
          <p:cNvPr id="290" name="テキスト ボックス 289">
            <a:extLst>
              <a:ext uri="{FF2B5EF4-FFF2-40B4-BE49-F238E27FC236}">
                <a16:creationId xmlns:a16="http://schemas.microsoft.com/office/drawing/2014/main" id="{C922C9B6-1DF4-AE83-F30C-02293E830C04}"/>
              </a:ext>
            </a:extLst>
          </p:cNvPr>
          <p:cNvSpPr txBox="1"/>
          <p:nvPr/>
        </p:nvSpPr>
        <p:spPr>
          <a:xfrm>
            <a:off x="5373534" y="105176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1" name="直線コネクタ 290">
            <a:extLst>
              <a:ext uri="{FF2B5EF4-FFF2-40B4-BE49-F238E27FC236}">
                <a16:creationId xmlns:a16="http://schemas.microsoft.com/office/drawing/2014/main" id="{F84973F5-62B9-9A09-58DE-2B0FE0D5A2C3}"/>
              </a:ext>
            </a:extLst>
          </p:cNvPr>
          <p:cNvCxnSpPr>
            <a:cxnSpLocks/>
            <a:endCxn id="329" idx="2"/>
          </p:cNvCxnSpPr>
          <p:nvPr/>
        </p:nvCxnSpPr>
        <p:spPr>
          <a:xfrm flipH="1" flipV="1">
            <a:off x="5611063" y="729225"/>
            <a:ext cx="1494496" cy="4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線矢印コネクタ 291">
            <a:extLst>
              <a:ext uri="{FF2B5EF4-FFF2-40B4-BE49-F238E27FC236}">
                <a16:creationId xmlns:a16="http://schemas.microsoft.com/office/drawing/2014/main" id="{6E58D5FB-7142-70C6-689C-D54D8FE8AEF1}"/>
              </a:ext>
            </a:extLst>
          </p:cNvPr>
          <p:cNvCxnSpPr>
            <a:cxnSpLocks/>
            <a:stCxn id="324" idx="2"/>
          </p:cNvCxnSpPr>
          <p:nvPr/>
        </p:nvCxnSpPr>
        <p:spPr>
          <a:xfrm>
            <a:off x="8010345" y="5019819"/>
            <a:ext cx="0" cy="28887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6F4B7647-6A77-E273-7D7B-9EFD6FF478EE}"/>
              </a:ext>
            </a:extLst>
          </p:cNvPr>
          <p:cNvSpPr/>
          <p:nvPr/>
        </p:nvSpPr>
        <p:spPr>
          <a:xfrm>
            <a:off x="7115330" y="671194"/>
            <a:ext cx="1817378"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6" name="テキスト ボックス 295">
            <a:extLst>
              <a:ext uri="{FF2B5EF4-FFF2-40B4-BE49-F238E27FC236}">
                <a16:creationId xmlns:a16="http://schemas.microsoft.com/office/drawing/2014/main" id="{E1CFCAEC-CBB9-0687-8A5A-A0B221BCDA3A}"/>
              </a:ext>
            </a:extLst>
          </p:cNvPr>
          <p:cNvSpPr txBox="1"/>
          <p:nvPr/>
        </p:nvSpPr>
        <p:spPr>
          <a:xfrm>
            <a:off x="7368086" y="606601"/>
            <a:ext cx="1323982" cy="253916"/>
          </a:xfrm>
          <a:prstGeom prst="rect">
            <a:avLst/>
          </a:prstGeom>
          <a:noFill/>
        </p:spPr>
        <p:txBody>
          <a:bodyPr wrap="square" rtlCol="0">
            <a:spAutoFit/>
          </a:bodyPr>
          <a:lstStyle/>
          <a:p>
            <a:pPr algn="ctr"/>
            <a:r>
              <a:rPr lang="en-US" altLang="ja-JP" sz="1000" b="1" dirty="0">
                <a:latin typeface="ＭＳ Ｐゴシック" panose="020B0600070205080204" pitchFamily="50" charset="-128"/>
                <a:ea typeface="ＭＳ Ｐゴシック" panose="020B0600070205080204" pitchFamily="50" charset="-128"/>
              </a:rPr>
              <a:t>OAT</a:t>
            </a:r>
            <a:r>
              <a:rPr lang="ja-JP" altLang="en-US" sz="1000" b="1" dirty="0">
                <a:latin typeface="ＭＳ Ｐゴシック" panose="020B0600070205080204" pitchFamily="50" charset="-128"/>
                <a:ea typeface="ＭＳ Ｐゴシック" panose="020B0600070205080204" pitchFamily="50" charset="-128"/>
              </a:rPr>
              <a:t>ユニット</a:t>
            </a:r>
            <a:endParaRPr kumimoji="1" lang="ja-JP" altLang="en-US" sz="1000" b="1" dirty="0">
              <a:latin typeface="ＭＳ Ｐゴシック" panose="020B0600070205080204" pitchFamily="50" charset="-128"/>
              <a:ea typeface="ＭＳ Ｐゴシック" panose="020B0600070205080204" pitchFamily="50" charset="-128"/>
            </a:endParaRPr>
          </a:p>
        </p:txBody>
      </p:sp>
      <p:cxnSp>
        <p:nvCxnSpPr>
          <p:cNvPr id="297" name="直線コネクタ 296">
            <a:extLst>
              <a:ext uri="{FF2B5EF4-FFF2-40B4-BE49-F238E27FC236}">
                <a16:creationId xmlns:a16="http://schemas.microsoft.com/office/drawing/2014/main" id="{36FFCC3C-AE5B-EE3A-7904-5DAD209D8ED5}"/>
              </a:ext>
            </a:extLst>
          </p:cNvPr>
          <p:cNvCxnSpPr>
            <a:cxnSpLocks/>
          </p:cNvCxnSpPr>
          <p:nvPr/>
        </p:nvCxnSpPr>
        <p:spPr>
          <a:xfrm>
            <a:off x="7125100" y="820763"/>
            <a:ext cx="18173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正方形/長方形 297">
            <a:extLst>
              <a:ext uri="{FF2B5EF4-FFF2-40B4-BE49-F238E27FC236}">
                <a16:creationId xmlns:a16="http://schemas.microsoft.com/office/drawing/2014/main" id="{E4F631BA-4764-C71F-A1AD-1A225D09C186}"/>
              </a:ext>
            </a:extLst>
          </p:cNvPr>
          <p:cNvSpPr/>
          <p:nvPr/>
        </p:nvSpPr>
        <p:spPr>
          <a:xfrm>
            <a:off x="7125100" y="779906"/>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299" name="正方形/長方形 298">
            <a:extLst>
              <a:ext uri="{FF2B5EF4-FFF2-40B4-BE49-F238E27FC236}">
                <a16:creationId xmlns:a16="http://schemas.microsoft.com/office/drawing/2014/main" id="{B0620FBF-3367-FD3B-5C6E-5C4ECBF608F6}"/>
              </a:ext>
            </a:extLst>
          </p:cNvPr>
          <p:cNvSpPr/>
          <p:nvPr/>
        </p:nvSpPr>
        <p:spPr>
          <a:xfrm>
            <a:off x="7115330" y="1513900"/>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0" name="正方形/長方形 299">
            <a:extLst>
              <a:ext uri="{FF2B5EF4-FFF2-40B4-BE49-F238E27FC236}">
                <a16:creationId xmlns:a16="http://schemas.microsoft.com/office/drawing/2014/main" id="{A9A33633-201E-A6F3-DF09-7F1209B390B5}"/>
              </a:ext>
            </a:extLst>
          </p:cNvPr>
          <p:cNvSpPr/>
          <p:nvPr/>
        </p:nvSpPr>
        <p:spPr>
          <a:xfrm>
            <a:off x="7110751" y="3446187"/>
            <a:ext cx="1834231" cy="1397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1" name="正方形/長方形 300">
            <a:extLst>
              <a:ext uri="{FF2B5EF4-FFF2-40B4-BE49-F238E27FC236}">
                <a16:creationId xmlns:a16="http://schemas.microsoft.com/office/drawing/2014/main" id="{C1721F27-8E56-1173-4B3C-494ECD565DF4}"/>
              </a:ext>
            </a:extLst>
          </p:cNvPr>
          <p:cNvSpPr/>
          <p:nvPr/>
        </p:nvSpPr>
        <p:spPr>
          <a:xfrm>
            <a:off x="7110751" y="5230567"/>
            <a:ext cx="1834231"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02" name="直線コネクタ 301">
            <a:extLst>
              <a:ext uri="{FF2B5EF4-FFF2-40B4-BE49-F238E27FC236}">
                <a16:creationId xmlns:a16="http://schemas.microsoft.com/office/drawing/2014/main" id="{68C96411-E50D-983C-4322-2C78880B38DF}"/>
              </a:ext>
            </a:extLst>
          </p:cNvPr>
          <p:cNvCxnSpPr>
            <a:cxnSpLocks/>
          </p:cNvCxnSpPr>
          <p:nvPr/>
        </p:nvCxnSpPr>
        <p:spPr>
          <a:xfrm>
            <a:off x="7110751" y="1703975"/>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テキスト ボックス 302">
            <a:extLst>
              <a:ext uri="{FF2B5EF4-FFF2-40B4-BE49-F238E27FC236}">
                <a16:creationId xmlns:a16="http://schemas.microsoft.com/office/drawing/2014/main" id="{D4C62001-C67E-1346-5A9C-640238ECDBD8}"/>
              </a:ext>
            </a:extLst>
          </p:cNvPr>
          <p:cNvSpPr txBox="1"/>
          <p:nvPr/>
        </p:nvSpPr>
        <p:spPr>
          <a:xfrm>
            <a:off x="7684271" y="1478838"/>
            <a:ext cx="760144" cy="253916"/>
          </a:xfrm>
          <a:prstGeom prst="rect">
            <a:avLst/>
          </a:prstGeom>
          <a:noFill/>
        </p:spPr>
        <p:txBody>
          <a:bodyPr wrap="none" rtlCol="0">
            <a:spAutoFit/>
          </a:bodyPr>
          <a:lstStyle/>
          <a:p>
            <a:r>
              <a:rPr kumimoji="1" lang="ja-JP" altLang="en-US" sz="1050" b="1" dirty="0">
                <a:latin typeface="ＭＳ Ｐゴシック" panose="020B0600070205080204" pitchFamily="50" charset="-128"/>
                <a:ea typeface="ＭＳ Ｐゴシック" panose="020B0600070205080204" pitchFamily="50" charset="-128"/>
              </a:rPr>
              <a:t>アウトカム</a:t>
            </a:r>
          </a:p>
        </p:txBody>
      </p:sp>
      <p:sp>
        <p:nvSpPr>
          <p:cNvPr id="304" name="テキスト ボックス 303">
            <a:extLst>
              <a:ext uri="{FF2B5EF4-FFF2-40B4-BE49-F238E27FC236}">
                <a16:creationId xmlns:a16="http://schemas.microsoft.com/office/drawing/2014/main" id="{3FEAEDB8-0938-70F5-77E1-F8692228A605}"/>
              </a:ext>
            </a:extLst>
          </p:cNvPr>
          <p:cNvSpPr txBox="1"/>
          <p:nvPr/>
        </p:nvSpPr>
        <p:spPr>
          <a:xfrm>
            <a:off x="7297314" y="3410762"/>
            <a:ext cx="1316726"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観察項目</a:t>
            </a:r>
          </a:p>
        </p:txBody>
      </p:sp>
      <p:sp>
        <p:nvSpPr>
          <p:cNvPr id="305" name="テキスト ボックス 304">
            <a:extLst>
              <a:ext uri="{FF2B5EF4-FFF2-40B4-BE49-F238E27FC236}">
                <a16:creationId xmlns:a16="http://schemas.microsoft.com/office/drawing/2014/main" id="{20B1C958-4250-BCDB-82AE-C2C5EC3D036B}"/>
              </a:ext>
            </a:extLst>
          </p:cNvPr>
          <p:cNvSpPr txBox="1"/>
          <p:nvPr/>
        </p:nvSpPr>
        <p:spPr>
          <a:xfrm>
            <a:off x="7277438" y="5182195"/>
            <a:ext cx="1414630"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タスク</a:t>
            </a:r>
          </a:p>
        </p:txBody>
      </p:sp>
      <p:sp>
        <p:nvSpPr>
          <p:cNvPr id="306" name="テキスト ボックス 305">
            <a:extLst>
              <a:ext uri="{FF2B5EF4-FFF2-40B4-BE49-F238E27FC236}">
                <a16:creationId xmlns:a16="http://schemas.microsoft.com/office/drawing/2014/main" id="{550F7A2A-592C-33AE-D716-15252BD7DD90}"/>
              </a:ext>
            </a:extLst>
          </p:cNvPr>
          <p:cNvSpPr txBox="1"/>
          <p:nvPr/>
        </p:nvSpPr>
        <p:spPr>
          <a:xfrm>
            <a:off x="7074465" y="1699513"/>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評価</a:t>
            </a:r>
          </a:p>
        </p:txBody>
      </p:sp>
      <p:sp>
        <p:nvSpPr>
          <p:cNvPr id="307" name="正方形/長方形 306">
            <a:extLst>
              <a:ext uri="{FF2B5EF4-FFF2-40B4-BE49-F238E27FC236}">
                <a16:creationId xmlns:a16="http://schemas.microsoft.com/office/drawing/2014/main" id="{9F65A85D-54D5-445D-4BD5-08525CB87C01}"/>
              </a:ext>
            </a:extLst>
          </p:cNvPr>
          <p:cNvSpPr/>
          <p:nvPr/>
        </p:nvSpPr>
        <p:spPr>
          <a:xfrm>
            <a:off x="7066202" y="3613788"/>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308" name="テキスト ボックス 307">
            <a:extLst>
              <a:ext uri="{FF2B5EF4-FFF2-40B4-BE49-F238E27FC236}">
                <a16:creationId xmlns:a16="http://schemas.microsoft.com/office/drawing/2014/main" id="{ED8E3DEE-DC32-ACCE-63BD-29735110235A}"/>
              </a:ext>
            </a:extLst>
          </p:cNvPr>
          <p:cNvSpPr txBox="1"/>
          <p:nvPr/>
        </p:nvSpPr>
        <p:spPr>
          <a:xfrm>
            <a:off x="7199192" y="5393709"/>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タスク実施</a:t>
            </a:r>
            <a: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t/>
            </a:r>
            <a:b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b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（実施状況・実施者）</a:t>
            </a:r>
          </a:p>
        </p:txBody>
      </p:sp>
      <p:cxnSp>
        <p:nvCxnSpPr>
          <p:cNvPr id="309" name="直線コネクタ 308">
            <a:extLst>
              <a:ext uri="{FF2B5EF4-FFF2-40B4-BE49-F238E27FC236}">
                <a16:creationId xmlns:a16="http://schemas.microsoft.com/office/drawing/2014/main" id="{F24D1F1B-516D-4400-628B-9DF93327DDBF}"/>
              </a:ext>
            </a:extLst>
          </p:cNvPr>
          <p:cNvCxnSpPr>
            <a:cxnSpLocks/>
          </p:cNvCxnSpPr>
          <p:nvPr/>
        </p:nvCxnSpPr>
        <p:spPr>
          <a:xfrm>
            <a:off x="7133915" y="5402870"/>
            <a:ext cx="17987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a:extLst>
              <a:ext uri="{FF2B5EF4-FFF2-40B4-BE49-F238E27FC236}">
                <a16:creationId xmlns:a16="http://schemas.microsoft.com/office/drawing/2014/main" id="{4112DF24-0628-4CAB-3E52-84C2194C22DE}"/>
              </a:ext>
            </a:extLst>
          </p:cNvPr>
          <p:cNvCxnSpPr>
            <a:cxnSpLocks/>
          </p:cNvCxnSpPr>
          <p:nvPr/>
        </p:nvCxnSpPr>
        <p:spPr>
          <a:xfrm>
            <a:off x="7110694" y="3624412"/>
            <a:ext cx="1828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04BB43D-E7AC-EAAD-81D7-9EECFE3482E0}"/>
              </a:ext>
            </a:extLst>
          </p:cNvPr>
          <p:cNvCxnSpPr>
            <a:cxnSpLocks/>
            <a:stCxn id="326" idx="2"/>
          </p:cNvCxnSpPr>
          <p:nvPr/>
        </p:nvCxnSpPr>
        <p:spPr>
          <a:xfrm>
            <a:off x="7992979" y="3318928"/>
            <a:ext cx="0" cy="15603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2" name="テキスト ボックス 311">
            <a:extLst>
              <a:ext uri="{FF2B5EF4-FFF2-40B4-BE49-F238E27FC236}">
                <a16:creationId xmlns:a16="http://schemas.microsoft.com/office/drawing/2014/main" id="{0743A75C-F49C-1E69-2563-DD14796623C2}"/>
              </a:ext>
            </a:extLst>
          </p:cNvPr>
          <p:cNvSpPr txBox="1"/>
          <p:nvPr/>
        </p:nvSpPr>
        <p:spPr>
          <a:xfrm>
            <a:off x="7993152" y="322433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3" name="テキスト ボックス 312">
            <a:extLst>
              <a:ext uri="{FF2B5EF4-FFF2-40B4-BE49-F238E27FC236}">
                <a16:creationId xmlns:a16="http://schemas.microsoft.com/office/drawing/2014/main" id="{AD11120C-6C5A-23EB-CB0A-85994E01E879}"/>
              </a:ext>
            </a:extLst>
          </p:cNvPr>
          <p:cNvSpPr txBox="1"/>
          <p:nvPr/>
        </p:nvSpPr>
        <p:spPr>
          <a:xfrm>
            <a:off x="8015978" y="498363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2" name="ひし形 321">
            <a:extLst>
              <a:ext uri="{FF2B5EF4-FFF2-40B4-BE49-F238E27FC236}">
                <a16:creationId xmlns:a16="http://schemas.microsoft.com/office/drawing/2014/main" id="{5FB4821E-E018-F152-4499-2CB2A84C097C}"/>
              </a:ext>
            </a:extLst>
          </p:cNvPr>
          <p:cNvSpPr/>
          <p:nvPr/>
        </p:nvSpPr>
        <p:spPr>
          <a:xfrm>
            <a:off x="7978859" y="117274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3" name="テキスト ボックス 322">
            <a:extLst>
              <a:ext uri="{FF2B5EF4-FFF2-40B4-BE49-F238E27FC236}">
                <a16:creationId xmlns:a16="http://schemas.microsoft.com/office/drawing/2014/main" id="{C61BD7B8-BFE2-6FA1-8A4B-33AD10F69ED1}"/>
              </a:ext>
            </a:extLst>
          </p:cNvPr>
          <p:cNvSpPr txBox="1"/>
          <p:nvPr/>
        </p:nvSpPr>
        <p:spPr>
          <a:xfrm>
            <a:off x="8051178" y="1288865"/>
            <a:ext cx="343301"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4" name="ひし形 323">
            <a:extLst>
              <a:ext uri="{FF2B5EF4-FFF2-40B4-BE49-F238E27FC236}">
                <a16:creationId xmlns:a16="http://schemas.microsoft.com/office/drawing/2014/main" id="{A008671C-F0C6-C738-F08F-BCBD28C3E212}"/>
              </a:ext>
            </a:extLst>
          </p:cNvPr>
          <p:cNvSpPr/>
          <p:nvPr/>
        </p:nvSpPr>
        <p:spPr>
          <a:xfrm>
            <a:off x="7952146" y="482989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6" name="ひし形 325">
            <a:extLst>
              <a:ext uri="{FF2B5EF4-FFF2-40B4-BE49-F238E27FC236}">
                <a16:creationId xmlns:a16="http://schemas.microsoft.com/office/drawing/2014/main" id="{23F9EF5D-6C63-FCFF-254B-BD25239CEA0F}"/>
              </a:ext>
            </a:extLst>
          </p:cNvPr>
          <p:cNvSpPr/>
          <p:nvPr/>
        </p:nvSpPr>
        <p:spPr>
          <a:xfrm rot="21591126">
            <a:off x="7934535" y="3129006"/>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9" name="ひし形 328">
            <a:extLst>
              <a:ext uri="{FF2B5EF4-FFF2-40B4-BE49-F238E27FC236}">
                <a16:creationId xmlns:a16="http://schemas.microsoft.com/office/drawing/2014/main" id="{091F5069-78E6-3E97-2279-4CE90D516A8B}"/>
              </a:ext>
            </a:extLst>
          </p:cNvPr>
          <p:cNvSpPr/>
          <p:nvPr/>
        </p:nvSpPr>
        <p:spPr>
          <a:xfrm rot="16082748">
            <a:off x="5428676" y="627165"/>
            <a:ext cx="153569" cy="211328"/>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0" name="テキスト ボックス 329">
            <a:extLst>
              <a:ext uri="{FF2B5EF4-FFF2-40B4-BE49-F238E27FC236}">
                <a16:creationId xmlns:a16="http://schemas.microsoft.com/office/drawing/2014/main" id="{6328FC8F-5FC6-CD25-B9F2-9D94491B02C5}"/>
              </a:ext>
            </a:extLst>
          </p:cNvPr>
          <p:cNvSpPr txBox="1"/>
          <p:nvPr/>
        </p:nvSpPr>
        <p:spPr>
          <a:xfrm>
            <a:off x="6722121" y="67988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31" name="直線コネクタ 330">
            <a:extLst>
              <a:ext uri="{FF2B5EF4-FFF2-40B4-BE49-F238E27FC236}">
                <a16:creationId xmlns:a16="http://schemas.microsoft.com/office/drawing/2014/main" id="{384CB4F1-8522-67AC-D384-EAA8147A3041}"/>
              </a:ext>
            </a:extLst>
          </p:cNvPr>
          <p:cNvCxnSpPr>
            <a:cxnSpLocks/>
            <a:stCxn id="332" idx="0"/>
          </p:cNvCxnSpPr>
          <p:nvPr/>
        </p:nvCxnSpPr>
        <p:spPr>
          <a:xfrm flipH="1">
            <a:off x="6434053" y="4445244"/>
            <a:ext cx="508475" cy="280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2" name="ひし形 331">
            <a:extLst>
              <a:ext uri="{FF2B5EF4-FFF2-40B4-BE49-F238E27FC236}">
                <a16:creationId xmlns:a16="http://schemas.microsoft.com/office/drawing/2014/main" id="{BA450FFC-866D-1CC3-F4C3-0B6DE481F28C}"/>
              </a:ext>
            </a:extLst>
          </p:cNvPr>
          <p:cNvSpPr/>
          <p:nvPr/>
        </p:nvSpPr>
        <p:spPr>
          <a:xfrm rot="16065606">
            <a:off x="6963482" y="4346572"/>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3" name="テキスト ボックス 332">
            <a:extLst>
              <a:ext uri="{FF2B5EF4-FFF2-40B4-BE49-F238E27FC236}">
                <a16:creationId xmlns:a16="http://schemas.microsoft.com/office/drawing/2014/main" id="{7BC048CA-4AC5-D860-C1B0-702098E469F7}"/>
              </a:ext>
            </a:extLst>
          </p:cNvPr>
          <p:cNvSpPr txBox="1"/>
          <p:nvPr/>
        </p:nvSpPr>
        <p:spPr>
          <a:xfrm>
            <a:off x="6573026" y="444141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334" name="テキスト ボックス 333">
            <a:extLst>
              <a:ext uri="{FF2B5EF4-FFF2-40B4-BE49-F238E27FC236}">
                <a16:creationId xmlns:a16="http://schemas.microsoft.com/office/drawing/2014/main" id="{9FA13448-944B-8CB6-BBB1-BF131D9D1B4E}"/>
              </a:ext>
            </a:extLst>
          </p:cNvPr>
          <p:cNvSpPr txBox="1"/>
          <p:nvPr/>
        </p:nvSpPr>
        <p:spPr>
          <a:xfrm>
            <a:off x="2347648" y="550339"/>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335" name="正方形/長方形 334">
            <a:extLst>
              <a:ext uri="{FF2B5EF4-FFF2-40B4-BE49-F238E27FC236}">
                <a16:creationId xmlns:a16="http://schemas.microsoft.com/office/drawing/2014/main" id="{F096E7F3-9BB8-F7FC-CDB5-374FB3E4B189}"/>
              </a:ext>
            </a:extLst>
          </p:cNvPr>
          <p:cNvSpPr/>
          <p:nvPr/>
        </p:nvSpPr>
        <p:spPr>
          <a:xfrm>
            <a:off x="5236772" y="4238051"/>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36" name="直線コネクタ 335">
            <a:extLst>
              <a:ext uri="{FF2B5EF4-FFF2-40B4-BE49-F238E27FC236}">
                <a16:creationId xmlns:a16="http://schemas.microsoft.com/office/drawing/2014/main" id="{68D12AD5-72F5-51D2-31A8-1D89BE634513}"/>
              </a:ext>
            </a:extLst>
          </p:cNvPr>
          <p:cNvCxnSpPr>
            <a:cxnSpLocks/>
          </p:cNvCxnSpPr>
          <p:nvPr/>
        </p:nvCxnSpPr>
        <p:spPr>
          <a:xfrm>
            <a:off x="5236772" y="4433418"/>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正方形/長方形 336">
            <a:extLst>
              <a:ext uri="{FF2B5EF4-FFF2-40B4-BE49-F238E27FC236}">
                <a16:creationId xmlns:a16="http://schemas.microsoft.com/office/drawing/2014/main" id="{32855AE7-1A70-2B22-1B5F-3BBE84CD4E61}"/>
              </a:ext>
            </a:extLst>
          </p:cNvPr>
          <p:cNvSpPr/>
          <p:nvPr/>
        </p:nvSpPr>
        <p:spPr>
          <a:xfrm>
            <a:off x="5179987" y="4210409"/>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338" name="テキスト ボックス 337">
            <a:extLst>
              <a:ext uri="{FF2B5EF4-FFF2-40B4-BE49-F238E27FC236}">
                <a16:creationId xmlns:a16="http://schemas.microsoft.com/office/drawing/2014/main" id="{D5DE617C-CAFC-2C93-E1DE-D8402D2CCB8A}"/>
              </a:ext>
            </a:extLst>
          </p:cNvPr>
          <p:cNvSpPr txBox="1"/>
          <p:nvPr/>
        </p:nvSpPr>
        <p:spPr>
          <a:xfrm>
            <a:off x="5258533" y="4407451"/>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227" name="テキスト ボックス 226">
            <a:extLst>
              <a:ext uri="{FF2B5EF4-FFF2-40B4-BE49-F238E27FC236}">
                <a16:creationId xmlns:a16="http://schemas.microsoft.com/office/drawing/2014/main" id="{D0C33F22-47BD-CDF0-076F-E85E49902669}"/>
              </a:ext>
            </a:extLst>
          </p:cNvPr>
          <p:cNvSpPr txBox="1"/>
          <p:nvPr/>
        </p:nvSpPr>
        <p:spPr>
          <a:xfrm>
            <a:off x="2464064" y="384658"/>
            <a:ext cx="936475" cy="230832"/>
          </a:xfrm>
          <a:prstGeom prst="rect">
            <a:avLst/>
          </a:prstGeom>
          <a:noFill/>
        </p:spPr>
        <p:txBody>
          <a:bodyPr wrap="none" rtlCol="0">
            <a:spAutoFit/>
          </a:bodyPr>
          <a:lstStyle/>
          <a:p>
            <a:r>
              <a:rPr lang="en-US" altLang="ja-JP" sz="900" dirty="0">
                <a:latin typeface="ＭＳ Ｐゴシック" panose="020B0600070205080204" pitchFamily="50" charset="-128"/>
                <a:ea typeface="ＭＳ Ｐゴシック" panose="020B0600070205080204" pitchFamily="50" charset="-128"/>
              </a:rPr>
              <a:t>ePath </a:t>
            </a:r>
            <a:r>
              <a:rPr lang="ja-JP" altLang="en-US" sz="800" dirty="0">
                <a:latin typeface="ＭＳ Ｐゴシック" panose="020B0600070205080204" pitchFamily="50" charset="-128"/>
                <a:ea typeface="ＭＳ Ｐゴシック" panose="020B0600070205080204" pitchFamily="50" charset="-128"/>
              </a:rPr>
              <a:t>メッセージ</a:t>
            </a:r>
            <a:endParaRPr lang="ja-JP" altLang="en-US" sz="900" dirty="0">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896AD8AE-32E5-C37F-1949-E92E7AE99B82}"/>
              </a:ext>
            </a:extLst>
          </p:cNvPr>
          <p:cNvSpPr/>
          <p:nvPr/>
        </p:nvSpPr>
        <p:spPr>
          <a:xfrm>
            <a:off x="5701588" y="1932091"/>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7D84DEC0-E79B-7F2A-35FD-5CE91959A999}"/>
              </a:ext>
            </a:extLst>
          </p:cNvPr>
          <p:cNvSpPr txBox="1"/>
          <p:nvPr/>
        </p:nvSpPr>
        <p:spPr>
          <a:xfrm>
            <a:off x="5702176" y="1904942"/>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5" name="直線コネクタ 4">
            <a:extLst>
              <a:ext uri="{FF2B5EF4-FFF2-40B4-BE49-F238E27FC236}">
                <a16:creationId xmlns:a16="http://schemas.microsoft.com/office/drawing/2014/main" id="{61986468-24C9-A7A3-A067-2E9246CCB14F}"/>
              </a:ext>
            </a:extLst>
          </p:cNvPr>
          <p:cNvCxnSpPr>
            <a:cxnSpLocks/>
          </p:cNvCxnSpPr>
          <p:nvPr/>
        </p:nvCxnSpPr>
        <p:spPr>
          <a:xfrm flipV="1">
            <a:off x="5707963" y="2115758"/>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1C5245E-5A95-F145-B86A-41BF7CD12932}"/>
              </a:ext>
            </a:extLst>
          </p:cNvPr>
          <p:cNvSpPr txBox="1"/>
          <p:nvPr/>
        </p:nvSpPr>
        <p:spPr>
          <a:xfrm>
            <a:off x="5672668" y="2115758"/>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26" name="ひし形 25">
            <a:extLst>
              <a:ext uri="{FF2B5EF4-FFF2-40B4-BE49-F238E27FC236}">
                <a16:creationId xmlns:a16="http://schemas.microsoft.com/office/drawing/2014/main" id="{EA290B71-EACF-8791-352C-99BDADD54AE6}"/>
              </a:ext>
            </a:extLst>
          </p:cNvPr>
          <p:cNvSpPr/>
          <p:nvPr/>
        </p:nvSpPr>
        <p:spPr>
          <a:xfrm rot="7503262">
            <a:off x="5421228" y="164080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8" name="直線コネクタ 27">
            <a:extLst>
              <a:ext uri="{FF2B5EF4-FFF2-40B4-BE49-F238E27FC236}">
                <a16:creationId xmlns:a16="http://schemas.microsoft.com/office/drawing/2014/main" id="{047CE3FE-6B49-B0CF-AD49-EFC1130786F9}"/>
              </a:ext>
            </a:extLst>
          </p:cNvPr>
          <p:cNvCxnSpPr>
            <a:cxnSpLocks/>
            <a:stCxn id="4" idx="1"/>
            <a:endCxn id="26" idx="0"/>
          </p:cNvCxnSpPr>
          <p:nvPr/>
        </p:nvCxnSpPr>
        <p:spPr>
          <a:xfrm flipH="1" flipV="1">
            <a:off x="5561127" y="1790303"/>
            <a:ext cx="141049" cy="23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CE772C74-284C-E523-9945-05E32B0B588E}"/>
              </a:ext>
            </a:extLst>
          </p:cNvPr>
          <p:cNvSpPr txBox="1"/>
          <p:nvPr/>
        </p:nvSpPr>
        <p:spPr>
          <a:xfrm>
            <a:off x="5397684" y="19112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40" name="テキスト ボックス 339">
            <a:extLst>
              <a:ext uri="{FF2B5EF4-FFF2-40B4-BE49-F238E27FC236}">
                <a16:creationId xmlns:a16="http://schemas.microsoft.com/office/drawing/2014/main" id="{EAF4281A-F732-71BE-D263-6DB9DCDDEA2C}"/>
              </a:ext>
            </a:extLst>
          </p:cNvPr>
          <p:cNvSpPr txBox="1"/>
          <p:nvPr/>
        </p:nvSpPr>
        <p:spPr>
          <a:xfrm>
            <a:off x="7544084" y="314048"/>
            <a:ext cx="928147" cy="253916"/>
          </a:xfrm>
          <a:prstGeom prst="rect">
            <a:avLst/>
          </a:prstGeom>
          <a:noFill/>
        </p:spPr>
        <p:txBody>
          <a:bodyPr wrap="square" rtlCol="0">
            <a:spAutoFit/>
          </a:bodyPr>
          <a:lstStyle/>
          <a:p>
            <a:r>
              <a:rPr lang="en-US" altLang="ja-JP" sz="1050" b="1" dirty="0"/>
              <a:t>OAT</a:t>
            </a:r>
            <a:r>
              <a:rPr lang="ja-JP" altLang="en-US" sz="1050" b="1" dirty="0"/>
              <a:t> </a:t>
            </a:r>
            <a:r>
              <a:rPr lang="en-US" altLang="ja-JP" sz="1050" b="1" dirty="0"/>
              <a:t>Unit</a:t>
            </a:r>
          </a:p>
        </p:txBody>
      </p:sp>
    </p:spTree>
    <p:extLst>
      <p:ext uri="{BB962C8B-B14F-4D97-AF65-F5344CB8AC3E}">
        <p14:creationId xmlns:p14="http://schemas.microsoft.com/office/powerpoint/2010/main" val="6202429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9" name="四角形: 角を丸くする 338">
            <a:extLst>
              <a:ext uri="{FF2B5EF4-FFF2-40B4-BE49-F238E27FC236}">
                <a16:creationId xmlns:a16="http://schemas.microsoft.com/office/drawing/2014/main" id="{DB4E67BA-A7D5-C3D0-6FB8-F8EA988CCB78}"/>
              </a:ext>
            </a:extLst>
          </p:cNvPr>
          <p:cNvSpPr/>
          <p:nvPr/>
        </p:nvSpPr>
        <p:spPr>
          <a:xfrm>
            <a:off x="6984134" y="314049"/>
            <a:ext cx="2171443" cy="6401726"/>
          </a:xfrm>
          <a:prstGeom prst="roundRect">
            <a:avLst>
              <a:gd name="adj" fmla="val 10205"/>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cxnSp>
        <p:nvCxnSpPr>
          <p:cNvPr id="229" name="直線コネクタ 228">
            <a:extLst>
              <a:ext uri="{FF2B5EF4-FFF2-40B4-BE49-F238E27FC236}">
                <a16:creationId xmlns:a16="http://schemas.microsoft.com/office/drawing/2014/main" id="{8A62F05F-D990-1F5F-8903-0D764EA615C9}"/>
              </a:ext>
            </a:extLst>
          </p:cNvPr>
          <p:cNvCxnSpPr>
            <a:cxnSpLocks/>
            <a:stCxn id="322" idx="2"/>
            <a:endCxn id="306" idx="0"/>
          </p:cNvCxnSpPr>
          <p:nvPr/>
        </p:nvCxnSpPr>
        <p:spPr>
          <a:xfrm>
            <a:off x="8036070" y="1342726"/>
            <a:ext cx="18262" cy="356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133C37CB-CC6D-79FB-45D4-7F9B08274FBC}"/>
              </a:ext>
            </a:extLst>
          </p:cNvPr>
          <p:cNvCxnSpPr>
            <a:cxnSpLocks/>
          </p:cNvCxnSpPr>
          <p:nvPr/>
        </p:nvCxnSpPr>
        <p:spPr>
          <a:xfrm flipH="1">
            <a:off x="1694411" y="1260673"/>
            <a:ext cx="646559" cy="2382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線コネクタ 230">
            <a:extLst>
              <a:ext uri="{FF2B5EF4-FFF2-40B4-BE49-F238E27FC236}">
                <a16:creationId xmlns:a16="http://schemas.microsoft.com/office/drawing/2014/main" id="{F34548D3-63D7-5166-D5D8-0292E1BAC050}"/>
              </a:ext>
            </a:extLst>
          </p:cNvPr>
          <p:cNvCxnSpPr>
            <a:cxnSpLocks/>
            <a:stCxn id="274" idx="2"/>
            <a:endCxn id="271" idx="1"/>
          </p:cNvCxnSpPr>
          <p:nvPr/>
        </p:nvCxnSpPr>
        <p:spPr>
          <a:xfrm flipV="1">
            <a:off x="3739100" y="1273904"/>
            <a:ext cx="341443" cy="354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線コネクタ 231">
            <a:extLst>
              <a:ext uri="{FF2B5EF4-FFF2-40B4-BE49-F238E27FC236}">
                <a16:creationId xmlns:a16="http://schemas.microsoft.com/office/drawing/2014/main" id="{6CFBDEE3-9091-7A9B-CFBD-8633B84E7CE0}"/>
              </a:ext>
            </a:extLst>
          </p:cNvPr>
          <p:cNvCxnSpPr>
            <a:cxnSpLocks/>
          </p:cNvCxnSpPr>
          <p:nvPr/>
        </p:nvCxnSpPr>
        <p:spPr>
          <a:xfrm flipV="1">
            <a:off x="1509938" y="695590"/>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2C762386-1E56-071F-FD2F-C0B5D6F09811}"/>
              </a:ext>
            </a:extLst>
          </p:cNvPr>
          <p:cNvCxnSpPr>
            <a:cxnSpLocks/>
          </p:cNvCxnSpPr>
          <p:nvPr/>
        </p:nvCxnSpPr>
        <p:spPr>
          <a:xfrm>
            <a:off x="2932164" y="1539656"/>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01E284AB-679F-38A0-F919-F2742739D03F}"/>
              </a:ext>
            </a:extLst>
          </p:cNvPr>
          <p:cNvCxnSpPr>
            <a:cxnSpLocks/>
            <a:stCxn id="268" idx="2"/>
            <a:endCxn id="261" idx="2"/>
          </p:cNvCxnSpPr>
          <p:nvPr/>
        </p:nvCxnSpPr>
        <p:spPr>
          <a:xfrm flipH="1">
            <a:off x="2941652" y="2457156"/>
            <a:ext cx="10889" cy="464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12C67B0B-4370-F5E4-AC80-72CE1D16C36B}"/>
              </a:ext>
            </a:extLst>
          </p:cNvPr>
          <p:cNvSpPr/>
          <p:nvPr/>
        </p:nvSpPr>
        <p:spPr>
          <a:xfrm>
            <a:off x="2320788" y="1721048"/>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36" name="テキスト ボックス 235">
            <a:extLst>
              <a:ext uri="{FF2B5EF4-FFF2-40B4-BE49-F238E27FC236}">
                <a16:creationId xmlns:a16="http://schemas.microsoft.com/office/drawing/2014/main" id="{7F775ADF-DF1B-7E2F-D72F-50281CFDD0A8}"/>
              </a:ext>
            </a:extLst>
          </p:cNvPr>
          <p:cNvSpPr txBox="1"/>
          <p:nvPr/>
        </p:nvSpPr>
        <p:spPr>
          <a:xfrm>
            <a:off x="2352283" y="1678621"/>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37" name="正方形/長方形 236">
            <a:extLst>
              <a:ext uri="{FF2B5EF4-FFF2-40B4-BE49-F238E27FC236}">
                <a16:creationId xmlns:a16="http://schemas.microsoft.com/office/drawing/2014/main" id="{4F34F687-7FB6-9626-3AD9-EC58CDCF0C0F}"/>
              </a:ext>
            </a:extLst>
          </p:cNvPr>
          <p:cNvSpPr/>
          <p:nvPr/>
        </p:nvSpPr>
        <p:spPr>
          <a:xfrm>
            <a:off x="2340970" y="424099"/>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8" name="直線コネクタ 237">
            <a:extLst>
              <a:ext uri="{FF2B5EF4-FFF2-40B4-BE49-F238E27FC236}">
                <a16:creationId xmlns:a16="http://schemas.microsoft.com/office/drawing/2014/main" id="{F233E8EE-25B3-519E-E350-05FFF536089B}"/>
              </a:ext>
            </a:extLst>
          </p:cNvPr>
          <p:cNvCxnSpPr>
            <a:cxnSpLocks/>
          </p:cNvCxnSpPr>
          <p:nvPr/>
        </p:nvCxnSpPr>
        <p:spPr>
          <a:xfrm>
            <a:off x="2352283" y="573313"/>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線コネクタ 238">
            <a:extLst>
              <a:ext uri="{FF2B5EF4-FFF2-40B4-BE49-F238E27FC236}">
                <a16:creationId xmlns:a16="http://schemas.microsoft.com/office/drawing/2014/main" id="{99C0F03B-47B5-E2F4-459D-286F8E129DC9}"/>
              </a:ext>
            </a:extLst>
          </p:cNvPr>
          <p:cNvCxnSpPr>
            <a:cxnSpLocks/>
            <a:endCxn id="279" idx="1"/>
          </p:cNvCxnSpPr>
          <p:nvPr/>
        </p:nvCxnSpPr>
        <p:spPr>
          <a:xfrm flipH="1">
            <a:off x="1648988" y="820800"/>
            <a:ext cx="682654" cy="967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0" name="正方形/長方形 239">
            <a:extLst>
              <a:ext uri="{FF2B5EF4-FFF2-40B4-BE49-F238E27FC236}">
                <a16:creationId xmlns:a16="http://schemas.microsoft.com/office/drawing/2014/main" id="{B011BF13-6D06-9E20-D2DF-6AFC45DD86AA}"/>
              </a:ext>
            </a:extLst>
          </p:cNvPr>
          <p:cNvSpPr/>
          <p:nvPr/>
        </p:nvSpPr>
        <p:spPr>
          <a:xfrm>
            <a:off x="518312" y="1700212"/>
            <a:ext cx="1204177" cy="5299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1" name="テキスト ボックス 240">
            <a:extLst>
              <a:ext uri="{FF2B5EF4-FFF2-40B4-BE49-F238E27FC236}">
                <a16:creationId xmlns:a16="http://schemas.microsoft.com/office/drawing/2014/main" id="{D8BA3E42-8E4F-D12B-B695-B6D5AB36D4CF}"/>
              </a:ext>
            </a:extLst>
          </p:cNvPr>
          <p:cNvSpPr txBox="1"/>
          <p:nvPr/>
        </p:nvSpPr>
        <p:spPr>
          <a:xfrm>
            <a:off x="653208" y="1635033"/>
            <a:ext cx="988166"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医療機関情報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42" name="直線コネクタ 241">
            <a:extLst>
              <a:ext uri="{FF2B5EF4-FFF2-40B4-BE49-F238E27FC236}">
                <a16:creationId xmlns:a16="http://schemas.microsoft.com/office/drawing/2014/main" id="{84F5A8D8-A219-22D3-8424-77FB88469071}"/>
              </a:ext>
            </a:extLst>
          </p:cNvPr>
          <p:cNvCxnSpPr>
            <a:cxnSpLocks/>
          </p:cNvCxnSpPr>
          <p:nvPr/>
        </p:nvCxnSpPr>
        <p:spPr>
          <a:xfrm flipV="1">
            <a:off x="518312" y="1847888"/>
            <a:ext cx="1200197" cy="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正方形/長方形 242">
            <a:extLst>
              <a:ext uri="{FF2B5EF4-FFF2-40B4-BE49-F238E27FC236}">
                <a16:creationId xmlns:a16="http://schemas.microsoft.com/office/drawing/2014/main" id="{FA95C063-E54C-CB0E-E819-0EDD629F2BEA}"/>
              </a:ext>
            </a:extLst>
          </p:cNvPr>
          <p:cNvSpPr/>
          <p:nvPr/>
        </p:nvSpPr>
        <p:spPr>
          <a:xfrm>
            <a:off x="518312" y="3381690"/>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4" name="直線コネクタ 243">
            <a:extLst>
              <a:ext uri="{FF2B5EF4-FFF2-40B4-BE49-F238E27FC236}">
                <a16:creationId xmlns:a16="http://schemas.microsoft.com/office/drawing/2014/main" id="{9CA19320-517E-EF99-27B2-756AA8E1FFB4}"/>
              </a:ext>
            </a:extLst>
          </p:cNvPr>
          <p:cNvCxnSpPr>
            <a:cxnSpLocks/>
          </p:cNvCxnSpPr>
          <p:nvPr/>
        </p:nvCxnSpPr>
        <p:spPr>
          <a:xfrm>
            <a:off x="508160" y="3566163"/>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テキスト ボックス 244">
            <a:extLst>
              <a:ext uri="{FF2B5EF4-FFF2-40B4-BE49-F238E27FC236}">
                <a16:creationId xmlns:a16="http://schemas.microsoft.com/office/drawing/2014/main" id="{002796DE-0A10-B928-1B03-13A091027BD3}"/>
              </a:ext>
            </a:extLst>
          </p:cNvPr>
          <p:cNvSpPr txBox="1"/>
          <p:nvPr/>
        </p:nvSpPr>
        <p:spPr>
          <a:xfrm>
            <a:off x="552610" y="3354212"/>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6" name="テキスト ボックス 245">
            <a:extLst>
              <a:ext uri="{FF2B5EF4-FFF2-40B4-BE49-F238E27FC236}">
                <a16:creationId xmlns:a16="http://schemas.microsoft.com/office/drawing/2014/main" id="{B2833C6C-82A8-1F9C-50BF-31EDA6294C32}"/>
              </a:ext>
            </a:extLst>
          </p:cNvPr>
          <p:cNvSpPr txBox="1"/>
          <p:nvPr/>
        </p:nvSpPr>
        <p:spPr>
          <a:xfrm>
            <a:off x="464000" y="3537826"/>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退院日</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死亡有無</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56C13395-2056-B39A-D27E-1689E3A889FB}"/>
              </a:ext>
            </a:extLst>
          </p:cNvPr>
          <p:cNvSpPr txBox="1"/>
          <p:nvPr/>
        </p:nvSpPr>
        <p:spPr>
          <a:xfrm>
            <a:off x="2321690" y="1876533"/>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cxnSp>
        <p:nvCxnSpPr>
          <p:cNvPr id="252" name="直線コネクタ 251">
            <a:extLst>
              <a:ext uri="{FF2B5EF4-FFF2-40B4-BE49-F238E27FC236}">
                <a16:creationId xmlns:a16="http://schemas.microsoft.com/office/drawing/2014/main" id="{31780137-2FFF-E00E-2CFE-F280E4E08570}"/>
              </a:ext>
            </a:extLst>
          </p:cNvPr>
          <p:cNvCxnSpPr>
            <a:cxnSpLocks/>
          </p:cNvCxnSpPr>
          <p:nvPr/>
        </p:nvCxnSpPr>
        <p:spPr>
          <a:xfrm>
            <a:off x="2320585" y="1889575"/>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3" name="正方形/長方形 252">
            <a:extLst>
              <a:ext uri="{FF2B5EF4-FFF2-40B4-BE49-F238E27FC236}">
                <a16:creationId xmlns:a16="http://schemas.microsoft.com/office/drawing/2014/main" id="{F91F4EC9-F4FB-203F-240F-4CE9B5943A63}"/>
              </a:ext>
            </a:extLst>
          </p:cNvPr>
          <p:cNvSpPr/>
          <p:nvPr/>
        </p:nvSpPr>
        <p:spPr>
          <a:xfrm>
            <a:off x="477673" y="1833530"/>
            <a:ext cx="1067604" cy="369332"/>
          </a:xfrm>
          <a:prstGeom prst="rect">
            <a:avLst/>
          </a:prstGeom>
        </p:spPr>
        <p:txBody>
          <a:bodyPr wrap="square">
            <a:spAutoFit/>
          </a:bodyPr>
          <a:lstStyle/>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コード</a:t>
            </a:r>
            <a:endParaRPr kumimoji="1" lang="en-US" altLang="zh-TW"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名称</a:t>
            </a:r>
            <a:endParaRPr kumimoji="1" lang="zh-TW" altLang="en-US" sz="900" dirty="0">
              <a:latin typeface="ＭＳ Ｐゴシック" panose="020B0600070205080204" pitchFamily="50" charset="-128"/>
              <a:ea typeface="ＭＳ Ｐゴシック" panose="020B0600070205080204" pitchFamily="50" charset="-128"/>
            </a:endParaRPr>
          </a:p>
        </p:txBody>
      </p:sp>
      <p:sp>
        <p:nvSpPr>
          <p:cNvPr id="254" name="正方形/長方形 253">
            <a:extLst>
              <a:ext uri="{FF2B5EF4-FFF2-40B4-BE49-F238E27FC236}">
                <a16:creationId xmlns:a16="http://schemas.microsoft.com/office/drawing/2014/main" id="{FBBA79B3-7054-51E1-6EDA-EE08CBA21723}"/>
              </a:ext>
            </a:extLst>
          </p:cNvPr>
          <p:cNvSpPr/>
          <p:nvPr/>
        </p:nvSpPr>
        <p:spPr>
          <a:xfrm>
            <a:off x="2342770" y="2700828"/>
            <a:ext cx="1290032"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55" name="直線コネクタ 254">
            <a:extLst>
              <a:ext uri="{FF2B5EF4-FFF2-40B4-BE49-F238E27FC236}">
                <a16:creationId xmlns:a16="http://schemas.microsoft.com/office/drawing/2014/main" id="{C46EF9A6-1CB2-50E4-1ED9-D2FC73A519D8}"/>
              </a:ext>
            </a:extLst>
          </p:cNvPr>
          <p:cNvCxnSpPr>
            <a:cxnSpLocks/>
          </p:cNvCxnSpPr>
          <p:nvPr/>
        </p:nvCxnSpPr>
        <p:spPr>
          <a:xfrm flipV="1">
            <a:off x="2347789" y="2904138"/>
            <a:ext cx="1286813" cy="84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正方形/長方形 255">
            <a:extLst>
              <a:ext uri="{FF2B5EF4-FFF2-40B4-BE49-F238E27FC236}">
                <a16:creationId xmlns:a16="http://schemas.microsoft.com/office/drawing/2014/main" id="{D54B833E-3B94-22BF-55BB-F67A50FFA632}"/>
              </a:ext>
            </a:extLst>
          </p:cNvPr>
          <p:cNvSpPr/>
          <p:nvPr/>
        </p:nvSpPr>
        <p:spPr>
          <a:xfrm>
            <a:off x="518317" y="608888"/>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7" name="テキスト ボックス 256">
            <a:extLst>
              <a:ext uri="{FF2B5EF4-FFF2-40B4-BE49-F238E27FC236}">
                <a16:creationId xmlns:a16="http://schemas.microsoft.com/office/drawing/2014/main" id="{45948018-D409-C2C0-588E-104337EE1601}"/>
              </a:ext>
            </a:extLst>
          </p:cNvPr>
          <p:cNvSpPr txBox="1"/>
          <p:nvPr/>
        </p:nvSpPr>
        <p:spPr>
          <a:xfrm>
            <a:off x="518313" y="573313"/>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8" name="直線コネクタ 257">
            <a:extLst>
              <a:ext uri="{FF2B5EF4-FFF2-40B4-BE49-F238E27FC236}">
                <a16:creationId xmlns:a16="http://schemas.microsoft.com/office/drawing/2014/main" id="{8C0E1A84-346C-A2C9-2457-91B4EC33A8DB}"/>
              </a:ext>
            </a:extLst>
          </p:cNvPr>
          <p:cNvCxnSpPr>
            <a:cxnSpLocks/>
          </p:cNvCxnSpPr>
          <p:nvPr/>
        </p:nvCxnSpPr>
        <p:spPr>
          <a:xfrm>
            <a:off x="518313" y="819467"/>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テキスト ボックス 258">
            <a:extLst>
              <a:ext uri="{FF2B5EF4-FFF2-40B4-BE49-F238E27FC236}">
                <a16:creationId xmlns:a16="http://schemas.microsoft.com/office/drawing/2014/main" id="{9B8414B1-E0F9-3407-BEEE-8314CF8ACE20}"/>
              </a:ext>
            </a:extLst>
          </p:cNvPr>
          <p:cNvSpPr txBox="1"/>
          <p:nvPr/>
        </p:nvSpPr>
        <p:spPr>
          <a:xfrm>
            <a:off x="466684" y="787280"/>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施設パスバージョン</a:t>
            </a:r>
          </a:p>
        </p:txBody>
      </p:sp>
      <p:sp>
        <p:nvSpPr>
          <p:cNvPr id="260" name="テキスト ボックス 259">
            <a:extLst>
              <a:ext uri="{FF2B5EF4-FFF2-40B4-BE49-F238E27FC236}">
                <a16:creationId xmlns:a16="http://schemas.microsoft.com/office/drawing/2014/main" id="{29F090CD-82EB-4AEB-5636-D3600C3BA425}"/>
              </a:ext>
            </a:extLst>
          </p:cNvPr>
          <p:cNvSpPr txBox="1"/>
          <p:nvPr/>
        </p:nvSpPr>
        <p:spPr>
          <a:xfrm>
            <a:off x="2323941" y="2905028"/>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パス中止理由</a:t>
            </a:r>
          </a:p>
        </p:txBody>
      </p:sp>
      <p:sp>
        <p:nvSpPr>
          <p:cNvPr id="261" name="正方形/長方形 260">
            <a:extLst>
              <a:ext uri="{FF2B5EF4-FFF2-40B4-BE49-F238E27FC236}">
                <a16:creationId xmlns:a16="http://schemas.microsoft.com/office/drawing/2014/main" id="{D054EB8A-4419-BE0F-97C6-7BD02C6C7DFD}"/>
              </a:ext>
            </a:extLst>
          </p:cNvPr>
          <p:cNvSpPr/>
          <p:nvPr/>
        </p:nvSpPr>
        <p:spPr>
          <a:xfrm>
            <a:off x="2342770" y="2675673"/>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sp>
        <p:nvSpPr>
          <p:cNvPr id="268" name="ひし形 267">
            <a:extLst>
              <a:ext uri="{FF2B5EF4-FFF2-40B4-BE49-F238E27FC236}">
                <a16:creationId xmlns:a16="http://schemas.microsoft.com/office/drawing/2014/main" id="{776F2232-BBBB-C2A3-9CCA-FEB006C07D07}"/>
              </a:ext>
            </a:extLst>
          </p:cNvPr>
          <p:cNvSpPr/>
          <p:nvPr/>
        </p:nvSpPr>
        <p:spPr>
          <a:xfrm rot="21588860">
            <a:off x="2895055" y="228717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9" name="正方形/長方形 268">
            <a:extLst>
              <a:ext uri="{FF2B5EF4-FFF2-40B4-BE49-F238E27FC236}">
                <a16:creationId xmlns:a16="http://schemas.microsoft.com/office/drawing/2014/main" id="{25ABB024-A7EE-BB27-C095-3C015D9E1A8B}"/>
              </a:ext>
            </a:extLst>
          </p:cNvPr>
          <p:cNvSpPr/>
          <p:nvPr/>
        </p:nvSpPr>
        <p:spPr>
          <a:xfrm>
            <a:off x="4079641" y="621619"/>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0" name="テキスト ボックス 269">
            <a:extLst>
              <a:ext uri="{FF2B5EF4-FFF2-40B4-BE49-F238E27FC236}">
                <a16:creationId xmlns:a16="http://schemas.microsoft.com/office/drawing/2014/main" id="{897F5FE2-6DA8-E6EE-B60D-558F1A569387}"/>
              </a:ext>
            </a:extLst>
          </p:cNvPr>
          <p:cNvSpPr txBox="1"/>
          <p:nvPr/>
        </p:nvSpPr>
        <p:spPr>
          <a:xfrm>
            <a:off x="4111140" y="579193"/>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71" name="テキスト ボックス 270">
            <a:extLst>
              <a:ext uri="{FF2B5EF4-FFF2-40B4-BE49-F238E27FC236}">
                <a16:creationId xmlns:a16="http://schemas.microsoft.com/office/drawing/2014/main" id="{1EE0572F-0700-D74F-1BAE-331A84E3451C}"/>
              </a:ext>
            </a:extLst>
          </p:cNvPr>
          <p:cNvSpPr txBox="1"/>
          <p:nvPr/>
        </p:nvSpPr>
        <p:spPr>
          <a:xfrm>
            <a:off x="4080543" y="742989"/>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総合評価</a:t>
            </a:r>
          </a:p>
        </p:txBody>
      </p:sp>
      <p:cxnSp>
        <p:nvCxnSpPr>
          <p:cNvPr id="272" name="直線コネクタ 271">
            <a:extLst>
              <a:ext uri="{FF2B5EF4-FFF2-40B4-BE49-F238E27FC236}">
                <a16:creationId xmlns:a16="http://schemas.microsoft.com/office/drawing/2014/main" id="{4DECD42A-2F19-7D9F-0D21-7DAF6F5E20DB}"/>
              </a:ext>
            </a:extLst>
          </p:cNvPr>
          <p:cNvCxnSpPr>
            <a:cxnSpLocks/>
          </p:cNvCxnSpPr>
          <p:nvPr/>
        </p:nvCxnSpPr>
        <p:spPr>
          <a:xfrm>
            <a:off x="4090442" y="790941"/>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ひし形 273">
            <a:extLst>
              <a:ext uri="{FF2B5EF4-FFF2-40B4-BE49-F238E27FC236}">
                <a16:creationId xmlns:a16="http://schemas.microsoft.com/office/drawing/2014/main" id="{1AFC8B24-8230-3FD2-B15C-276823DE18C3}"/>
              </a:ext>
            </a:extLst>
          </p:cNvPr>
          <p:cNvSpPr/>
          <p:nvPr/>
        </p:nvSpPr>
        <p:spPr>
          <a:xfrm rot="12939424">
            <a:off x="3632346" y="1612371"/>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5" name="テキスト ボックス 274">
            <a:extLst>
              <a:ext uri="{FF2B5EF4-FFF2-40B4-BE49-F238E27FC236}">
                <a16:creationId xmlns:a16="http://schemas.microsoft.com/office/drawing/2014/main" id="{054D78C5-C924-6C01-40DF-9AB74A3A7F9B}"/>
              </a:ext>
            </a:extLst>
          </p:cNvPr>
          <p:cNvSpPr txBox="1"/>
          <p:nvPr/>
        </p:nvSpPr>
        <p:spPr>
          <a:xfrm>
            <a:off x="3749980" y="103746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6" name="テキスト ボックス 275">
            <a:extLst>
              <a:ext uri="{FF2B5EF4-FFF2-40B4-BE49-F238E27FC236}">
                <a16:creationId xmlns:a16="http://schemas.microsoft.com/office/drawing/2014/main" id="{13FC546F-9741-3E0B-C6C9-6C3750E8FD74}"/>
              </a:ext>
            </a:extLst>
          </p:cNvPr>
          <p:cNvSpPr txBox="1"/>
          <p:nvPr/>
        </p:nvSpPr>
        <p:spPr>
          <a:xfrm>
            <a:off x="2948910" y="147311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7" name="ひし形 276">
            <a:extLst>
              <a:ext uri="{FF2B5EF4-FFF2-40B4-BE49-F238E27FC236}">
                <a16:creationId xmlns:a16="http://schemas.microsoft.com/office/drawing/2014/main" id="{1BD374CB-6790-F7FD-D2B6-900F9529DD3F}"/>
              </a:ext>
            </a:extLst>
          </p:cNvPr>
          <p:cNvSpPr/>
          <p:nvPr/>
        </p:nvSpPr>
        <p:spPr>
          <a:xfrm>
            <a:off x="2874953" y="1362238"/>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8" name="テキスト ボックス 277">
            <a:extLst>
              <a:ext uri="{FF2B5EF4-FFF2-40B4-BE49-F238E27FC236}">
                <a16:creationId xmlns:a16="http://schemas.microsoft.com/office/drawing/2014/main" id="{17325067-C73A-BF70-3F81-BAC6CCC1EB62}"/>
              </a:ext>
            </a:extLst>
          </p:cNvPr>
          <p:cNvSpPr txBox="1"/>
          <p:nvPr/>
        </p:nvSpPr>
        <p:spPr>
          <a:xfrm>
            <a:off x="1672123" y="56478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9" name="テキスト ボックス 278">
            <a:extLst>
              <a:ext uri="{FF2B5EF4-FFF2-40B4-BE49-F238E27FC236}">
                <a16:creationId xmlns:a16="http://schemas.microsoft.com/office/drawing/2014/main" id="{5BD4717E-D19D-8E4E-2389-7E5C4FB2BCBF}"/>
              </a:ext>
            </a:extLst>
          </p:cNvPr>
          <p:cNvSpPr txBox="1"/>
          <p:nvPr/>
        </p:nvSpPr>
        <p:spPr>
          <a:xfrm>
            <a:off x="1648988" y="1657490"/>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1" name="テキスト ボックス 280">
            <a:extLst>
              <a:ext uri="{FF2B5EF4-FFF2-40B4-BE49-F238E27FC236}">
                <a16:creationId xmlns:a16="http://schemas.microsoft.com/office/drawing/2014/main" id="{974EF213-3C27-C52C-9F7B-B5B9021C3401}"/>
              </a:ext>
            </a:extLst>
          </p:cNvPr>
          <p:cNvSpPr txBox="1"/>
          <p:nvPr/>
        </p:nvSpPr>
        <p:spPr>
          <a:xfrm>
            <a:off x="2990710" y="2454686"/>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3" name="テキスト ボックス 282">
            <a:extLst>
              <a:ext uri="{FF2B5EF4-FFF2-40B4-BE49-F238E27FC236}">
                <a16:creationId xmlns:a16="http://schemas.microsoft.com/office/drawing/2014/main" id="{DDAA2AC9-7348-DA42-271B-218CEABC7373}"/>
              </a:ext>
            </a:extLst>
          </p:cNvPr>
          <p:cNvSpPr txBox="1"/>
          <p:nvPr/>
        </p:nvSpPr>
        <p:spPr>
          <a:xfrm>
            <a:off x="1660910" y="344701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84" name="直線コネクタ 283">
            <a:extLst>
              <a:ext uri="{FF2B5EF4-FFF2-40B4-BE49-F238E27FC236}">
                <a16:creationId xmlns:a16="http://schemas.microsoft.com/office/drawing/2014/main" id="{2D472108-6613-CE92-6BF7-DE3CE2A8C982}"/>
              </a:ext>
            </a:extLst>
          </p:cNvPr>
          <p:cNvCxnSpPr>
            <a:cxnSpLocks/>
            <a:endCxn id="285" idx="0"/>
          </p:cNvCxnSpPr>
          <p:nvPr/>
        </p:nvCxnSpPr>
        <p:spPr>
          <a:xfrm flipH="1" flipV="1">
            <a:off x="5560998" y="1028695"/>
            <a:ext cx="137102" cy="951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ひし形 284">
            <a:extLst>
              <a:ext uri="{FF2B5EF4-FFF2-40B4-BE49-F238E27FC236}">
                <a16:creationId xmlns:a16="http://schemas.microsoft.com/office/drawing/2014/main" id="{F5796523-65F0-40E5-126B-9EFE6E287B1E}"/>
              </a:ext>
            </a:extLst>
          </p:cNvPr>
          <p:cNvSpPr/>
          <p:nvPr/>
        </p:nvSpPr>
        <p:spPr>
          <a:xfrm rot="6514445">
            <a:off x="5400694" y="906683"/>
            <a:ext cx="145177" cy="18507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6" name="正方形/長方形 285">
            <a:extLst>
              <a:ext uri="{FF2B5EF4-FFF2-40B4-BE49-F238E27FC236}">
                <a16:creationId xmlns:a16="http://schemas.microsoft.com/office/drawing/2014/main" id="{503ED8D7-9A03-9764-8BC6-D18A19FE51BC}"/>
              </a:ext>
            </a:extLst>
          </p:cNvPr>
          <p:cNvSpPr/>
          <p:nvPr/>
        </p:nvSpPr>
        <p:spPr>
          <a:xfrm>
            <a:off x="5682300" y="986328"/>
            <a:ext cx="121992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7" name="テキスト ボックス 286">
            <a:extLst>
              <a:ext uri="{FF2B5EF4-FFF2-40B4-BE49-F238E27FC236}">
                <a16:creationId xmlns:a16="http://schemas.microsoft.com/office/drawing/2014/main" id="{B0347A81-9A30-7A7F-1643-398D687DA6A4}"/>
              </a:ext>
            </a:extLst>
          </p:cNvPr>
          <p:cNvSpPr txBox="1"/>
          <p:nvPr/>
        </p:nvSpPr>
        <p:spPr>
          <a:xfrm>
            <a:off x="5739516" y="951431"/>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88" name="直線コネクタ 287">
            <a:extLst>
              <a:ext uri="{FF2B5EF4-FFF2-40B4-BE49-F238E27FC236}">
                <a16:creationId xmlns:a16="http://schemas.microsoft.com/office/drawing/2014/main" id="{97388014-2799-352E-4E66-87877DAC71CD}"/>
              </a:ext>
            </a:extLst>
          </p:cNvPr>
          <p:cNvCxnSpPr>
            <a:cxnSpLocks/>
          </p:cNvCxnSpPr>
          <p:nvPr/>
        </p:nvCxnSpPr>
        <p:spPr>
          <a:xfrm flipV="1">
            <a:off x="5683202" y="1173464"/>
            <a:ext cx="1219022" cy="91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テキスト ボックス 288">
            <a:extLst>
              <a:ext uri="{FF2B5EF4-FFF2-40B4-BE49-F238E27FC236}">
                <a16:creationId xmlns:a16="http://schemas.microsoft.com/office/drawing/2014/main" id="{4177EF63-9D7D-3B09-B985-F8B069B70DF2}"/>
              </a:ext>
            </a:extLst>
          </p:cNvPr>
          <p:cNvSpPr txBox="1"/>
          <p:nvPr/>
        </p:nvSpPr>
        <p:spPr>
          <a:xfrm>
            <a:off x="5666874" y="1159202"/>
            <a:ext cx="1165072"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開始日</a:t>
            </a:r>
          </a:p>
        </p:txBody>
      </p:sp>
      <p:sp>
        <p:nvSpPr>
          <p:cNvPr id="290" name="テキスト ボックス 289">
            <a:extLst>
              <a:ext uri="{FF2B5EF4-FFF2-40B4-BE49-F238E27FC236}">
                <a16:creationId xmlns:a16="http://schemas.microsoft.com/office/drawing/2014/main" id="{C922C9B6-1DF4-AE83-F30C-02293E830C04}"/>
              </a:ext>
            </a:extLst>
          </p:cNvPr>
          <p:cNvSpPr txBox="1"/>
          <p:nvPr/>
        </p:nvSpPr>
        <p:spPr>
          <a:xfrm>
            <a:off x="5373534" y="105176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1" name="直線コネクタ 290">
            <a:extLst>
              <a:ext uri="{FF2B5EF4-FFF2-40B4-BE49-F238E27FC236}">
                <a16:creationId xmlns:a16="http://schemas.microsoft.com/office/drawing/2014/main" id="{F84973F5-62B9-9A09-58DE-2B0FE0D5A2C3}"/>
              </a:ext>
            </a:extLst>
          </p:cNvPr>
          <p:cNvCxnSpPr>
            <a:cxnSpLocks/>
            <a:endCxn id="329" idx="2"/>
          </p:cNvCxnSpPr>
          <p:nvPr/>
        </p:nvCxnSpPr>
        <p:spPr>
          <a:xfrm flipH="1" flipV="1">
            <a:off x="5611063" y="729225"/>
            <a:ext cx="1494496" cy="4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線矢印コネクタ 291">
            <a:extLst>
              <a:ext uri="{FF2B5EF4-FFF2-40B4-BE49-F238E27FC236}">
                <a16:creationId xmlns:a16="http://schemas.microsoft.com/office/drawing/2014/main" id="{6E58D5FB-7142-70C6-689C-D54D8FE8AEF1}"/>
              </a:ext>
            </a:extLst>
          </p:cNvPr>
          <p:cNvCxnSpPr>
            <a:cxnSpLocks/>
            <a:stCxn id="324" idx="2"/>
          </p:cNvCxnSpPr>
          <p:nvPr/>
        </p:nvCxnSpPr>
        <p:spPr>
          <a:xfrm>
            <a:off x="8010345" y="5019819"/>
            <a:ext cx="0" cy="28887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6F4B7647-6A77-E273-7D7B-9EFD6FF478EE}"/>
              </a:ext>
            </a:extLst>
          </p:cNvPr>
          <p:cNvSpPr/>
          <p:nvPr/>
        </p:nvSpPr>
        <p:spPr>
          <a:xfrm>
            <a:off x="7115330" y="671194"/>
            <a:ext cx="1817378"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6" name="テキスト ボックス 295">
            <a:extLst>
              <a:ext uri="{FF2B5EF4-FFF2-40B4-BE49-F238E27FC236}">
                <a16:creationId xmlns:a16="http://schemas.microsoft.com/office/drawing/2014/main" id="{E1CFCAEC-CBB9-0687-8A5A-A0B221BCDA3A}"/>
              </a:ext>
            </a:extLst>
          </p:cNvPr>
          <p:cNvSpPr txBox="1"/>
          <p:nvPr/>
        </p:nvSpPr>
        <p:spPr>
          <a:xfrm>
            <a:off x="7368086" y="606601"/>
            <a:ext cx="1323982" cy="253916"/>
          </a:xfrm>
          <a:prstGeom prst="rect">
            <a:avLst/>
          </a:prstGeom>
          <a:noFill/>
        </p:spPr>
        <p:txBody>
          <a:bodyPr wrap="square" rtlCol="0">
            <a:spAutoFit/>
          </a:bodyPr>
          <a:lstStyle/>
          <a:p>
            <a:pPr algn="ctr"/>
            <a:r>
              <a:rPr lang="en-US" altLang="ja-JP" sz="1000" b="1" dirty="0">
                <a:latin typeface="ＭＳ Ｐゴシック" panose="020B0600070205080204" pitchFamily="50" charset="-128"/>
                <a:ea typeface="ＭＳ Ｐゴシック" panose="020B0600070205080204" pitchFamily="50" charset="-128"/>
              </a:rPr>
              <a:t>OAT</a:t>
            </a:r>
            <a:r>
              <a:rPr lang="ja-JP" altLang="en-US" sz="1000" b="1" dirty="0">
                <a:latin typeface="ＭＳ Ｐゴシック" panose="020B0600070205080204" pitchFamily="50" charset="-128"/>
                <a:ea typeface="ＭＳ Ｐゴシック" panose="020B0600070205080204" pitchFamily="50" charset="-128"/>
              </a:rPr>
              <a:t>ユニット</a:t>
            </a:r>
            <a:endParaRPr kumimoji="1" lang="ja-JP" altLang="en-US" sz="1000" b="1" dirty="0">
              <a:latin typeface="ＭＳ Ｐゴシック" panose="020B0600070205080204" pitchFamily="50" charset="-128"/>
              <a:ea typeface="ＭＳ Ｐゴシック" panose="020B0600070205080204" pitchFamily="50" charset="-128"/>
            </a:endParaRPr>
          </a:p>
        </p:txBody>
      </p:sp>
      <p:cxnSp>
        <p:nvCxnSpPr>
          <p:cNvPr id="297" name="直線コネクタ 296">
            <a:extLst>
              <a:ext uri="{FF2B5EF4-FFF2-40B4-BE49-F238E27FC236}">
                <a16:creationId xmlns:a16="http://schemas.microsoft.com/office/drawing/2014/main" id="{36FFCC3C-AE5B-EE3A-7904-5DAD209D8ED5}"/>
              </a:ext>
            </a:extLst>
          </p:cNvPr>
          <p:cNvCxnSpPr>
            <a:cxnSpLocks/>
          </p:cNvCxnSpPr>
          <p:nvPr/>
        </p:nvCxnSpPr>
        <p:spPr>
          <a:xfrm>
            <a:off x="7125100" y="820763"/>
            <a:ext cx="18173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正方形/長方形 297">
            <a:extLst>
              <a:ext uri="{FF2B5EF4-FFF2-40B4-BE49-F238E27FC236}">
                <a16:creationId xmlns:a16="http://schemas.microsoft.com/office/drawing/2014/main" id="{E4F631BA-4764-C71F-A1AD-1A225D09C186}"/>
              </a:ext>
            </a:extLst>
          </p:cNvPr>
          <p:cNvSpPr/>
          <p:nvPr/>
        </p:nvSpPr>
        <p:spPr>
          <a:xfrm>
            <a:off x="7125100" y="779906"/>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299" name="正方形/長方形 298">
            <a:extLst>
              <a:ext uri="{FF2B5EF4-FFF2-40B4-BE49-F238E27FC236}">
                <a16:creationId xmlns:a16="http://schemas.microsoft.com/office/drawing/2014/main" id="{B0620FBF-3367-FD3B-5C6E-5C4ECBF608F6}"/>
              </a:ext>
            </a:extLst>
          </p:cNvPr>
          <p:cNvSpPr/>
          <p:nvPr/>
        </p:nvSpPr>
        <p:spPr>
          <a:xfrm>
            <a:off x="7115330" y="1513900"/>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0" name="正方形/長方形 299">
            <a:extLst>
              <a:ext uri="{FF2B5EF4-FFF2-40B4-BE49-F238E27FC236}">
                <a16:creationId xmlns:a16="http://schemas.microsoft.com/office/drawing/2014/main" id="{A9A33633-201E-A6F3-DF09-7F1209B390B5}"/>
              </a:ext>
            </a:extLst>
          </p:cNvPr>
          <p:cNvSpPr/>
          <p:nvPr/>
        </p:nvSpPr>
        <p:spPr>
          <a:xfrm>
            <a:off x="7110751" y="3446187"/>
            <a:ext cx="1834231" cy="1397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1" name="正方形/長方形 300">
            <a:extLst>
              <a:ext uri="{FF2B5EF4-FFF2-40B4-BE49-F238E27FC236}">
                <a16:creationId xmlns:a16="http://schemas.microsoft.com/office/drawing/2014/main" id="{C1721F27-8E56-1173-4B3C-494ECD565DF4}"/>
              </a:ext>
            </a:extLst>
          </p:cNvPr>
          <p:cNvSpPr/>
          <p:nvPr/>
        </p:nvSpPr>
        <p:spPr>
          <a:xfrm>
            <a:off x="7110751" y="5230567"/>
            <a:ext cx="1834231"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02" name="直線コネクタ 301">
            <a:extLst>
              <a:ext uri="{FF2B5EF4-FFF2-40B4-BE49-F238E27FC236}">
                <a16:creationId xmlns:a16="http://schemas.microsoft.com/office/drawing/2014/main" id="{68C96411-E50D-983C-4322-2C78880B38DF}"/>
              </a:ext>
            </a:extLst>
          </p:cNvPr>
          <p:cNvCxnSpPr>
            <a:cxnSpLocks/>
          </p:cNvCxnSpPr>
          <p:nvPr/>
        </p:nvCxnSpPr>
        <p:spPr>
          <a:xfrm>
            <a:off x="7110751" y="1703975"/>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テキスト ボックス 302">
            <a:extLst>
              <a:ext uri="{FF2B5EF4-FFF2-40B4-BE49-F238E27FC236}">
                <a16:creationId xmlns:a16="http://schemas.microsoft.com/office/drawing/2014/main" id="{D4C62001-C67E-1346-5A9C-640238ECDBD8}"/>
              </a:ext>
            </a:extLst>
          </p:cNvPr>
          <p:cNvSpPr txBox="1"/>
          <p:nvPr/>
        </p:nvSpPr>
        <p:spPr>
          <a:xfrm>
            <a:off x="7684271" y="1478838"/>
            <a:ext cx="760144" cy="253916"/>
          </a:xfrm>
          <a:prstGeom prst="rect">
            <a:avLst/>
          </a:prstGeom>
          <a:noFill/>
        </p:spPr>
        <p:txBody>
          <a:bodyPr wrap="none" rtlCol="0">
            <a:spAutoFit/>
          </a:bodyPr>
          <a:lstStyle/>
          <a:p>
            <a:r>
              <a:rPr kumimoji="1" lang="ja-JP" altLang="en-US" sz="1050" b="1" dirty="0">
                <a:latin typeface="ＭＳ Ｐゴシック" panose="020B0600070205080204" pitchFamily="50" charset="-128"/>
                <a:ea typeface="ＭＳ Ｐゴシック" panose="020B0600070205080204" pitchFamily="50" charset="-128"/>
              </a:rPr>
              <a:t>アウトカム</a:t>
            </a:r>
          </a:p>
        </p:txBody>
      </p:sp>
      <p:sp>
        <p:nvSpPr>
          <p:cNvPr id="304" name="テキスト ボックス 303">
            <a:extLst>
              <a:ext uri="{FF2B5EF4-FFF2-40B4-BE49-F238E27FC236}">
                <a16:creationId xmlns:a16="http://schemas.microsoft.com/office/drawing/2014/main" id="{3FEAEDB8-0938-70F5-77E1-F8692228A605}"/>
              </a:ext>
            </a:extLst>
          </p:cNvPr>
          <p:cNvSpPr txBox="1"/>
          <p:nvPr/>
        </p:nvSpPr>
        <p:spPr>
          <a:xfrm>
            <a:off x="7297314" y="3410762"/>
            <a:ext cx="1316726"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観察項目</a:t>
            </a:r>
          </a:p>
        </p:txBody>
      </p:sp>
      <p:sp>
        <p:nvSpPr>
          <p:cNvPr id="305" name="テキスト ボックス 304">
            <a:extLst>
              <a:ext uri="{FF2B5EF4-FFF2-40B4-BE49-F238E27FC236}">
                <a16:creationId xmlns:a16="http://schemas.microsoft.com/office/drawing/2014/main" id="{20B1C958-4250-BCDB-82AE-C2C5EC3D036B}"/>
              </a:ext>
            </a:extLst>
          </p:cNvPr>
          <p:cNvSpPr txBox="1"/>
          <p:nvPr/>
        </p:nvSpPr>
        <p:spPr>
          <a:xfrm>
            <a:off x="7277438" y="5182195"/>
            <a:ext cx="1414630"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タスク</a:t>
            </a:r>
          </a:p>
        </p:txBody>
      </p:sp>
      <p:sp>
        <p:nvSpPr>
          <p:cNvPr id="306" name="テキスト ボックス 305">
            <a:extLst>
              <a:ext uri="{FF2B5EF4-FFF2-40B4-BE49-F238E27FC236}">
                <a16:creationId xmlns:a16="http://schemas.microsoft.com/office/drawing/2014/main" id="{550F7A2A-592C-33AE-D716-15252BD7DD90}"/>
              </a:ext>
            </a:extLst>
          </p:cNvPr>
          <p:cNvSpPr txBox="1"/>
          <p:nvPr/>
        </p:nvSpPr>
        <p:spPr>
          <a:xfrm>
            <a:off x="7074465" y="1699513"/>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評価</a:t>
            </a:r>
          </a:p>
        </p:txBody>
      </p:sp>
      <p:sp>
        <p:nvSpPr>
          <p:cNvPr id="307" name="正方形/長方形 306">
            <a:extLst>
              <a:ext uri="{FF2B5EF4-FFF2-40B4-BE49-F238E27FC236}">
                <a16:creationId xmlns:a16="http://schemas.microsoft.com/office/drawing/2014/main" id="{9F65A85D-54D5-445D-4BD5-08525CB87C01}"/>
              </a:ext>
            </a:extLst>
          </p:cNvPr>
          <p:cNvSpPr/>
          <p:nvPr/>
        </p:nvSpPr>
        <p:spPr>
          <a:xfrm>
            <a:off x="7066202" y="3613788"/>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308" name="テキスト ボックス 307">
            <a:extLst>
              <a:ext uri="{FF2B5EF4-FFF2-40B4-BE49-F238E27FC236}">
                <a16:creationId xmlns:a16="http://schemas.microsoft.com/office/drawing/2014/main" id="{ED8E3DEE-DC32-ACCE-63BD-29735110235A}"/>
              </a:ext>
            </a:extLst>
          </p:cNvPr>
          <p:cNvSpPr txBox="1"/>
          <p:nvPr/>
        </p:nvSpPr>
        <p:spPr>
          <a:xfrm>
            <a:off x="7199192" y="5393709"/>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タスク実施</a:t>
            </a:r>
            <a: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t/>
            </a:r>
            <a:b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b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（実施状況・実施者）</a:t>
            </a:r>
          </a:p>
        </p:txBody>
      </p:sp>
      <p:cxnSp>
        <p:nvCxnSpPr>
          <p:cNvPr id="309" name="直線コネクタ 308">
            <a:extLst>
              <a:ext uri="{FF2B5EF4-FFF2-40B4-BE49-F238E27FC236}">
                <a16:creationId xmlns:a16="http://schemas.microsoft.com/office/drawing/2014/main" id="{F24D1F1B-516D-4400-628B-9DF93327DDBF}"/>
              </a:ext>
            </a:extLst>
          </p:cNvPr>
          <p:cNvCxnSpPr>
            <a:cxnSpLocks/>
          </p:cNvCxnSpPr>
          <p:nvPr/>
        </p:nvCxnSpPr>
        <p:spPr>
          <a:xfrm>
            <a:off x="7133915" y="5402870"/>
            <a:ext cx="17987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a:extLst>
              <a:ext uri="{FF2B5EF4-FFF2-40B4-BE49-F238E27FC236}">
                <a16:creationId xmlns:a16="http://schemas.microsoft.com/office/drawing/2014/main" id="{4112DF24-0628-4CAB-3E52-84C2194C22DE}"/>
              </a:ext>
            </a:extLst>
          </p:cNvPr>
          <p:cNvCxnSpPr>
            <a:cxnSpLocks/>
          </p:cNvCxnSpPr>
          <p:nvPr/>
        </p:nvCxnSpPr>
        <p:spPr>
          <a:xfrm>
            <a:off x="7110694" y="3624412"/>
            <a:ext cx="1828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04BB43D-E7AC-EAAD-81D7-9EECFE3482E0}"/>
              </a:ext>
            </a:extLst>
          </p:cNvPr>
          <p:cNvCxnSpPr>
            <a:cxnSpLocks/>
            <a:stCxn id="326" idx="2"/>
          </p:cNvCxnSpPr>
          <p:nvPr/>
        </p:nvCxnSpPr>
        <p:spPr>
          <a:xfrm>
            <a:off x="7992979" y="3318928"/>
            <a:ext cx="0" cy="15603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2" name="テキスト ボックス 311">
            <a:extLst>
              <a:ext uri="{FF2B5EF4-FFF2-40B4-BE49-F238E27FC236}">
                <a16:creationId xmlns:a16="http://schemas.microsoft.com/office/drawing/2014/main" id="{0743A75C-F49C-1E69-2563-DD14796623C2}"/>
              </a:ext>
            </a:extLst>
          </p:cNvPr>
          <p:cNvSpPr txBox="1"/>
          <p:nvPr/>
        </p:nvSpPr>
        <p:spPr>
          <a:xfrm>
            <a:off x="7993152" y="322433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3" name="テキスト ボックス 312">
            <a:extLst>
              <a:ext uri="{FF2B5EF4-FFF2-40B4-BE49-F238E27FC236}">
                <a16:creationId xmlns:a16="http://schemas.microsoft.com/office/drawing/2014/main" id="{AD11120C-6C5A-23EB-CB0A-85994E01E879}"/>
              </a:ext>
            </a:extLst>
          </p:cNvPr>
          <p:cNvSpPr txBox="1"/>
          <p:nvPr/>
        </p:nvSpPr>
        <p:spPr>
          <a:xfrm>
            <a:off x="8015978" y="498363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2" name="ひし形 321">
            <a:extLst>
              <a:ext uri="{FF2B5EF4-FFF2-40B4-BE49-F238E27FC236}">
                <a16:creationId xmlns:a16="http://schemas.microsoft.com/office/drawing/2014/main" id="{5FB4821E-E018-F152-4499-2CB2A84C097C}"/>
              </a:ext>
            </a:extLst>
          </p:cNvPr>
          <p:cNvSpPr/>
          <p:nvPr/>
        </p:nvSpPr>
        <p:spPr>
          <a:xfrm>
            <a:off x="7978859" y="117274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3" name="テキスト ボックス 322">
            <a:extLst>
              <a:ext uri="{FF2B5EF4-FFF2-40B4-BE49-F238E27FC236}">
                <a16:creationId xmlns:a16="http://schemas.microsoft.com/office/drawing/2014/main" id="{C61BD7B8-BFE2-6FA1-8A4B-33AD10F69ED1}"/>
              </a:ext>
            </a:extLst>
          </p:cNvPr>
          <p:cNvSpPr txBox="1"/>
          <p:nvPr/>
        </p:nvSpPr>
        <p:spPr>
          <a:xfrm>
            <a:off x="8051178" y="1288865"/>
            <a:ext cx="343301"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4" name="ひし形 323">
            <a:extLst>
              <a:ext uri="{FF2B5EF4-FFF2-40B4-BE49-F238E27FC236}">
                <a16:creationId xmlns:a16="http://schemas.microsoft.com/office/drawing/2014/main" id="{A008671C-F0C6-C738-F08F-BCBD28C3E212}"/>
              </a:ext>
            </a:extLst>
          </p:cNvPr>
          <p:cNvSpPr/>
          <p:nvPr/>
        </p:nvSpPr>
        <p:spPr>
          <a:xfrm>
            <a:off x="7952146" y="482989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6" name="ひし形 325">
            <a:extLst>
              <a:ext uri="{FF2B5EF4-FFF2-40B4-BE49-F238E27FC236}">
                <a16:creationId xmlns:a16="http://schemas.microsoft.com/office/drawing/2014/main" id="{23F9EF5D-6C63-FCFF-254B-BD25239CEA0F}"/>
              </a:ext>
            </a:extLst>
          </p:cNvPr>
          <p:cNvSpPr/>
          <p:nvPr/>
        </p:nvSpPr>
        <p:spPr>
          <a:xfrm rot="21591126">
            <a:off x="7934535" y="3129006"/>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9" name="ひし形 328">
            <a:extLst>
              <a:ext uri="{FF2B5EF4-FFF2-40B4-BE49-F238E27FC236}">
                <a16:creationId xmlns:a16="http://schemas.microsoft.com/office/drawing/2014/main" id="{091F5069-78E6-3E97-2279-4CE90D516A8B}"/>
              </a:ext>
            </a:extLst>
          </p:cNvPr>
          <p:cNvSpPr/>
          <p:nvPr/>
        </p:nvSpPr>
        <p:spPr>
          <a:xfrm rot="16082748">
            <a:off x="5428676" y="627165"/>
            <a:ext cx="153569" cy="211328"/>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0" name="テキスト ボックス 329">
            <a:extLst>
              <a:ext uri="{FF2B5EF4-FFF2-40B4-BE49-F238E27FC236}">
                <a16:creationId xmlns:a16="http://schemas.microsoft.com/office/drawing/2014/main" id="{6328FC8F-5FC6-CD25-B9F2-9D94491B02C5}"/>
              </a:ext>
            </a:extLst>
          </p:cNvPr>
          <p:cNvSpPr txBox="1"/>
          <p:nvPr/>
        </p:nvSpPr>
        <p:spPr>
          <a:xfrm>
            <a:off x="6722121" y="67988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31" name="直線コネクタ 330">
            <a:extLst>
              <a:ext uri="{FF2B5EF4-FFF2-40B4-BE49-F238E27FC236}">
                <a16:creationId xmlns:a16="http://schemas.microsoft.com/office/drawing/2014/main" id="{384CB4F1-8522-67AC-D384-EAA8147A3041}"/>
              </a:ext>
            </a:extLst>
          </p:cNvPr>
          <p:cNvCxnSpPr>
            <a:cxnSpLocks/>
            <a:stCxn id="332" idx="0"/>
          </p:cNvCxnSpPr>
          <p:nvPr/>
        </p:nvCxnSpPr>
        <p:spPr>
          <a:xfrm flipH="1">
            <a:off x="6434053" y="4445244"/>
            <a:ext cx="508475" cy="280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2" name="ひし形 331">
            <a:extLst>
              <a:ext uri="{FF2B5EF4-FFF2-40B4-BE49-F238E27FC236}">
                <a16:creationId xmlns:a16="http://schemas.microsoft.com/office/drawing/2014/main" id="{BA450FFC-866D-1CC3-F4C3-0B6DE481F28C}"/>
              </a:ext>
            </a:extLst>
          </p:cNvPr>
          <p:cNvSpPr/>
          <p:nvPr/>
        </p:nvSpPr>
        <p:spPr>
          <a:xfrm rot="16065606">
            <a:off x="6963482" y="4346572"/>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3" name="テキスト ボックス 332">
            <a:extLst>
              <a:ext uri="{FF2B5EF4-FFF2-40B4-BE49-F238E27FC236}">
                <a16:creationId xmlns:a16="http://schemas.microsoft.com/office/drawing/2014/main" id="{7BC048CA-4AC5-D860-C1B0-702098E469F7}"/>
              </a:ext>
            </a:extLst>
          </p:cNvPr>
          <p:cNvSpPr txBox="1"/>
          <p:nvPr/>
        </p:nvSpPr>
        <p:spPr>
          <a:xfrm>
            <a:off x="6573026" y="444141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334" name="テキスト ボックス 333">
            <a:extLst>
              <a:ext uri="{FF2B5EF4-FFF2-40B4-BE49-F238E27FC236}">
                <a16:creationId xmlns:a16="http://schemas.microsoft.com/office/drawing/2014/main" id="{9FA13448-944B-8CB6-BBB1-BF131D9D1B4E}"/>
              </a:ext>
            </a:extLst>
          </p:cNvPr>
          <p:cNvSpPr txBox="1"/>
          <p:nvPr/>
        </p:nvSpPr>
        <p:spPr>
          <a:xfrm>
            <a:off x="2347648" y="550339"/>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335" name="正方形/長方形 334">
            <a:extLst>
              <a:ext uri="{FF2B5EF4-FFF2-40B4-BE49-F238E27FC236}">
                <a16:creationId xmlns:a16="http://schemas.microsoft.com/office/drawing/2014/main" id="{F096E7F3-9BB8-F7FC-CDB5-374FB3E4B189}"/>
              </a:ext>
            </a:extLst>
          </p:cNvPr>
          <p:cNvSpPr/>
          <p:nvPr/>
        </p:nvSpPr>
        <p:spPr>
          <a:xfrm>
            <a:off x="5236772" y="4238051"/>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36" name="直線コネクタ 335">
            <a:extLst>
              <a:ext uri="{FF2B5EF4-FFF2-40B4-BE49-F238E27FC236}">
                <a16:creationId xmlns:a16="http://schemas.microsoft.com/office/drawing/2014/main" id="{68D12AD5-72F5-51D2-31A8-1D89BE634513}"/>
              </a:ext>
            </a:extLst>
          </p:cNvPr>
          <p:cNvCxnSpPr>
            <a:cxnSpLocks/>
          </p:cNvCxnSpPr>
          <p:nvPr/>
        </p:nvCxnSpPr>
        <p:spPr>
          <a:xfrm>
            <a:off x="5236772" y="4433418"/>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正方形/長方形 336">
            <a:extLst>
              <a:ext uri="{FF2B5EF4-FFF2-40B4-BE49-F238E27FC236}">
                <a16:creationId xmlns:a16="http://schemas.microsoft.com/office/drawing/2014/main" id="{32855AE7-1A70-2B22-1B5F-3BBE84CD4E61}"/>
              </a:ext>
            </a:extLst>
          </p:cNvPr>
          <p:cNvSpPr/>
          <p:nvPr/>
        </p:nvSpPr>
        <p:spPr>
          <a:xfrm>
            <a:off x="5179987" y="4210409"/>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338" name="テキスト ボックス 337">
            <a:extLst>
              <a:ext uri="{FF2B5EF4-FFF2-40B4-BE49-F238E27FC236}">
                <a16:creationId xmlns:a16="http://schemas.microsoft.com/office/drawing/2014/main" id="{D5DE617C-CAFC-2C93-E1DE-D8402D2CCB8A}"/>
              </a:ext>
            </a:extLst>
          </p:cNvPr>
          <p:cNvSpPr txBox="1"/>
          <p:nvPr/>
        </p:nvSpPr>
        <p:spPr>
          <a:xfrm>
            <a:off x="5258533" y="4407451"/>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227" name="テキスト ボックス 226">
            <a:extLst>
              <a:ext uri="{FF2B5EF4-FFF2-40B4-BE49-F238E27FC236}">
                <a16:creationId xmlns:a16="http://schemas.microsoft.com/office/drawing/2014/main" id="{D0C33F22-47BD-CDF0-076F-E85E49902669}"/>
              </a:ext>
            </a:extLst>
          </p:cNvPr>
          <p:cNvSpPr txBox="1"/>
          <p:nvPr/>
        </p:nvSpPr>
        <p:spPr>
          <a:xfrm>
            <a:off x="2464064" y="384658"/>
            <a:ext cx="936475" cy="230832"/>
          </a:xfrm>
          <a:prstGeom prst="rect">
            <a:avLst/>
          </a:prstGeom>
          <a:noFill/>
        </p:spPr>
        <p:txBody>
          <a:bodyPr wrap="none" rtlCol="0">
            <a:spAutoFit/>
          </a:bodyPr>
          <a:lstStyle/>
          <a:p>
            <a:r>
              <a:rPr lang="en-US" altLang="ja-JP" sz="900" dirty="0">
                <a:latin typeface="ＭＳ Ｐゴシック" panose="020B0600070205080204" pitchFamily="50" charset="-128"/>
                <a:ea typeface="ＭＳ Ｐゴシック" panose="020B0600070205080204" pitchFamily="50" charset="-128"/>
              </a:rPr>
              <a:t>ePath </a:t>
            </a:r>
            <a:r>
              <a:rPr lang="ja-JP" altLang="en-US" sz="800" dirty="0">
                <a:latin typeface="ＭＳ Ｐゴシック" panose="020B0600070205080204" pitchFamily="50" charset="-128"/>
                <a:ea typeface="ＭＳ Ｐゴシック" panose="020B0600070205080204" pitchFamily="50" charset="-128"/>
              </a:rPr>
              <a:t>メッセージ</a:t>
            </a:r>
            <a:endParaRPr lang="ja-JP" altLang="en-US" sz="900" dirty="0">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896AD8AE-32E5-C37F-1949-E92E7AE99B82}"/>
              </a:ext>
            </a:extLst>
          </p:cNvPr>
          <p:cNvSpPr/>
          <p:nvPr/>
        </p:nvSpPr>
        <p:spPr>
          <a:xfrm>
            <a:off x="5701588" y="1932091"/>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7D84DEC0-E79B-7F2A-35FD-5CE91959A999}"/>
              </a:ext>
            </a:extLst>
          </p:cNvPr>
          <p:cNvSpPr txBox="1"/>
          <p:nvPr/>
        </p:nvSpPr>
        <p:spPr>
          <a:xfrm>
            <a:off x="5702176" y="1904942"/>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5" name="直線コネクタ 4">
            <a:extLst>
              <a:ext uri="{FF2B5EF4-FFF2-40B4-BE49-F238E27FC236}">
                <a16:creationId xmlns:a16="http://schemas.microsoft.com/office/drawing/2014/main" id="{61986468-24C9-A7A3-A067-2E9246CCB14F}"/>
              </a:ext>
            </a:extLst>
          </p:cNvPr>
          <p:cNvCxnSpPr>
            <a:cxnSpLocks/>
          </p:cNvCxnSpPr>
          <p:nvPr/>
        </p:nvCxnSpPr>
        <p:spPr>
          <a:xfrm flipV="1">
            <a:off x="5707963" y="2115758"/>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1C5245E-5A95-F145-B86A-41BF7CD12932}"/>
              </a:ext>
            </a:extLst>
          </p:cNvPr>
          <p:cNvSpPr txBox="1"/>
          <p:nvPr/>
        </p:nvSpPr>
        <p:spPr>
          <a:xfrm>
            <a:off x="5672668" y="2115758"/>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26" name="ひし形 25">
            <a:extLst>
              <a:ext uri="{FF2B5EF4-FFF2-40B4-BE49-F238E27FC236}">
                <a16:creationId xmlns:a16="http://schemas.microsoft.com/office/drawing/2014/main" id="{EA290B71-EACF-8791-352C-99BDADD54AE6}"/>
              </a:ext>
            </a:extLst>
          </p:cNvPr>
          <p:cNvSpPr/>
          <p:nvPr/>
        </p:nvSpPr>
        <p:spPr>
          <a:xfrm rot="7503262">
            <a:off x="5421228" y="164080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8" name="直線コネクタ 27">
            <a:extLst>
              <a:ext uri="{FF2B5EF4-FFF2-40B4-BE49-F238E27FC236}">
                <a16:creationId xmlns:a16="http://schemas.microsoft.com/office/drawing/2014/main" id="{047CE3FE-6B49-B0CF-AD49-EFC1130786F9}"/>
              </a:ext>
            </a:extLst>
          </p:cNvPr>
          <p:cNvCxnSpPr>
            <a:cxnSpLocks/>
            <a:stCxn id="4" idx="1"/>
            <a:endCxn id="26" idx="0"/>
          </p:cNvCxnSpPr>
          <p:nvPr/>
        </p:nvCxnSpPr>
        <p:spPr>
          <a:xfrm flipH="1" flipV="1">
            <a:off x="5561127" y="1790303"/>
            <a:ext cx="141049" cy="23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CE772C74-284C-E523-9945-05E32B0B588E}"/>
              </a:ext>
            </a:extLst>
          </p:cNvPr>
          <p:cNvSpPr txBox="1"/>
          <p:nvPr/>
        </p:nvSpPr>
        <p:spPr>
          <a:xfrm>
            <a:off x="5397684" y="19112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40" name="テキスト ボックス 339">
            <a:extLst>
              <a:ext uri="{FF2B5EF4-FFF2-40B4-BE49-F238E27FC236}">
                <a16:creationId xmlns:a16="http://schemas.microsoft.com/office/drawing/2014/main" id="{EAF4281A-F732-71BE-D263-6DB9DCDDEA2C}"/>
              </a:ext>
            </a:extLst>
          </p:cNvPr>
          <p:cNvSpPr txBox="1"/>
          <p:nvPr/>
        </p:nvSpPr>
        <p:spPr>
          <a:xfrm>
            <a:off x="7544084" y="314048"/>
            <a:ext cx="928147" cy="253916"/>
          </a:xfrm>
          <a:prstGeom prst="rect">
            <a:avLst/>
          </a:prstGeom>
          <a:noFill/>
        </p:spPr>
        <p:txBody>
          <a:bodyPr wrap="square" rtlCol="0">
            <a:spAutoFit/>
          </a:bodyPr>
          <a:lstStyle/>
          <a:p>
            <a:r>
              <a:rPr lang="en-US" altLang="ja-JP" sz="1050" b="1" dirty="0"/>
              <a:t>OAT</a:t>
            </a:r>
            <a:r>
              <a:rPr lang="ja-JP" altLang="en-US" sz="1050" b="1" dirty="0"/>
              <a:t> </a:t>
            </a:r>
            <a:r>
              <a:rPr lang="en-US" altLang="ja-JP" sz="1050" b="1" dirty="0"/>
              <a:t>Unit</a:t>
            </a:r>
          </a:p>
        </p:txBody>
      </p:sp>
    </p:spTree>
    <p:extLst>
      <p:ext uri="{BB962C8B-B14F-4D97-AF65-F5344CB8AC3E}">
        <p14:creationId xmlns:p14="http://schemas.microsoft.com/office/powerpoint/2010/main" val="65186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9" name="四角形: 角を丸くする 338">
            <a:extLst>
              <a:ext uri="{FF2B5EF4-FFF2-40B4-BE49-F238E27FC236}">
                <a16:creationId xmlns:a16="http://schemas.microsoft.com/office/drawing/2014/main" id="{DB4E67BA-A7D5-C3D0-6FB8-F8EA988CCB78}"/>
              </a:ext>
            </a:extLst>
          </p:cNvPr>
          <p:cNvSpPr/>
          <p:nvPr/>
        </p:nvSpPr>
        <p:spPr>
          <a:xfrm>
            <a:off x="6984134" y="314049"/>
            <a:ext cx="2171443" cy="6401726"/>
          </a:xfrm>
          <a:prstGeom prst="roundRect">
            <a:avLst>
              <a:gd name="adj" fmla="val 10205"/>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cxnSp>
        <p:nvCxnSpPr>
          <p:cNvPr id="294" name="直線コネクタ 293">
            <a:extLst>
              <a:ext uri="{FF2B5EF4-FFF2-40B4-BE49-F238E27FC236}">
                <a16:creationId xmlns:a16="http://schemas.microsoft.com/office/drawing/2014/main" id="{F3CF6EA8-3C5B-4CA3-837D-AEC6ADCA7B9C}"/>
              </a:ext>
            </a:extLst>
          </p:cNvPr>
          <p:cNvCxnSpPr>
            <a:cxnSpLocks/>
            <a:endCxn id="321" idx="0"/>
          </p:cNvCxnSpPr>
          <p:nvPr/>
        </p:nvCxnSpPr>
        <p:spPr>
          <a:xfrm flipH="1">
            <a:off x="9124785" y="2408294"/>
            <a:ext cx="3425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線コネクタ 430">
            <a:extLst>
              <a:ext uri="{FF2B5EF4-FFF2-40B4-BE49-F238E27FC236}">
                <a16:creationId xmlns:a16="http://schemas.microsoft.com/office/drawing/2014/main" id="{7C7A2DD8-3C9A-3C8E-C6AC-624338E3521C}"/>
              </a:ext>
            </a:extLst>
          </p:cNvPr>
          <p:cNvCxnSpPr>
            <a:cxnSpLocks/>
            <a:stCxn id="428" idx="2"/>
            <a:endCxn id="432" idx="2"/>
          </p:cNvCxnSpPr>
          <p:nvPr/>
        </p:nvCxnSpPr>
        <p:spPr>
          <a:xfrm flipV="1">
            <a:off x="11376278" y="3330450"/>
            <a:ext cx="24294" cy="394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直線コネクタ 272">
            <a:extLst>
              <a:ext uri="{FF2B5EF4-FFF2-40B4-BE49-F238E27FC236}">
                <a16:creationId xmlns:a16="http://schemas.microsoft.com/office/drawing/2014/main" id="{630B29DD-CFCC-A40A-ADD1-D755B7A98EDF}"/>
              </a:ext>
            </a:extLst>
          </p:cNvPr>
          <p:cNvCxnSpPr>
            <a:cxnSpLocks/>
          </p:cNvCxnSpPr>
          <p:nvPr/>
        </p:nvCxnSpPr>
        <p:spPr>
          <a:xfrm flipH="1">
            <a:off x="1705382" y="1154771"/>
            <a:ext cx="626260" cy="1258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8" name="正方形/長方形 227">
            <a:extLst>
              <a:ext uri="{FF2B5EF4-FFF2-40B4-BE49-F238E27FC236}">
                <a16:creationId xmlns:a16="http://schemas.microsoft.com/office/drawing/2014/main" id="{0A04AE92-48DA-E485-681C-86F5A6F7A24A}"/>
              </a:ext>
            </a:extLst>
          </p:cNvPr>
          <p:cNvSpPr/>
          <p:nvPr/>
        </p:nvSpPr>
        <p:spPr>
          <a:xfrm>
            <a:off x="9371785" y="2134718"/>
            <a:ext cx="1152862" cy="9467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29" name="直線コネクタ 228">
            <a:extLst>
              <a:ext uri="{FF2B5EF4-FFF2-40B4-BE49-F238E27FC236}">
                <a16:creationId xmlns:a16="http://schemas.microsoft.com/office/drawing/2014/main" id="{8A62F05F-D990-1F5F-8903-0D764EA615C9}"/>
              </a:ext>
            </a:extLst>
          </p:cNvPr>
          <p:cNvCxnSpPr>
            <a:cxnSpLocks/>
            <a:stCxn id="322" idx="2"/>
            <a:endCxn id="306" idx="0"/>
          </p:cNvCxnSpPr>
          <p:nvPr/>
        </p:nvCxnSpPr>
        <p:spPr>
          <a:xfrm>
            <a:off x="8036070" y="1342726"/>
            <a:ext cx="18262" cy="356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133C37CB-CC6D-79FB-45D4-7F9B08274FBC}"/>
              </a:ext>
            </a:extLst>
          </p:cNvPr>
          <p:cNvCxnSpPr>
            <a:cxnSpLocks/>
          </p:cNvCxnSpPr>
          <p:nvPr/>
        </p:nvCxnSpPr>
        <p:spPr>
          <a:xfrm flipH="1">
            <a:off x="1694411" y="1260673"/>
            <a:ext cx="646559" cy="23821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線コネクタ 230">
            <a:extLst>
              <a:ext uri="{FF2B5EF4-FFF2-40B4-BE49-F238E27FC236}">
                <a16:creationId xmlns:a16="http://schemas.microsoft.com/office/drawing/2014/main" id="{F34548D3-63D7-5166-D5D8-0292E1BAC050}"/>
              </a:ext>
            </a:extLst>
          </p:cNvPr>
          <p:cNvCxnSpPr>
            <a:cxnSpLocks/>
            <a:stCxn id="274" idx="2"/>
            <a:endCxn id="271" idx="1"/>
          </p:cNvCxnSpPr>
          <p:nvPr/>
        </p:nvCxnSpPr>
        <p:spPr>
          <a:xfrm flipV="1">
            <a:off x="3739100" y="1273904"/>
            <a:ext cx="341443" cy="354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線コネクタ 231">
            <a:extLst>
              <a:ext uri="{FF2B5EF4-FFF2-40B4-BE49-F238E27FC236}">
                <a16:creationId xmlns:a16="http://schemas.microsoft.com/office/drawing/2014/main" id="{6CFBDEE3-9091-7A9B-CFBD-8633B84E7CE0}"/>
              </a:ext>
            </a:extLst>
          </p:cNvPr>
          <p:cNvCxnSpPr>
            <a:cxnSpLocks/>
          </p:cNvCxnSpPr>
          <p:nvPr/>
        </p:nvCxnSpPr>
        <p:spPr>
          <a:xfrm flipV="1">
            <a:off x="1509938" y="695590"/>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2C762386-1E56-071F-FD2F-C0B5D6F09811}"/>
              </a:ext>
            </a:extLst>
          </p:cNvPr>
          <p:cNvCxnSpPr>
            <a:cxnSpLocks/>
          </p:cNvCxnSpPr>
          <p:nvPr/>
        </p:nvCxnSpPr>
        <p:spPr>
          <a:xfrm>
            <a:off x="2932164" y="1539656"/>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01E284AB-679F-38A0-F919-F2742739D03F}"/>
              </a:ext>
            </a:extLst>
          </p:cNvPr>
          <p:cNvCxnSpPr>
            <a:cxnSpLocks/>
            <a:stCxn id="268" idx="2"/>
            <a:endCxn id="261" idx="2"/>
          </p:cNvCxnSpPr>
          <p:nvPr/>
        </p:nvCxnSpPr>
        <p:spPr>
          <a:xfrm flipH="1">
            <a:off x="2941652" y="2457156"/>
            <a:ext cx="10889" cy="4647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12C67B0B-4370-F5E4-AC80-72CE1D16C36B}"/>
              </a:ext>
            </a:extLst>
          </p:cNvPr>
          <p:cNvSpPr/>
          <p:nvPr/>
        </p:nvSpPr>
        <p:spPr>
          <a:xfrm>
            <a:off x="2320788" y="1721048"/>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36" name="テキスト ボックス 235">
            <a:extLst>
              <a:ext uri="{FF2B5EF4-FFF2-40B4-BE49-F238E27FC236}">
                <a16:creationId xmlns:a16="http://schemas.microsoft.com/office/drawing/2014/main" id="{7F775ADF-DF1B-7E2F-D72F-50281CFDD0A8}"/>
              </a:ext>
            </a:extLst>
          </p:cNvPr>
          <p:cNvSpPr txBox="1"/>
          <p:nvPr/>
        </p:nvSpPr>
        <p:spPr>
          <a:xfrm>
            <a:off x="2352283" y="1678621"/>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37" name="正方形/長方形 236">
            <a:extLst>
              <a:ext uri="{FF2B5EF4-FFF2-40B4-BE49-F238E27FC236}">
                <a16:creationId xmlns:a16="http://schemas.microsoft.com/office/drawing/2014/main" id="{4F34F687-7FB6-9626-3AD9-EC58CDCF0C0F}"/>
              </a:ext>
            </a:extLst>
          </p:cNvPr>
          <p:cNvSpPr/>
          <p:nvPr/>
        </p:nvSpPr>
        <p:spPr>
          <a:xfrm>
            <a:off x="2340970" y="424099"/>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8" name="直線コネクタ 237">
            <a:extLst>
              <a:ext uri="{FF2B5EF4-FFF2-40B4-BE49-F238E27FC236}">
                <a16:creationId xmlns:a16="http://schemas.microsoft.com/office/drawing/2014/main" id="{F233E8EE-25B3-519E-E350-05FFF536089B}"/>
              </a:ext>
            </a:extLst>
          </p:cNvPr>
          <p:cNvCxnSpPr>
            <a:cxnSpLocks/>
          </p:cNvCxnSpPr>
          <p:nvPr/>
        </p:nvCxnSpPr>
        <p:spPr>
          <a:xfrm>
            <a:off x="2352283" y="573313"/>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線コネクタ 238">
            <a:extLst>
              <a:ext uri="{FF2B5EF4-FFF2-40B4-BE49-F238E27FC236}">
                <a16:creationId xmlns:a16="http://schemas.microsoft.com/office/drawing/2014/main" id="{99C0F03B-47B5-E2F4-459D-286F8E129DC9}"/>
              </a:ext>
            </a:extLst>
          </p:cNvPr>
          <p:cNvCxnSpPr>
            <a:cxnSpLocks/>
            <a:endCxn id="279" idx="1"/>
          </p:cNvCxnSpPr>
          <p:nvPr/>
        </p:nvCxnSpPr>
        <p:spPr>
          <a:xfrm flipH="1">
            <a:off x="1648988" y="820800"/>
            <a:ext cx="682654" cy="967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0" name="正方形/長方形 239">
            <a:extLst>
              <a:ext uri="{FF2B5EF4-FFF2-40B4-BE49-F238E27FC236}">
                <a16:creationId xmlns:a16="http://schemas.microsoft.com/office/drawing/2014/main" id="{B011BF13-6D06-9E20-D2DF-6AFC45DD86AA}"/>
              </a:ext>
            </a:extLst>
          </p:cNvPr>
          <p:cNvSpPr/>
          <p:nvPr/>
        </p:nvSpPr>
        <p:spPr>
          <a:xfrm>
            <a:off x="518312" y="1700212"/>
            <a:ext cx="1204177" cy="5299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1" name="テキスト ボックス 240">
            <a:extLst>
              <a:ext uri="{FF2B5EF4-FFF2-40B4-BE49-F238E27FC236}">
                <a16:creationId xmlns:a16="http://schemas.microsoft.com/office/drawing/2014/main" id="{D8BA3E42-8E4F-D12B-B695-B6D5AB36D4CF}"/>
              </a:ext>
            </a:extLst>
          </p:cNvPr>
          <p:cNvSpPr txBox="1"/>
          <p:nvPr/>
        </p:nvSpPr>
        <p:spPr>
          <a:xfrm>
            <a:off x="653208" y="1635033"/>
            <a:ext cx="988166"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医療機関情報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42" name="直線コネクタ 241">
            <a:extLst>
              <a:ext uri="{FF2B5EF4-FFF2-40B4-BE49-F238E27FC236}">
                <a16:creationId xmlns:a16="http://schemas.microsoft.com/office/drawing/2014/main" id="{84F5A8D8-A219-22D3-8424-77FB88469071}"/>
              </a:ext>
            </a:extLst>
          </p:cNvPr>
          <p:cNvCxnSpPr>
            <a:cxnSpLocks/>
          </p:cNvCxnSpPr>
          <p:nvPr/>
        </p:nvCxnSpPr>
        <p:spPr>
          <a:xfrm flipV="1">
            <a:off x="518312" y="1847888"/>
            <a:ext cx="1200197" cy="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正方形/長方形 242">
            <a:extLst>
              <a:ext uri="{FF2B5EF4-FFF2-40B4-BE49-F238E27FC236}">
                <a16:creationId xmlns:a16="http://schemas.microsoft.com/office/drawing/2014/main" id="{FA95C063-E54C-CB0E-E819-0EDD629F2BEA}"/>
              </a:ext>
            </a:extLst>
          </p:cNvPr>
          <p:cNvSpPr/>
          <p:nvPr/>
        </p:nvSpPr>
        <p:spPr>
          <a:xfrm>
            <a:off x="518312" y="3381690"/>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4" name="直線コネクタ 243">
            <a:extLst>
              <a:ext uri="{FF2B5EF4-FFF2-40B4-BE49-F238E27FC236}">
                <a16:creationId xmlns:a16="http://schemas.microsoft.com/office/drawing/2014/main" id="{9CA19320-517E-EF99-27B2-756AA8E1FFB4}"/>
              </a:ext>
            </a:extLst>
          </p:cNvPr>
          <p:cNvCxnSpPr>
            <a:cxnSpLocks/>
          </p:cNvCxnSpPr>
          <p:nvPr/>
        </p:nvCxnSpPr>
        <p:spPr>
          <a:xfrm>
            <a:off x="508160" y="3566163"/>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5" name="テキスト ボックス 244">
            <a:extLst>
              <a:ext uri="{FF2B5EF4-FFF2-40B4-BE49-F238E27FC236}">
                <a16:creationId xmlns:a16="http://schemas.microsoft.com/office/drawing/2014/main" id="{002796DE-0A10-B928-1B03-13A091027BD3}"/>
              </a:ext>
            </a:extLst>
          </p:cNvPr>
          <p:cNvSpPr txBox="1"/>
          <p:nvPr/>
        </p:nvSpPr>
        <p:spPr>
          <a:xfrm>
            <a:off x="552610" y="3354212"/>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6" name="テキスト ボックス 245">
            <a:extLst>
              <a:ext uri="{FF2B5EF4-FFF2-40B4-BE49-F238E27FC236}">
                <a16:creationId xmlns:a16="http://schemas.microsoft.com/office/drawing/2014/main" id="{B2833C6C-82A8-1F9C-50BF-31EDA6294C32}"/>
              </a:ext>
            </a:extLst>
          </p:cNvPr>
          <p:cNvSpPr txBox="1"/>
          <p:nvPr/>
        </p:nvSpPr>
        <p:spPr>
          <a:xfrm>
            <a:off x="464000" y="3537826"/>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退院日</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死亡有無</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56C13395-2056-B39A-D27E-1689E3A889FB}"/>
              </a:ext>
            </a:extLst>
          </p:cNvPr>
          <p:cNvSpPr txBox="1"/>
          <p:nvPr/>
        </p:nvSpPr>
        <p:spPr>
          <a:xfrm>
            <a:off x="2321690" y="1876533"/>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sp>
        <p:nvSpPr>
          <p:cNvPr id="248" name="正方形/長方形 247">
            <a:extLst>
              <a:ext uri="{FF2B5EF4-FFF2-40B4-BE49-F238E27FC236}">
                <a16:creationId xmlns:a16="http://schemas.microsoft.com/office/drawing/2014/main" id="{307BB8D1-E706-A2D6-6A4D-03AC184C980A}"/>
              </a:ext>
            </a:extLst>
          </p:cNvPr>
          <p:cNvSpPr/>
          <p:nvPr/>
        </p:nvSpPr>
        <p:spPr>
          <a:xfrm>
            <a:off x="518313" y="2335663"/>
            <a:ext cx="1200196" cy="96855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9" name="テキスト ボックス 248">
            <a:extLst>
              <a:ext uri="{FF2B5EF4-FFF2-40B4-BE49-F238E27FC236}">
                <a16:creationId xmlns:a16="http://schemas.microsoft.com/office/drawing/2014/main" id="{8FE2CF03-6122-7028-2BEB-6DEA3E45AFE5}"/>
              </a:ext>
            </a:extLst>
          </p:cNvPr>
          <p:cNvSpPr txBox="1"/>
          <p:nvPr/>
        </p:nvSpPr>
        <p:spPr>
          <a:xfrm>
            <a:off x="518313" y="2312733"/>
            <a:ext cx="97377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患者基本情報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0" name="直線コネクタ 249">
            <a:extLst>
              <a:ext uri="{FF2B5EF4-FFF2-40B4-BE49-F238E27FC236}">
                <a16:creationId xmlns:a16="http://schemas.microsoft.com/office/drawing/2014/main" id="{9D892E78-698F-58FB-0598-C96B531BC5F0}"/>
              </a:ext>
            </a:extLst>
          </p:cNvPr>
          <p:cNvCxnSpPr>
            <a:cxnSpLocks/>
          </p:cNvCxnSpPr>
          <p:nvPr/>
        </p:nvCxnSpPr>
        <p:spPr>
          <a:xfrm>
            <a:off x="518313" y="2549326"/>
            <a:ext cx="119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1" name="正方形/長方形 250">
            <a:extLst>
              <a:ext uri="{FF2B5EF4-FFF2-40B4-BE49-F238E27FC236}">
                <a16:creationId xmlns:a16="http://schemas.microsoft.com/office/drawing/2014/main" id="{C86CF39A-B472-DA51-A091-B0D3E628229D}"/>
              </a:ext>
            </a:extLst>
          </p:cNvPr>
          <p:cNvSpPr/>
          <p:nvPr/>
        </p:nvSpPr>
        <p:spPr>
          <a:xfrm>
            <a:off x="518317" y="2528055"/>
            <a:ext cx="968799" cy="784830"/>
          </a:xfrm>
          <a:prstGeom prst="rect">
            <a:avLst/>
          </a:prstGeom>
        </p:spPr>
        <p:txBody>
          <a:bodyPr wrap="square">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患者</a:t>
            </a:r>
            <a:r>
              <a:rPr kumimoji="1" lang="en-US" altLang="ja-JP" sz="900" dirty="0">
                <a:latin typeface="ＭＳ Ｐゴシック" panose="020B0600070205080204" pitchFamily="50" charset="-128"/>
                <a:ea typeface="ＭＳ Ｐゴシック" panose="020B0600070205080204" pitchFamily="50" charset="-128"/>
              </a:rPr>
              <a:t>ID</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関連</a:t>
            </a:r>
            <a:r>
              <a:rPr kumimoji="1" lang="en-US" altLang="ja-JP" sz="900" dirty="0">
                <a:latin typeface="ＭＳ Ｐゴシック" panose="020B0600070205080204" pitchFamily="50" charset="-128"/>
                <a:ea typeface="ＭＳ Ｐゴシック" panose="020B0600070205080204" pitchFamily="50" charset="-128"/>
              </a:rPr>
              <a:t>ID</a:t>
            </a:r>
            <a:endParaRPr kumimoji="1" lang="ja-JP" altLang="en-US"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氏名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性別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生年月日</a:t>
            </a:r>
          </a:p>
        </p:txBody>
      </p:sp>
      <p:cxnSp>
        <p:nvCxnSpPr>
          <p:cNvPr id="252" name="直線コネクタ 251">
            <a:extLst>
              <a:ext uri="{FF2B5EF4-FFF2-40B4-BE49-F238E27FC236}">
                <a16:creationId xmlns:a16="http://schemas.microsoft.com/office/drawing/2014/main" id="{31780137-2FFF-E00E-2CFE-F280E4E08570}"/>
              </a:ext>
            </a:extLst>
          </p:cNvPr>
          <p:cNvCxnSpPr>
            <a:cxnSpLocks/>
          </p:cNvCxnSpPr>
          <p:nvPr/>
        </p:nvCxnSpPr>
        <p:spPr>
          <a:xfrm>
            <a:off x="2320585" y="1889575"/>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3" name="正方形/長方形 252">
            <a:extLst>
              <a:ext uri="{FF2B5EF4-FFF2-40B4-BE49-F238E27FC236}">
                <a16:creationId xmlns:a16="http://schemas.microsoft.com/office/drawing/2014/main" id="{F91F4EC9-F4FB-203F-240F-4CE9B5943A63}"/>
              </a:ext>
            </a:extLst>
          </p:cNvPr>
          <p:cNvSpPr/>
          <p:nvPr/>
        </p:nvSpPr>
        <p:spPr>
          <a:xfrm>
            <a:off x="477673" y="1833530"/>
            <a:ext cx="1067604" cy="369332"/>
          </a:xfrm>
          <a:prstGeom prst="rect">
            <a:avLst/>
          </a:prstGeom>
        </p:spPr>
        <p:txBody>
          <a:bodyPr wrap="square">
            <a:spAutoFit/>
          </a:bodyPr>
          <a:lstStyle/>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コード</a:t>
            </a:r>
            <a:endParaRPr kumimoji="1" lang="en-US" altLang="zh-TW"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名称</a:t>
            </a:r>
            <a:endParaRPr kumimoji="1" lang="zh-TW" altLang="en-US" sz="900" dirty="0">
              <a:latin typeface="ＭＳ Ｐゴシック" panose="020B0600070205080204" pitchFamily="50" charset="-128"/>
              <a:ea typeface="ＭＳ Ｐゴシック" panose="020B0600070205080204" pitchFamily="50" charset="-128"/>
            </a:endParaRPr>
          </a:p>
        </p:txBody>
      </p:sp>
      <p:sp>
        <p:nvSpPr>
          <p:cNvPr id="254" name="正方形/長方形 253">
            <a:extLst>
              <a:ext uri="{FF2B5EF4-FFF2-40B4-BE49-F238E27FC236}">
                <a16:creationId xmlns:a16="http://schemas.microsoft.com/office/drawing/2014/main" id="{FBBA79B3-7054-51E1-6EDA-EE08CBA21723}"/>
              </a:ext>
            </a:extLst>
          </p:cNvPr>
          <p:cNvSpPr/>
          <p:nvPr/>
        </p:nvSpPr>
        <p:spPr>
          <a:xfrm>
            <a:off x="2342770" y="2700828"/>
            <a:ext cx="1290032"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55" name="直線コネクタ 254">
            <a:extLst>
              <a:ext uri="{FF2B5EF4-FFF2-40B4-BE49-F238E27FC236}">
                <a16:creationId xmlns:a16="http://schemas.microsoft.com/office/drawing/2014/main" id="{C46EF9A6-1CB2-50E4-1ED9-D2FC73A519D8}"/>
              </a:ext>
            </a:extLst>
          </p:cNvPr>
          <p:cNvCxnSpPr>
            <a:cxnSpLocks/>
          </p:cNvCxnSpPr>
          <p:nvPr/>
        </p:nvCxnSpPr>
        <p:spPr>
          <a:xfrm flipV="1">
            <a:off x="2347789" y="2904138"/>
            <a:ext cx="1286813" cy="84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正方形/長方形 255">
            <a:extLst>
              <a:ext uri="{FF2B5EF4-FFF2-40B4-BE49-F238E27FC236}">
                <a16:creationId xmlns:a16="http://schemas.microsoft.com/office/drawing/2014/main" id="{D54B833E-3B94-22BF-55BB-F67A50FFA632}"/>
              </a:ext>
            </a:extLst>
          </p:cNvPr>
          <p:cNvSpPr/>
          <p:nvPr/>
        </p:nvSpPr>
        <p:spPr>
          <a:xfrm>
            <a:off x="518317" y="608888"/>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7" name="テキスト ボックス 256">
            <a:extLst>
              <a:ext uri="{FF2B5EF4-FFF2-40B4-BE49-F238E27FC236}">
                <a16:creationId xmlns:a16="http://schemas.microsoft.com/office/drawing/2014/main" id="{45948018-D409-C2C0-588E-104337EE1601}"/>
              </a:ext>
            </a:extLst>
          </p:cNvPr>
          <p:cNvSpPr txBox="1"/>
          <p:nvPr/>
        </p:nvSpPr>
        <p:spPr>
          <a:xfrm>
            <a:off x="518313" y="573313"/>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8" name="直線コネクタ 257">
            <a:extLst>
              <a:ext uri="{FF2B5EF4-FFF2-40B4-BE49-F238E27FC236}">
                <a16:creationId xmlns:a16="http://schemas.microsoft.com/office/drawing/2014/main" id="{8C0E1A84-346C-A2C9-2457-91B4EC33A8DB}"/>
              </a:ext>
            </a:extLst>
          </p:cNvPr>
          <p:cNvCxnSpPr>
            <a:cxnSpLocks/>
          </p:cNvCxnSpPr>
          <p:nvPr/>
        </p:nvCxnSpPr>
        <p:spPr>
          <a:xfrm>
            <a:off x="518313" y="819467"/>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テキスト ボックス 258">
            <a:extLst>
              <a:ext uri="{FF2B5EF4-FFF2-40B4-BE49-F238E27FC236}">
                <a16:creationId xmlns:a16="http://schemas.microsoft.com/office/drawing/2014/main" id="{9B8414B1-E0F9-3407-BEEE-8314CF8ACE20}"/>
              </a:ext>
            </a:extLst>
          </p:cNvPr>
          <p:cNvSpPr txBox="1"/>
          <p:nvPr/>
        </p:nvSpPr>
        <p:spPr>
          <a:xfrm>
            <a:off x="466684" y="787280"/>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施設パスバージョン</a:t>
            </a:r>
          </a:p>
        </p:txBody>
      </p:sp>
      <p:sp>
        <p:nvSpPr>
          <p:cNvPr id="260" name="テキスト ボックス 259">
            <a:extLst>
              <a:ext uri="{FF2B5EF4-FFF2-40B4-BE49-F238E27FC236}">
                <a16:creationId xmlns:a16="http://schemas.microsoft.com/office/drawing/2014/main" id="{29F090CD-82EB-4AEB-5636-D3600C3BA425}"/>
              </a:ext>
            </a:extLst>
          </p:cNvPr>
          <p:cNvSpPr txBox="1"/>
          <p:nvPr/>
        </p:nvSpPr>
        <p:spPr>
          <a:xfrm>
            <a:off x="2323941" y="2905028"/>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パス中止理由</a:t>
            </a:r>
          </a:p>
        </p:txBody>
      </p:sp>
      <p:sp>
        <p:nvSpPr>
          <p:cNvPr id="261" name="正方形/長方形 260">
            <a:extLst>
              <a:ext uri="{FF2B5EF4-FFF2-40B4-BE49-F238E27FC236}">
                <a16:creationId xmlns:a16="http://schemas.microsoft.com/office/drawing/2014/main" id="{D054EB8A-4419-BE0F-97C6-7BD02C6C7DFD}"/>
              </a:ext>
            </a:extLst>
          </p:cNvPr>
          <p:cNvSpPr/>
          <p:nvPr/>
        </p:nvSpPr>
        <p:spPr>
          <a:xfrm>
            <a:off x="2342770" y="2675673"/>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cxnSp>
        <p:nvCxnSpPr>
          <p:cNvPr id="262" name="直線コネクタ 261">
            <a:extLst>
              <a:ext uri="{FF2B5EF4-FFF2-40B4-BE49-F238E27FC236}">
                <a16:creationId xmlns:a16="http://schemas.microsoft.com/office/drawing/2014/main" id="{53611308-3DC2-1A9D-BE46-A4A79B24DD93}"/>
              </a:ext>
            </a:extLst>
          </p:cNvPr>
          <p:cNvCxnSpPr>
            <a:cxnSpLocks/>
            <a:stCxn id="265" idx="2"/>
            <a:endCxn id="263" idx="0"/>
          </p:cNvCxnSpPr>
          <p:nvPr/>
        </p:nvCxnSpPr>
        <p:spPr>
          <a:xfrm flipV="1">
            <a:off x="4674165" y="2034442"/>
            <a:ext cx="921" cy="3451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3" name="ひし形 262">
            <a:extLst>
              <a:ext uri="{FF2B5EF4-FFF2-40B4-BE49-F238E27FC236}">
                <a16:creationId xmlns:a16="http://schemas.microsoft.com/office/drawing/2014/main" id="{81BBAD69-4D15-2A95-A3FE-DBF51953F1F7}"/>
              </a:ext>
            </a:extLst>
          </p:cNvPr>
          <p:cNvSpPr/>
          <p:nvPr/>
        </p:nvSpPr>
        <p:spPr>
          <a:xfrm rot="11001327">
            <a:off x="4618481" y="1844683"/>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4" name="正方形/長方形 263">
            <a:extLst>
              <a:ext uri="{FF2B5EF4-FFF2-40B4-BE49-F238E27FC236}">
                <a16:creationId xmlns:a16="http://schemas.microsoft.com/office/drawing/2014/main" id="{530B2D6C-8E8E-DCB3-922A-84E5FFAB8DA6}"/>
              </a:ext>
            </a:extLst>
          </p:cNvPr>
          <p:cNvSpPr/>
          <p:nvPr/>
        </p:nvSpPr>
        <p:spPr>
          <a:xfrm>
            <a:off x="4080543" y="2175325"/>
            <a:ext cx="1316726" cy="684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5" name="テキスト ボックス 264">
            <a:extLst>
              <a:ext uri="{FF2B5EF4-FFF2-40B4-BE49-F238E27FC236}">
                <a16:creationId xmlns:a16="http://schemas.microsoft.com/office/drawing/2014/main" id="{94693DC1-CA0B-B2F9-A4AF-241FD560663E}"/>
              </a:ext>
            </a:extLst>
          </p:cNvPr>
          <p:cNvSpPr txBox="1"/>
          <p:nvPr/>
        </p:nvSpPr>
        <p:spPr>
          <a:xfrm>
            <a:off x="4125608" y="2133376"/>
            <a:ext cx="1097114"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総合評価</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66" name="直線コネクタ 265">
            <a:extLst>
              <a:ext uri="{FF2B5EF4-FFF2-40B4-BE49-F238E27FC236}">
                <a16:creationId xmlns:a16="http://schemas.microsoft.com/office/drawing/2014/main" id="{287DAC03-DDD1-855B-45D0-DB6A5887268C}"/>
              </a:ext>
            </a:extLst>
          </p:cNvPr>
          <p:cNvCxnSpPr>
            <a:cxnSpLocks/>
          </p:cNvCxnSpPr>
          <p:nvPr/>
        </p:nvCxnSpPr>
        <p:spPr>
          <a:xfrm flipV="1">
            <a:off x="4094935" y="2349130"/>
            <a:ext cx="1300928" cy="1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テキスト ボックス 266">
            <a:extLst>
              <a:ext uri="{FF2B5EF4-FFF2-40B4-BE49-F238E27FC236}">
                <a16:creationId xmlns:a16="http://schemas.microsoft.com/office/drawing/2014/main" id="{E3498298-F4F9-466E-68C4-D19F4E4557B9}"/>
              </a:ext>
            </a:extLst>
          </p:cNvPr>
          <p:cNvSpPr txBox="1"/>
          <p:nvPr/>
        </p:nvSpPr>
        <p:spPr>
          <a:xfrm>
            <a:off x="4094935" y="2411891"/>
            <a:ext cx="1341672"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評価（フリーテキスト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記録者</a:t>
            </a:r>
          </a:p>
        </p:txBody>
      </p:sp>
      <p:sp>
        <p:nvSpPr>
          <p:cNvPr id="268" name="ひし形 267">
            <a:extLst>
              <a:ext uri="{FF2B5EF4-FFF2-40B4-BE49-F238E27FC236}">
                <a16:creationId xmlns:a16="http://schemas.microsoft.com/office/drawing/2014/main" id="{776F2232-BBBB-C2A3-9CCA-FEB006C07D07}"/>
              </a:ext>
            </a:extLst>
          </p:cNvPr>
          <p:cNvSpPr/>
          <p:nvPr/>
        </p:nvSpPr>
        <p:spPr>
          <a:xfrm rot="21588860">
            <a:off x="2895055" y="228717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69" name="正方形/長方形 268">
            <a:extLst>
              <a:ext uri="{FF2B5EF4-FFF2-40B4-BE49-F238E27FC236}">
                <a16:creationId xmlns:a16="http://schemas.microsoft.com/office/drawing/2014/main" id="{25ABB024-A7EE-BB27-C095-3C015D9E1A8B}"/>
              </a:ext>
            </a:extLst>
          </p:cNvPr>
          <p:cNvSpPr/>
          <p:nvPr/>
        </p:nvSpPr>
        <p:spPr>
          <a:xfrm>
            <a:off x="4079641" y="621619"/>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0" name="テキスト ボックス 269">
            <a:extLst>
              <a:ext uri="{FF2B5EF4-FFF2-40B4-BE49-F238E27FC236}">
                <a16:creationId xmlns:a16="http://schemas.microsoft.com/office/drawing/2014/main" id="{897F5FE2-6DA8-E6EE-B60D-558F1A569387}"/>
              </a:ext>
            </a:extLst>
          </p:cNvPr>
          <p:cNvSpPr txBox="1"/>
          <p:nvPr/>
        </p:nvSpPr>
        <p:spPr>
          <a:xfrm>
            <a:off x="4111140" y="579193"/>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71" name="テキスト ボックス 270">
            <a:extLst>
              <a:ext uri="{FF2B5EF4-FFF2-40B4-BE49-F238E27FC236}">
                <a16:creationId xmlns:a16="http://schemas.microsoft.com/office/drawing/2014/main" id="{1EE0572F-0700-D74F-1BAE-331A84E3451C}"/>
              </a:ext>
            </a:extLst>
          </p:cNvPr>
          <p:cNvSpPr txBox="1"/>
          <p:nvPr/>
        </p:nvSpPr>
        <p:spPr>
          <a:xfrm>
            <a:off x="4080543" y="742989"/>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総合評価</a:t>
            </a:r>
          </a:p>
        </p:txBody>
      </p:sp>
      <p:cxnSp>
        <p:nvCxnSpPr>
          <p:cNvPr id="272" name="直線コネクタ 271">
            <a:extLst>
              <a:ext uri="{FF2B5EF4-FFF2-40B4-BE49-F238E27FC236}">
                <a16:creationId xmlns:a16="http://schemas.microsoft.com/office/drawing/2014/main" id="{4DECD42A-2F19-7D9F-0D21-7DAF6F5E20DB}"/>
              </a:ext>
            </a:extLst>
          </p:cNvPr>
          <p:cNvCxnSpPr>
            <a:cxnSpLocks/>
          </p:cNvCxnSpPr>
          <p:nvPr/>
        </p:nvCxnSpPr>
        <p:spPr>
          <a:xfrm>
            <a:off x="4090442" y="790941"/>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ひし形 273">
            <a:extLst>
              <a:ext uri="{FF2B5EF4-FFF2-40B4-BE49-F238E27FC236}">
                <a16:creationId xmlns:a16="http://schemas.microsoft.com/office/drawing/2014/main" id="{1AFC8B24-8230-3FD2-B15C-276823DE18C3}"/>
              </a:ext>
            </a:extLst>
          </p:cNvPr>
          <p:cNvSpPr/>
          <p:nvPr/>
        </p:nvSpPr>
        <p:spPr>
          <a:xfrm rot="12939424">
            <a:off x="3632346" y="1612371"/>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5" name="テキスト ボックス 274">
            <a:extLst>
              <a:ext uri="{FF2B5EF4-FFF2-40B4-BE49-F238E27FC236}">
                <a16:creationId xmlns:a16="http://schemas.microsoft.com/office/drawing/2014/main" id="{054D78C5-C924-6C01-40DF-9AB74A3A7F9B}"/>
              </a:ext>
            </a:extLst>
          </p:cNvPr>
          <p:cNvSpPr txBox="1"/>
          <p:nvPr/>
        </p:nvSpPr>
        <p:spPr>
          <a:xfrm>
            <a:off x="3749980" y="103746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6" name="テキスト ボックス 275">
            <a:extLst>
              <a:ext uri="{FF2B5EF4-FFF2-40B4-BE49-F238E27FC236}">
                <a16:creationId xmlns:a16="http://schemas.microsoft.com/office/drawing/2014/main" id="{13FC546F-9741-3E0B-C6C9-6C3750E8FD74}"/>
              </a:ext>
            </a:extLst>
          </p:cNvPr>
          <p:cNvSpPr txBox="1"/>
          <p:nvPr/>
        </p:nvSpPr>
        <p:spPr>
          <a:xfrm>
            <a:off x="2948910" y="147311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7" name="ひし形 276">
            <a:extLst>
              <a:ext uri="{FF2B5EF4-FFF2-40B4-BE49-F238E27FC236}">
                <a16:creationId xmlns:a16="http://schemas.microsoft.com/office/drawing/2014/main" id="{1BD374CB-6790-F7FD-D2B6-900F9529DD3F}"/>
              </a:ext>
            </a:extLst>
          </p:cNvPr>
          <p:cNvSpPr/>
          <p:nvPr/>
        </p:nvSpPr>
        <p:spPr>
          <a:xfrm>
            <a:off x="2874953" y="1362238"/>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78" name="テキスト ボックス 277">
            <a:extLst>
              <a:ext uri="{FF2B5EF4-FFF2-40B4-BE49-F238E27FC236}">
                <a16:creationId xmlns:a16="http://schemas.microsoft.com/office/drawing/2014/main" id="{17325067-C73A-BF70-3F81-BAC6CCC1EB62}"/>
              </a:ext>
            </a:extLst>
          </p:cNvPr>
          <p:cNvSpPr txBox="1"/>
          <p:nvPr/>
        </p:nvSpPr>
        <p:spPr>
          <a:xfrm>
            <a:off x="1672123" y="56478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79" name="テキスト ボックス 278">
            <a:extLst>
              <a:ext uri="{FF2B5EF4-FFF2-40B4-BE49-F238E27FC236}">
                <a16:creationId xmlns:a16="http://schemas.microsoft.com/office/drawing/2014/main" id="{5BD4717E-D19D-8E4E-2389-7E5C4FB2BCBF}"/>
              </a:ext>
            </a:extLst>
          </p:cNvPr>
          <p:cNvSpPr txBox="1"/>
          <p:nvPr/>
        </p:nvSpPr>
        <p:spPr>
          <a:xfrm>
            <a:off x="1648988" y="1657490"/>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0" name="テキスト ボックス 279">
            <a:extLst>
              <a:ext uri="{FF2B5EF4-FFF2-40B4-BE49-F238E27FC236}">
                <a16:creationId xmlns:a16="http://schemas.microsoft.com/office/drawing/2014/main" id="{4EE21050-7A99-8B54-3ACD-38F463CCAE4B}"/>
              </a:ext>
            </a:extLst>
          </p:cNvPr>
          <p:cNvSpPr txBox="1"/>
          <p:nvPr/>
        </p:nvSpPr>
        <p:spPr>
          <a:xfrm>
            <a:off x="1665462" y="2480253"/>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1" name="テキスト ボックス 280">
            <a:extLst>
              <a:ext uri="{FF2B5EF4-FFF2-40B4-BE49-F238E27FC236}">
                <a16:creationId xmlns:a16="http://schemas.microsoft.com/office/drawing/2014/main" id="{974EF213-3C27-C52C-9F7B-B5B9021C3401}"/>
              </a:ext>
            </a:extLst>
          </p:cNvPr>
          <p:cNvSpPr txBox="1"/>
          <p:nvPr/>
        </p:nvSpPr>
        <p:spPr>
          <a:xfrm>
            <a:off x="2990710" y="2454686"/>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2" name="テキスト ボックス 281">
            <a:extLst>
              <a:ext uri="{FF2B5EF4-FFF2-40B4-BE49-F238E27FC236}">
                <a16:creationId xmlns:a16="http://schemas.microsoft.com/office/drawing/2014/main" id="{291621A5-0DBC-5F54-B291-51E89A165F41}"/>
              </a:ext>
            </a:extLst>
          </p:cNvPr>
          <p:cNvSpPr txBox="1"/>
          <p:nvPr/>
        </p:nvSpPr>
        <p:spPr>
          <a:xfrm>
            <a:off x="4729728" y="195653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283" name="テキスト ボックス 282">
            <a:extLst>
              <a:ext uri="{FF2B5EF4-FFF2-40B4-BE49-F238E27FC236}">
                <a16:creationId xmlns:a16="http://schemas.microsoft.com/office/drawing/2014/main" id="{DDAA2AC9-7348-DA42-271B-218CEABC7373}"/>
              </a:ext>
            </a:extLst>
          </p:cNvPr>
          <p:cNvSpPr txBox="1"/>
          <p:nvPr/>
        </p:nvSpPr>
        <p:spPr>
          <a:xfrm>
            <a:off x="1660910" y="344701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84" name="直線コネクタ 283">
            <a:extLst>
              <a:ext uri="{FF2B5EF4-FFF2-40B4-BE49-F238E27FC236}">
                <a16:creationId xmlns:a16="http://schemas.microsoft.com/office/drawing/2014/main" id="{2D472108-6613-CE92-6BF7-DE3CE2A8C982}"/>
              </a:ext>
            </a:extLst>
          </p:cNvPr>
          <p:cNvCxnSpPr>
            <a:cxnSpLocks/>
            <a:endCxn id="285" idx="0"/>
          </p:cNvCxnSpPr>
          <p:nvPr/>
        </p:nvCxnSpPr>
        <p:spPr>
          <a:xfrm flipH="1" flipV="1">
            <a:off x="5560998" y="1028695"/>
            <a:ext cx="137102" cy="951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ひし形 284">
            <a:extLst>
              <a:ext uri="{FF2B5EF4-FFF2-40B4-BE49-F238E27FC236}">
                <a16:creationId xmlns:a16="http://schemas.microsoft.com/office/drawing/2014/main" id="{F5796523-65F0-40E5-126B-9EFE6E287B1E}"/>
              </a:ext>
            </a:extLst>
          </p:cNvPr>
          <p:cNvSpPr/>
          <p:nvPr/>
        </p:nvSpPr>
        <p:spPr>
          <a:xfrm rot="6514445">
            <a:off x="5400694" y="906683"/>
            <a:ext cx="145177" cy="18507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6" name="正方形/長方形 285">
            <a:extLst>
              <a:ext uri="{FF2B5EF4-FFF2-40B4-BE49-F238E27FC236}">
                <a16:creationId xmlns:a16="http://schemas.microsoft.com/office/drawing/2014/main" id="{503ED8D7-9A03-9764-8BC6-D18A19FE51BC}"/>
              </a:ext>
            </a:extLst>
          </p:cNvPr>
          <p:cNvSpPr/>
          <p:nvPr/>
        </p:nvSpPr>
        <p:spPr>
          <a:xfrm>
            <a:off x="5682300" y="986328"/>
            <a:ext cx="121992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7" name="テキスト ボックス 286">
            <a:extLst>
              <a:ext uri="{FF2B5EF4-FFF2-40B4-BE49-F238E27FC236}">
                <a16:creationId xmlns:a16="http://schemas.microsoft.com/office/drawing/2014/main" id="{B0347A81-9A30-7A7F-1643-398D687DA6A4}"/>
              </a:ext>
            </a:extLst>
          </p:cNvPr>
          <p:cNvSpPr txBox="1"/>
          <p:nvPr/>
        </p:nvSpPr>
        <p:spPr>
          <a:xfrm>
            <a:off x="5739516" y="951431"/>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88" name="直線コネクタ 287">
            <a:extLst>
              <a:ext uri="{FF2B5EF4-FFF2-40B4-BE49-F238E27FC236}">
                <a16:creationId xmlns:a16="http://schemas.microsoft.com/office/drawing/2014/main" id="{97388014-2799-352E-4E66-87877DAC71CD}"/>
              </a:ext>
            </a:extLst>
          </p:cNvPr>
          <p:cNvCxnSpPr>
            <a:cxnSpLocks/>
          </p:cNvCxnSpPr>
          <p:nvPr/>
        </p:nvCxnSpPr>
        <p:spPr>
          <a:xfrm flipV="1">
            <a:off x="5683202" y="1173464"/>
            <a:ext cx="1219022" cy="91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テキスト ボックス 288">
            <a:extLst>
              <a:ext uri="{FF2B5EF4-FFF2-40B4-BE49-F238E27FC236}">
                <a16:creationId xmlns:a16="http://schemas.microsoft.com/office/drawing/2014/main" id="{4177EF63-9D7D-3B09-B985-F8B069B70DF2}"/>
              </a:ext>
            </a:extLst>
          </p:cNvPr>
          <p:cNvSpPr txBox="1"/>
          <p:nvPr/>
        </p:nvSpPr>
        <p:spPr>
          <a:xfrm>
            <a:off x="5666874" y="1159202"/>
            <a:ext cx="1165072"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開始日</a:t>
            </a:r>
          </a:p>
        </p:txBody>
      </p:sp>
      <p:sp>
        <p:nvSpPr>
          <p:cNvPr id="290" name="テキスト ボックス 289">
            <a:extLst>
              <a:ext uri="{FF2B5EF4-FFF2-40B4-BE49-F238E27FC236}">
                <a16:creationId xmlns:a16="http://schemas.microsoft.com/office/drawing/2014/main" id="{C922C9B6-1DF4-AE83-F30C-02293E830C04}"/>
              </a:ext>
            </a:extLst>
          </p:cNvPr>
          <p:cNvSpPr txBox="1"/>
          <p:nvPr/>
        </p:nvSpPr>
        <p:spPr>
          <a:xfrm>
            <a:off x="5373534" y="105176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1" name="直線コネクタ 290">
            <a:extLst>
              <a:ext uri="{FF2B5EF4-FFF2-40B4-BE49-F238E27FC236}">
                <a16:creationId xmlns:a16="http://schemas.microsoft.com/office/drawing/2014/main" id="{F84973F5-62B9-9A09-58DE-2B0FE0D5A2C3}"/>
              </a:ext>
            </a:extLst>
          </p:cNvPr>
          <p:cNvCxnSpPr>
            <a:cxnSpLocks/>
            <a:endCxn id="329" idx="2"/>
          </p:cNvCxnSpPr>
          <p:nvPr/>
        </p:nvCxnSpPr>
        <p:spPr>
          <a:xfrm flipH="1" flipV="1">
            <a:off x="5611063" y="729225"/>
            <a:ext cx="1494496" cy="4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線矢印コネクタ 291">
            <a:extLst>
              <a:ext uri="{FF2B5EF4-FFF2-40B4-BE49-F238E27FC236}">
                <a16:creationId xmlns:a16="http://schemas.microsoft.com/office/drawing/2014/main" id="{6E58D5FB-7142-70C6-689C-D54D8FE8AEF1}"/>
              </a:ext>
            </a:extLst>
          </p:cNvPr>
          <p:cNvCxnSpPr>
            <a:cxnSpLocks/>
            <a:stCxn id="324" idx="2"/>
          </p:cNvCxnSpPr>
          <p:nvPr/>
        </p:nvCxnSpPr>
        <p:spPr>
          <a:xfrm>
            <a:off x="8010345" y="5019819"/>
            <a:ext cx="0" cy="28887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3" name="直線コネクタ 292">
            <a:extLst>
              <a:ext uri="{FF2B5EF4-FFF2-40B4-BE49-F238E27FC236}">
                <a16:creationId xmlns:a16="http://schemas.microsoft.com/office/drawing/2014/main" id="{3BF90182-B215-7EF3-DF43-CD52D1642A85}"/>
              </a:ext>
            </a:extLst>
          </p:cNvPr>
          <p:cNvCxnSpPr>
            <a:cxnSpLocks/>
            <a:endCxn id="325" idx="0"/>
          </p:cNvCxnSpPr>
          <p:nvPr/>
        </p:nvCxnSpPr>
        <p:spPr>
          <a:xfrm flipH="1">
            <a:off x="9159418" y="4601728"/>
            <a:ext cx="32442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5" name="正方形/長方形 294">
            <a:extLst>
              <a:ext uri="{FF2B5EF4-FFF2-40B4-BE49-F238E27FC236}">
                <a16:creationId xmlns:a16="http://schemas.microsoft.com/office/drawing/2014/main" id="{6F4B7647-6A77-E273-7D7B-9EFD6FF478EE}"/>
              </a:ext>
            </a:extLst>
          </p:cNvPr>
          <p:cNvSpPr/>
          <p:nvPr/>
        </p:nvSpPr>
        <p:spPr>
          <a:xfrm>
            <a:off x="7115330" y="671194"/>
            <a:ext cx="1817378"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6" name="テキスト ボックス 295">
            <a:extLst>
              <a:ext uri="{FF2B5EF4-FFF2-40B4-BE49-F238E27FC236}">
                <a16:creationId xmlns:a16="http://schemas.microsoft.com/office/drawing/2014/main" id="{E1CFCAEC-CBB9-0687-8A5A-A0B221BCDA3A}"/>
              </a:ext>
            </a:extLst>
          </p:cNvPr>
          <p:cNvSpPr txBox="1"/>
          <p:nvPr/>
        </p:nvSpPr>
        <p:spPr>
          <a:xfrm>
            <a:off x="7368086" y="606601"/>
            <a:ext cx="1323982" cy="253916"/>
          </a:xfrm>
          <a:prstGeom prst="rect">
            <a:avLst/>
          </a:prstGeom>
          <a:noFill/>
        </p:spPr>
        <p:txBody>
          <a:bodyPr wrap="square" rtlCol="0">
            <a:spAutoFit/>
          </a:bodyPr>
          <a:lstStyle/>
          <a:p>
            <a:pPr algn="ctr"/>
            <a:r>
              <a:rPr lang="en-US" altLang="ja-JP" sz="1000" b="1" dirty="0">
                <a:latin typeface="ＭＳ Ｐゴシック" panose="020B0600070205080204" pitchFamily="50" charset="-128"/>
                <a:ea typeface="ＭＳ Ｐゴシック" panose="020B0600070205080204" pitchFamily="50" charset="-128"/>
              </a:rPr>
              <a:t>OAT</a:t>
            </a:r>
            <a:r>
              <a:rPr lang="ja-JP" altLang="en-US" sz="1000" b="1" dirty="0">
                <a:latin typeface="ＭＳ Ｐゴシック" panose="020B0600070205080204" pitchFamily="50" charset="-128"/>
                <a:ea typeface="ＭＳ Ｐゴシック" panose="020B0600070205080204" pitchFamily="50" charset="-128"/>
              </a:rPr>
              <a:t>ユニット</a:t>
            </a:r>
            <a:endParaRPr kumimoji="1" lang="ja-JP" altLang="en-US" sz="1000" b="1" dirty="0">
              <a:latin typeface="ＭＳ Ｐゴシック" panose="020B0600070205080204" pitchFamily="50" charset="-128"/>
              <a:ea typeface="ＭＳ Ｐゴシック" panose="020B0600070205080204" pitchFamily="50" charset="-128"/>
            </a:endParaRPr>
          </a:p>
        </p:txBody>
      </p:sp>
      <p:cxnSp>
        <p:nvCxnSpPr>
          <p:cNvPr id="297" name="直線コネクタ 296">
            <a:extLst>
              <a:ext uri="{FF2B5EF4-FFF2-40B4-BE49-F238E27FC236}">
                <a16:creationId xmlns:a16="http://schemas.microsoft.com/office/drawing/2014/main" id="{36FFCC3C-AE5B-EE3A-7904-5DAD209D8ED5}"/>
              </a:ext>
            </a:extLst>
          </p:cNvPr>
          <p:cNvCxnSpPr>
            <a:cxnSpLocks/>
          </p:cNvCxnSpPr>
          <p:nvPr/>
        </p:nvCxnSpPr>
        <p:spPr>
          <a:xfrm>
            <a:off x="7125100" y="820763"/>
            <a:ext cx="18173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正方形/長方形 297">
            <a:extLst>
              <a:ext uri="{FF2B5EF4-FFF2-40B4-BE49-F238E27FC236}">
                <a16:creationId xmlns:a16="http://schemas.microsoft.com/office/drawing/2014/main" id="{E4F631BA-4764-C71F-A1AD-1A225D09C186}"/>
              </a:ext>
            </a:extLst>
          </p:cNvPr>
          <p:cNvSpPr/>
          <p:nvPr/>
        </p:nvSpPr>
        <p:spPr>
          <a:xfrm>
            <a:off x="7125100" y="779906"/>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299" name="正方形/長方形 298">
            <a:extLst>
              <a:ext uri="{FF2B5EF4-FFF2-40B4-BE49-F238E27FC236}">
                <a16:creationId xmlns:a16="http://schemas.microsoft.com/office/drawing/2014/main" id="{B0620FBF-3367-FD3B-5C6E-5C4ECBF608F6}"/>
              </a:ext>
            </a:extLst>
          </p:cNvPr>
          <p:cNvSpPr/>
          <p:nvPr/>
        </p:nvSpPr>
        <p:spPr>
          <a:xfrm>
            <a:off x="7115330" y="1513900"/>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0" name="正方形/長方形 299">
            <a:extLst>
              <a:ext uri="{FF2B5EF4-FFF2-40B4-BE49-F238E27FC236}">
                <a16:creationId xmlns:a16="http://schemas.microsoft.com/office/drawing/2014/main" id="{A9A33633-201E-A6F3-DF09-7F1209B390B5}"/>
              </a:ext>
            </a:extLst>
          </p:cNvPr>
          <p:cNvSpPr/>
          <p:nvPr/>
        </p:nvSpPr>
        <p:spPr>
          <a:xfrm>
            <a:off x="7110751" y="3446187"/>
            <a:ext cx="1834231" cy="1397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1" name="正方形/長方形 300">
            <a:extLst>
              <a:ext uri="{FF2B5EF4-FFF2-40B4-BE49-F238E27FC236}">
                <a16:creationId xmlns:a16="http://schemas.microsoft.com/office/drawing/2014/main" id="{C1721F27-8E56-1173-4B3C-494ECD565DF4}"/>
              </a:ext>
            </a:extLst>
          </p:cNvPr>
          <p:cNvSpPr/>
          <p:nvPr/>
        </p:nvSpPr>
        <p:spPr>
          <a:xfrm>
            <a:off x="7110751" y="5230567"/>
            <a:ext cx="1834231"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02" name="直線コネクタ 301">
            <a:extLst>
              <a:ext uri="{FF2B5EF4-FFF2-40B4-BE49-F238E27FC236}">
                <a16:creationId xmlns:a16="http://schemas.microsoft.com/office/drawing/2014/main" id="{68C96411-E50D-983C-4322-2C78880B38DF}"/>
              </a:ext>
            </a:extLst>
          </p:cNvPr>
          <p:cNvCxnSpPr>
            <a:cxnSpLocks/>
          </p:cNvCxnSpPr>
          <p:nvPr/>
        </p:nvCxnSpPr>
        <p:spPr>
          <a:xfrm>
            <a:off x="7110751" y="1703975"/>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テキスト ボックス 302">
            <a:extLst>
              <a:ext uri="{FF2B5EF4-FFF2-40B4-BE49-F238E27FC236}">
                <a16:creationId xmlns:a16="http://schemas.microsoft.com/office/drawing/2014/main" id="{D4C62001-C67E-1346-5A9C-640238ECDBD8}"/>
              </a:ext>
            </a:extLst>
          </p:cNvPr>
          <p:cNvSpPr txBox="1"/>
          <p:nvPr/>
        </p:nvSpPr>
        <p:spPr>
          <a:xfrm>
            <a:off x="7684271" y="1478838"/>
            <a:ext cx="760144" cy="253916"/>
          </a:xfrm>
          <a:prstGeom prst="rect">
            <a:avLst/>
          </a:prstGeom>
          <a:noFill/>
        </p:spPr>
        <p:txBody>
          <a:bodyPr wrap="none" rtlCol="0">
            <a:spAutoFit/>
          </a:bodyPr>
          <a:lstStyle/>
          <a:p>
            <a:r>
              <a:rPr kumimoji="1" lang="ja-JP" altLang="en-US" sz="1050" b="1" dirty="0">
                <a:latin typeface="ＭＳ Ｐゴシック" panose="020B0600070205080204" pitchFamily="50" charset="-128"/>
                <a:ea typeface="ＭＳ Ｐゴシック" panose="020B0600070205080204" pitchFamily="50" charset="-128"/>
              </a:rPr>
              <a:t>アウトカム</a:t>
            </a:r>
          </a:p>
        </p:txBody>
      </p:sp>
      <p:sp>
        <p:nvSpPr>
          <p:cNvPr id="304" name="テキスト ボックス 303">
            <a:extLst>
              <a:ext uri="{FF2B5EF4-FFF2-40B4-BE49-F238E27FC236}">
                <a16:creationId xmlns:a16="http://schemas.microsoft.com/office/drawing/2014/main" id="{3FEAEDB8-0938-70F5-77E1-F8692228A605}"/>
              </a:ext>
            </a:extLst>
          </p:cNvPr>
          <p:cNvSpPr txBox="1"/>
          <p:nvPr/>
        </p:nvSpPr>
        <p:spPr>
          <a:xfrm>
            <a:off x="7297314" y="3410762"/>
            <a:ext cx="1316726"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観察項目</a:t>
            </a:r>
          </a:p>
        </p:txBody>
      </p:sp>
      <p:sp>
        <p:nvSpPr>
          <p:cNvPr id="305" name="テキスト ボックス 304">
            <a:extLst>
              <a:ext uri="{FF2B5EF4-FFF2-40B4-BE49-F238E27FC236}">
                <a16:creationId xmlns:a16="http://schemas.microsoft.com/office/drawing/2014/main" id="{20B1C958-4250-BCDB-82AE-C2C5EC3D036B}"/>
              </a:ext>
            </a:extLst>
          </p:cNvPr>
          <p:cNvSpPr txBox="1"/>
          <p:nvPr/>
        </p:nvSpPr>
        <p:spPr>
          <a:xfrm>
            <a:off x="7277438" y="5182195"/>
            <a:ext cx="1414630" cy="253916"/>
          </a:xfrm>
          <a:prstGeom prst="rect">
            <a:avLst/>
          </a:prstGeom>
          <a:noFill/>
        </p:spPr>
        <p:txBody>
          <a:bodyPr wrap="square" rtlCol="0">
            <a:spAutoFit/>
          </a:bodyPr>
          <a:lstStyle/>
          <a:p>
            <a:pPr algn="ctr"/>
            <a:r>
              <a:rPr kumimoji="1" lang="ja-JP" altLang="en-US" sz="1050" b="1" dirty="0">
                <a:latin typeface="ＭＳ Ｐゴシック" panose="020B0600070205080204" pitchFamily="50" charset="-128"/>
                <a:ea typeface="ＭＳ Ｐゴシック" panose="020B0600070205080204" pitchFamily="50" charset="-128"/>
              </a:rPr>
              <a:t>タスク</a:t>
            </a:r>
          </a:p>
        </p:txBody>
      </p:sp>
      <p:sp>
        <p:nvSpPr>
          <p:cNvPr id="306" name="テキスト ボックス 305">
            <a:extLst>
              <a:ext uri="{FF2B5EF4-FFF2-40B4-BE49-F238E27FC236}">
                <a16:creationId xmlns:a16="http://schemas.microsoft.com/office/drawing/2014/main" id="{550F7A2A-592C-33AE-D716-15252BD7DD90}"/>
              </a:ext>
            </a:extLst>
          </p:cNvPr>
          <p:cNvSpPr txBox="1"/>
          <p:nvPr/>
        </p:nvSpPr>
        <p:spPr>
          <a:xfrm>
            <a:off x="7074465" y="1699513"/>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評価</a:t>
            </a:r>
          </a:p>
        </p:txBody>
      </p:sp>
      <p:sp>
        <p:nvSpPr>
          <p:cNvPr id="307" name="正方形/長方形 306">
            <a:extLst>
              <a:ext uri="{FF2B5EF4-FFF2-40B4-BE49-F238E27FC236}">
                <a16:creationId xmlns:a16="http://schemas.microsoft.com/office/drawing/2014/main" id="{9F65A85D-54D5-445D-4BD5-08525CB87C01}"/>
              </a:ext>
            </a:extLst>
          </p:cNvPr>
          <p:cNvSpPr/>
          <p:nvPr/>
        </p:nvSpPr>
        <p:spPr>
          <a:xfrm>
            <a:off x="7066202" y="3613788"/>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308" name="テキスト ボックス 307">
            <a:extLst>
              <a:ext uri="{FF2B5EF4-FFF2-40B4-BE49-F238E27FC236}">
                <a16:creationId xmlns:a16="http://schemas.microsoft.com/office/drawing/2014/main" id="{ED8E3DEE-DC32-ACCE-63BD-29735110235A}"/>
              </a:ext>
            </a:extLst>
          </p:cNvPr>
          <p:cNvSpPr txBox="1"/>
          <p:nvPr/>
        </p:nvSpPr>
        <p:spPr>
          <a:xfrm>
            <a:off x="7199192" y="5393709"/>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タスク実施</a:t>
            </a:r>
            <a:r>
              <a:rPr lang="en-US" altLang="ja-JP" sz="900" dirty="0">
                <a:latin typeface="ＭＳ Ｐゴシック" panose="020B0600070205080204" pitchFamily="50" charset="-128"/>
                <a:ea typeface="ＭＳ Ｐゴシック" panose="020B0600070205080204" pitchFamily="50" charset="-128"/>
              </a:rPr>
              <a:t/>
            </a:r>
            <a:br>
              <a:rPr lang="en-US" altLang="ja-JP" sz="900" dirty="0">
                <a:latin typeface="ＭＳ Ｐゴシック" panose="020B0600070205080204" pitchFamily="50" charset="-128"/>
                <a:ea typeface="ＭＳ Ｐゴシック" panose="020B0600070205080204" pitchFamily="50" charset="-128"/>
              </a:rPr>
            </a:br>
            <a:r>
              <a:rPr lang="ja-JP" altLang="en-US" sz="900" dirty="0">
                <a:latin typeface="ＭＳ Ｐゴシック" panose="020B0600070205080204" pitchFamily="50" charset="-128"/>
                <a:ea typeface="ＭＳ Ｐゴシック" panose="020B0600070205080204" pitchFamily="50" charset="-128"/>
              </a:rPr>
              <a:t>（実施状況・実施者）</a:t>
            </a:r>
          </a:p>
        </p:txBody>
      </p:sp>
      <p:cxnSp>
        <p:nvCxnSpPr>
          <p:cNvPr id="309" name="直線コネクタ 308">
            <a:extLst>
              <a:ext uri="{FF2B5EF4-FFF2-40B4-BE49-F238E27FC236}">
                <a16:creationId xmlns:a16="http://schemas.microsoft.com/office/drawing/2014/main" id="{F24D1F1B-516D-4400-628B-9DF93327DDBF}"/>
              </a:ext>
            </a:extLst>
          </p:cNvPr>
          <p:cNvCxnSpPr>
            <a:cxnSpLocks/>
          </p:cNvCxnSpPr>
          <p:nvPr/>
        </p:nvCxnSpPr>
        <p:spPr>
          <a:xfrm>
            <a:off x="7133915" y="5402870"/>
            <a:ext cx="17987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a:extLst>
              <a:ext uri="{FF2B5EF4-FFF2-40B4-BE49-F238E27FC236}">
                <a16:creationId xmlns:a16="http://schemas.microsoft.com/office/drawing/2014/main" id="{4112DF24-0628-4CAB-3E52-84C2194C22DE}"/>
              </a:ext>
            </a:extLst>
          </p:cNvPr>
          <p:cNvCxnSpPr>
            <a:cxnSpLocks/>
          </p:cNvCxnSpPr>
          <p:nvPr/>
        </p:nvCxnSpPr>
        <p:spPr>
          <a:xfrm>
            <a:off x="7110694" y="3624412"/>
            <a:ext cx="18286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04BB43D-E7AC-EAAD-81D7-9EECFE3482E0}"/>
              </a:ext>
            </a:extLst>
          </p:cNvPr>
          <p:cNvCxnSpPr>
            <a:cxnSpLocks/>
            <a:stCxn id="326" idx="2"/>
          </p:cNvCxnSpPr>
          <p:nvPr/>
        </p:nvCxnSpPr>
        <p:spPr>
          <a:xfrm>
            <a:off x="7992979" y="3318928"/>
            <a:ext cx="0" cy="156037"/>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2" name="テキスト ボックス 311">
            <a:extLst>
              <a:ext uri="{FF2B5EF4-FFF2-40B4-BE49-F238E27FC236}">
                <a16:creationId xmlns:a16="http://schemas.microsoft.com/office/drawing/2014/main" id="{0743A75C-F49C-1E69-2563-DD14796623C2}"/>
              </a:ext>
            </a:extLst>
          </p:cNvPr>
          <p:cNvSpPr txBox="1"/>
          <p:nvPr/>
        </p:nvSpPr>
        <p:spPr>
          <a:xfrm>
            <a:off x="7993152" y="322433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3" name="テキスト ボックス 312">
            <a:extLst>
              <a:ext uri="{FF2B5EF4-FFF2-40B4-BE49-F238E27FC236}">
                <a16:creationId xmlns:a16="http://schemas.microsoft.com/office/drawing/2014/main" id="{AD11120C-6C5A-23EB-CB0A-85994E01E879}"/>
              </a:ext>
            </a:extLst>
          </p:cNvPr>
          <p:cNvSpPr txBox="1"/>
          <p:nvPr/>
        </p:nvSpPr>
        <p:spPr>
          <a:xfrm>
            <a:off x="8015978" y="498363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14" name="正方形/長方形 313">
            <a:extLst>
              <a:ext uri="{FF2B5EF4-FFF2-40B4-BE49-F238E27FC236}">
                <a16:creationId xmlns:a16="http://schemas.microsoft.com/office/drawing/2014/main" id="{672151C4-3E23-7276-E860-928F388EEC80}"/>
              </a:ext>
            </a:extLst>
          </p:cNvPr>
          <p:cNvSpPr/>
          <p:nvPr/>
        </p:nvSpPr>
        <p:spPr>
          <a:xfrm>
            <a:off x="9439380" y="4325269"/>
            <a:ext cx="1184721" cy="9052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15" name="直線コネクタ 314">
            <a:extLst>
              <a:ext uri="{FF2B5EF4-FFF2-40B4-BE49-F238E27FC236}">
                <a16:creationId xmlns:a16="http://schemas.microsoft.com/office/drawing/2014/main" id="{56DFF635-A064-7D84-2642-37881FF797DF}"/>
              </a:ext>
            </a:extLst>
          </p:cNvPr>
          <p:cNvCxnSpPr>
            <a:cxnSpLocks/>
          </p:cNvCxnSpPr>
          <p:nvPr/>
        </p:nvCxnSpPr>
        <p:spPr>
          <a:xfrm flipV="1">
            <a:off x="9426694" y="4504656"/>
            <a:ext cx="1197407" cy="17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6" name="正方形/長方形 315">
            <a:extLst>
              <a:ext uri="{FF2B5EF4-FFF2-40B4-BE49-F238E27FC236}">
                <a16:creationId xmlns:a16="http://schemas.microsoft.com/office/drawing/2014/main" id="{D0AD8772-8AA2-AB38-59AF-75ACE0DBF6CE}"/>
              </a:ext>
            </a:extLst>
          </p:cNvPr>
          <p:cNvSpPr/>
          <p:nvPr/>
        </p:nvSpPr>
        <p:spPr>
          <a:xfrm>
            <a:off x="9461872" y="4298897"/>
            <a:ext cx="1162230" cy="246221"/>
          </a:xfrm>
          <a:prstGeom prst="rect">
            <a:avLst/>
          </a:prstGeom>
        </p:spPr>
        <p:txBody>
          <a:bodyPr wrap="square">
            <a:spAutoFit/>
          </a:bodyPr>
          <a:lstStyle/>
          <a:p>
            <a:pPr algn="ctr">
              <a:spcBef>
                <a:spcPts val="200"/>
              </a:spcBef>
            </a:pPr>
            <a:r>
              <a:rPr lang="zh-TW" altLang="en-US" sz="1000" dirty="0">
                <a:latin typeface="ＭＳ Ｐゴシック" panose="020B0600070205080204" pitchFamily="50" charset="-128"/>
                <a:ea typeface="ＭＳ Ｐゴシック" panose="020B0600070205080204" pitchFamily="50" charset="-128"/>
              </a:rPr>
              <a:t>観察項目実施</a:t>
            </a:r>
            <a:endParaRPr lang="ja-JP" altLang="en-US" sz="1000" dirty="0">
              <a:latin typeface="ＭＳ Ｐゴシック" panose="020B0600070205080204" pitchFamily="50" charset="-128"/>
              <a:ea typeface="ＭＳ Ｐゴシック" panose="020B0600070205080204" pitchFamily="50" charset="-128"/>
            </a:endParaRPr>
          </a:p>
        </p:txBody>
      </p:sp>
      <p:sp>
        <p:nvSpPr>
          <p:cNvPr id="317" name="テキスト ボックス 316">
            <a:extLst>
              <a:ext uri="{FF2B5EF4-FFF2-40B4-BE49-F238E27FC236}">
                <a16:creationId xmlns:a16="http://schemas.microsoft.com/office/drawing/2014/main" id="{1ABFFA9A-7797-5CDC-0A79-728F3DC302E7}"/>
              </a:ext>
            </a:extLst>
          </p:cNvPr>
          <p:cNvSpPr txBox="1"/>
          <p:nvPr/>
        </p:nvSpPr>
        <p:spPr>
          <a:xfrm>
            <a:off x="9388594" y="4487123"/>
            <a:ext cx="1007006" cy="646331"/>
          </a:xfrm>
          <a:prstGeom prst="rect">
            <a:avLst/>
          </a:prstGeom>
          <a:noFill/>
        </p:spPr>
        <p:txBody>
          <a:bodyPr wrap="square" rtlCol="0">
            <a:spAutoFit/>
          </a:bodyPr>
          <a:lstStyle/>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評価状況</a:t>
            </a: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評価者</a:t>
            </a: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観察結果</a:t>
            </a:r>
            <a:endParaRPr lang="en-US" altLang="zh-TW"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修正情報</a:t>
            </a:r>
          </a:p>
        </p:txBody>
      </p:sp>
      <p:cxnSp>
        <p:nvCxnSpPr>
          <p:cNvPr id="318" name="直線コネクタ 317">
            <a:extLst>
              <a:ext uri="{FF2B5EF4-FFF2-40B4-BE49-F238E27FC236}">
                <a16:creationId xmlns:a16="http://schemas.microsoft.com/office/drawing/2014/main" id="{F863E211-6BD6-8419-DBF8-9727A53426A1}"/>
              </a:ext>
            </a:extLst>
          </p:cNvPr>
          <p:cNvCxnSpPr>
            <a:cxnSpLocks/>
          </p:cNvCxnSpPr>
          <p:nvPr/>
        </p:nvCxnSpPr>
        <p:spPr>
          <a:xfrm>
            <a:off x="9371784" y="2295295"/>
            <a:ext cx="11674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9" name="正方形/長方形 318">
            <a:extLst>
              <a:ext uri="{FF2B5EF4-FFF2-40B4-BE49-F238E27FC236}">
                <a16:creationId xmlns:a16="http://schemas.microsoft.com/office/drawing/2014/main" id="{4145B097-1EBB-B18B-35D4-B8D10679705E}"/>
              </a:ext>
            </a:extLst>
          </p:cNvPr>
          <p:cNvSpPr/>
          <p:nvPr/>
        </p:nvSpPr>
        <p:spPr>
          <a:xfrm>
            <a:off x="9388594" y="2096832"/>
            <a:ext cx="1150658" cy="246221"/>
          </a:xfrm>
          <a:prstGeom prst="rect">
            <a:avLst/>
          </a:prstGeom>
        </p:spPr>
        <p:txBody>
          <a:bodyPr wrap="square">
            <a:spAutoFit/>
          </a:bodyPr>
          <a:lstStyle/>
          <a:p>
            <a:pPr algn="ctr"/>
            <a:r>
              <a:rPr lang="ja-JP" altLang="en-US" sz="1000" dirty="0">
                <a:latin typeface="ＭＳ Ｐゴシック" panose="020B0600070205080204" pitchFamily="50" charset="-128"/>
                <a:ea typeface="ＭＳ Ｐゴシック" panose="020B0600070205080204" pitchFamily="50" charset="-128"/>
              </a:rPr>
              <a:t>評価</a:t>
            </a:r>
          </a:p>
        </p:txBody>
      </p:sp>
      <p:sp>
        <p:nvSpPr>
          <p:cNvPr id="320" name="テキスト ボックス 319">
            <a:extLst>
              <a:ext uri="{FF2B5EF4-FFF2-40B4-BE49-F238E27FC236}">
                <a16:creationId xmlns:a16="http://schemas.microsoft.com/office/drawing/2014/main" id="{9B5658AA-8167-DD28-DF8E-8D7CCC27D005}"/>
              </a:ext>
            </a:extLst>
          </p:cNvPr>
          <p:cNvSpPr txBox="1"/>
          <p:nvPr/>
        </p:nvSpPr>
        <p:spPr>
          <a:xfrm>
            <a:off x="9334009" y="2266672"/>
            <a:ext cx="1092083" cy="784830"/>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評価状況 </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バリアンス記録</a:t>
            </a:r>
            <a:r>
              <a:rPr lang="en-US" altLang="ja-JP" sz="900" dirty="0">
                <a:latin typeface="ＭＳ Ｐゴシック" panose="020B0600070205080204" pitchFamily="50" charset="-128"/>
                <a:ea typeface="ＭＳ Ｐゴシック" panose="020B0600070205080204" pitchFamily="50" charset="-128"/>
              </a:rPr>
              <a:t/>
            </a:r>
            <a:br>
              <a:rPr lang="en-US" altLang="ja-JP" sz="900" dirty="0">
                <a:latin typeface="ＭＳ Ｐゴシック" panose="020B0600070205080204" pitchFamily="50" charset="-128"/>
                <a:ea typeface="ＭＳ Ｐゴシック" panose="020B0600070205080204" pitchFamily="50" charset="-128"/>
              </a:rPr>
            </a:b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S</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O</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A</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P</a:t>
            </a:r>
            <a:r>
              <a:rPr lang="ja-JP" altLang="en-US" sz="900" dirty="0">
                <a:latin typeface="ＭＳ Ｐゴシック" panose="020B0600070205080204" pitchFamily="50" charset="-128"/>
                <a:ea typeface="ＭＳ Ｐゴシック" panose="020B0600070205080204" pitchFamily="50" charset="-128"/>
              </a:rPr>
              <a:t>）</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達成記録</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記録者</a:t>
            </a:r>
          </a:p>
        </p:txBody>
      </p:sp>
      <p:sp>
        <p:nvSpPr>
          <p:cNvPr id="321" name="ひし形 320">
            <a:extLst>
              <a:ext uri="{FF2B5EF4-FFF2-40B4-BE49-F238E27FC236}">
                <a16:creationId xmlns:a16="http://schemas.microsoft.com/office/drawing/2014/main" id="{0B764CF7-4A8F-7113-0B8F-D4D5B9EB1B90}"/>
              </a:ext>
            </a:extLst>
          </p:cNvPr>
          <p:cNvSpPr/>
          <p:nvPr/>
        </p:nvSpPr>
        <p:spPr>
          <a:xfrm rot="5420207">
            <a:off x="8955892" y="2312775"/>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2" name="ひし形 321">
            <a:extLst>
              <a:ext uri="{FF2B5EF4-FFF2-40B4-BE49-F238E27FC236}">
                <a16:creationId xmlns:a16="http://schemas.microsoft.com/office/drawing/2014/main" id="{5FB4821E-E018-F152-4499-2CB2A84C097C}"/>
              </a:ext>
            </a:extLst>
          </p:cNvPr>
          <p:cNvSpPr/>
          <p:nvPr/>
        </p:nvSpPr>
        <p:spPr>
          <a:xfrm>
            <a:off x="7978859" y="117274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3" name="テキスト ボックス 322">
            <a:extLst>
              <a:ext uri="{FF2B5EF4-FFF2-40B4-BE49-F238E27FC236}">
                <a16:creationId xmlns:a16="http://schemas.microsoft.com/office/drawing/2014/main" id="{C61BD7B8-BFE2-6FA1-8A4B-33AD10F69ED1}"/>
              </a:ext>
            </a:extLst>
          </p:cNvPr>
          <p:cNvSpPr txBox="1"/>
          <p:nvPr/>
        </p:nvSpPr>
        <p:spPr>
          <a:xfrm>
            <a:off x="8051178" y="1288865"/>
            <a:ext cx="343301"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4" name="ひし形 323">
            <a:extLst>
              <a:ext uri="{FF2B5EF4-FFF2-40B4-BE49-F238E27FC236}">
                <a16:creationId xmlns:a16="http://schemas.microsoft.com/office/drawing/2014/main" id="{A008671C-F0C6-C738-F08F-BCBD28C3E212}"/>
              </a:ext>
            </a:extLst>
          </p:cNvPr>
          <p:cNvSpPr/>
          <p:nvPr/>
        </p:nvSpPr>
        <p:spPr>
          <a:xfrm>
            <a:off x="7952146" y="482989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5" name="ひし形 324">
            <a:extLst>
              <a:ext uri="{FF2B5EF4-FFF2-40B4-BE49-F238E27FC236}">
                <a16:creationId xmlns:a16="http://schemas.microsoft.com/office/drawing/2014/main" id="{C72198B6-8986-3897-0D8A-CFACF6E473BD}"/>
              </a:ext>
            </a:extLst>
          </p:cNvPr>
          <p:cNvSpPr/>
          <p:nvPr/>
        </p:nvSpPr>
        <p:spPr>
          <a:xfrm rot="5314154">
            <a:off x="8990553" y="4509138"/>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6" name="ひし形 325">
            <a:extLst>
              <a:ext uri="{FF2B5EF4-FFF2-40B4-BE49-F238E27FC236}">
                <a16:creationId xmlns:a16="http://schemas.microsoft.com/office/drawing/2014/main" id="{23F9EF5D-6C63-FCFF-254B-BD25239CEA0F}"/>
              </a:ext>
            </a:extLst>
          </p:cNvPr>
          <p:cNvSpPr/>
          <p:nvPr/>
        </p:nvSpPr>
        <p:spPr>
          <a:xfrm rot="21591126">
            <a:off x="7934535" y="3129006"/>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27" name="テキスト ボックス 326">
            <a:extLst>
              <a:ext uri="{FF2B5EF4-FFF2-40B4-BE49-F238E27FC236}">
                <a16:creationId xmlns:a16="http://schemas.microsoft.com/office/drawing/2014/main" id="{904BCADE-A013-80C7-61C8-B6C5A85B7C2D}"/>
              </a:ext>
            </a:extLst>
          </p:cNvPr>
          <p:cNvSpPr txBox="1"/>
          <p:nvPr/>
        </p:nvSpPr>
        <p:spPr>
          <a:xfrm>
            <a:off x="9116173" y="439526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8" name="テキスト ボックス 327">
            <a:extLst>
              <a:ext uri="{FF2B5EF4-FFF2-40B4-BE49-F238E27FC236}">
                <a16:creationId xmlns:a16="http://schemas.microsoft.com/office/drawing/2014/main" id="{477AA4C1-35B2-E71C-C291-5F9F7E39CE1B}"/>
              </a:ext>
            </a:extLst>
          </p:cNvPr>
          <p:cNvSpPr txBox="1"/>
          <p:nvPr/>
        </p:nvSpPr>
        <p:spPr>
          <a:xfrm>
            <a:off x="9078433" y="2193471"/>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29" name="ひし形 328">
            <a:extLst>
              <a:ext uri="{FF2B5EF4-FFF2-40B4-BE49-F238E27FC236}">
                <a16:creationId xmlns:a16="http://schemas.microsoft.com/office/drawing/2014/main" id="{091F5069-78E6-3E97-2279-4CE90D516A8B}"/>
              </a:ext>
            </a:extLst>
          </p:cNvPr>
          <p:cNvSpPr/>
          <p:nvPr/>
        </p:nvSpPr>
        <p:spPr>
          <a:xfrm rot="16082748">
            <a:off x="5428676" y="627165"/>
            <a:ext cx="153569" cy="211328"/>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0" name="テキスト ボックス 329">
            <a:extLst>
              <a:ext uri="{FF2B5EF4-FFF2-40B4-BE49-F238E27FC236}">
                <a16:creationId xmlns:a16="http://schemas.microsoft.com/office/drawing/2014/main" id="{6328FC8F-5FC6-CD25-B9F2-9D94491B02C5}"/>
              </a:ext>
            </a:extLst>
          </p:cNvPr>
          <p:cNvSpPr txBox="1"/>
          <p:nvPr/>
        </p:nvSpPr>
        <p:spPr>
          <a:xfrm>
            <a:off x="6722121" y="67988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31" name="直線コネクタ 330">
            <a:extLst>
              <a:ext uri="{FF2B5EF4-FFF2-40B4-BE49-F238E27FC236}">
                <a16:creationId xmlns:a16="http://schemas.microsoft.com/office/drawing/2014/main" id="{384CB4F1-8522-67AC-D384-EAA8147A3041}"/>
              </a:ext>
            </a:extLst>
          </p:cNvPr>
          <p:cNvCxnSpPr>
            <a:cxnSpLocks/>
            <a:stCxn id="332" idx="0"/>
          </p:cNvCxnSpPr>
          <p:nvPr/>
        </p:nvCxnSpPr>
        <p:spPr>
          <a:xfrm flipH="1">
            <a:off x="6434053" y="4445244"/>
            <a:ext cx="508475" cy="280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2" name="ひし形 331">
            <a:extLst>
              <a:ext uri="{FF2B5EF4-FFF2-40B4-BE49-F238E27FC236}">
                <a16:creationId xmlns:a16="http://schemas.microsoft.com/office/drawing/2014/main" id="{BA450FFC-866D-1CC3-F4C3-0B6DE481F28C}"/>
              </a:ext>
            </a:extLst>
          </p:cNvPr>
          <p:cNvSpPr/>
          <p:nvPr/>
        </p:nvSpPr>
        <p:spPr>
          <a:xfrm rot="16065606">
            <a:off x="6963482" y="4346572"/>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33" name="テキスト ボックス 332">
            <a:extLst>
              <a:ext uri="{FF2B5EF4-FFF2-40B4-BE49-F238E27FC236}">
                <a16:creationId xmlns:a16="http://schemas.microsoft.com/office/drawing/2014/main" id="{7BC048CA-4AC5-D860-C1B0-702098E469F7}"/>
              </a:ext>
            </a:extLst>
          </p:cNvPr>
          <p:cNvSpPr txBox="1"/>
          <p:nvPr/>
        </p:nvSpPr>
        <p:spPr>
          <a:xfrm>
            <a:off x="6573026" y="444141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334" name="テキスト ボックス 333">
            <a:extLst>
              <a:ext uri="{FF2B5EF4-FFF2-40B4-BE49-F238E27FC236}">
                <a16:creationId xmlns:a16="http://schemas.microsoft.com/office/drawing/2014/main" id="{9FA13448-944B-8CB6-BBB1-BF131D9D1B4E}"/>
              </a:ext>
            </a:extLst>
          </p:cNvPr>
          <p:cNvSpPr txBox="1"/>
          <p:nvPr/>
        </p:nvSpPr>
        <p:spPr>
          <a:xfrm>
            <a:off x="2347648" y="550339"/>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335" name="正方形/長方形 334">
            <a:extLst>
              <a:ext uri="{FF2B5EF4-FFF2-40B4-BE49-F238E27FC236}">
                <a16:creationId xmlns:a16="http://schemas.microsoft.com/office/drawing/2014/main" id="{F096E7F3-9BB8-F7FC-CDB5-374FB3E4B189}"/>
              </a:ext>
            </a:extLst>
          </p:cNvPr>
          <p:cNvSpPr/>
          <p:nvPr/>
        </p:nvSpPr>
        <p:spPr>
          <a:xfrm>
            <a:off x="5236772" y="4238051"/>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36" name="直線コネクタ 335">
            <a:extLst>
              <a:ext uri="{FF2B5EF4-FFF2-40B4-BE49-F238E27FC236}">
                <a16:creationId xmlns:a16="http://schemas.microsoft.com/office/drawing/2014/main" id="{68D12AD5-72F5-51D2-31A8-1D89BE634513}"/>
              </a:ext>
            </a:extLst>
          </p:cNvPr>
          <p:cNvCxnSpPr>
            <a:cxnSpLocks/>
          </p:cNvCxnSpPr>
          <p:nvPr/>
        </p:nvCxnSpPr>
        <p:spPr>
          <a:xfrm>
            <a:off x="5236772" y="4433418"/>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正方形/長方形 336">
            <a:extLst>
              <a:ext uri="{FF2B5EF4-FFF2-40B4-BE49-F238E27FC236}">
                <a16:creationId xmlns:a16="http://schemas.microsoft.com/office/drawing/2014/main" id="{32855AE7-1A70-2B22-1B5F-3BBE84CD4E61}"/>
              </a:ext>
            </a:extLst>
          </p:cNvPr>
          <p:cNvSpPr/>
          <p:nvPr/>
        </p:nvSpPr>
        <p:spPr>
          <a:xfrm>
            <a:off x="5179987" y="4210409"/>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338" name="テキスト ボックス 337">
            <a:extLst>
              <a:ext uri="{FF2B5EF4-FFF2-40B4-BE49-F238E27FC236}">
                <a16:creationId xmlns:a16="http://schemas.microsoft.com/office/drawing/2014/main" id="{D5DE617C-CAFC-2C93-E1DE-D8402D2CCB8A}"/>
              </a:ext>
            </a:extLst>
          </p:cNvPr>
          <p:cNvSpPr txBox="1"/>
          <p:nvPr/>
        </p:nvSpPr>
        <p:spPr>
          <a:xfrm>
            <a:off x="5258533" y="4407451"/>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227" name="テキスト ボックス 226">
            <a:extLst>
              <a:ext uri="{FF2B5EF4-FFF2-40B4-BE49-F238E27FC236}">
                <a16:creationId xmlns:a16="http://schemas.microsoft.com/office/drawing/2014/main" id="{D0C33F22-47BD-CDF0-076F-E85E49902669}"/>
              </a:ext>
            </a:extLst>
          </p:cNvPr>
          <p:cNvSpPr txBox="1"/>
          <p:nvPr/>
        </p:nvSpPr>
        <p:spPr>
          <a:xfrm>
            <a:off x="2464064" y="384658"/>
            <a:ext cx="936475" cy="230832"/>
          </a:xfrm>
          <a:prstGeom prst="rect">
            <a:avLst/>
          </a:prstGeom>
          <a:noFill/>
        </p:spPr>
        <p:txBody>
          <a:bodyPr wrap="none" rtlCol="0">
            <a:spAutoFit/>
          </a:bodyPr>
          <a:lstStyle/>
          <a:p>
            <a:r>
              <a:rPr lang="en-US" altLang="ja-JP" sz="900" dirty="0">
                <a:latin typeface="ＭＳ Ｐゴシック" panose="020B0600070205080204" pitchFamily="50" charset="-128"/>
                <a:ea typeface="ＭＳ Ｐゴシック" panose="020B0600070205080204" pitchFamily="50" charset="-128"/>
              </a:rPr>
              <a:t>ePath </a:t>
            </a:r>
            <a:r>
              <a:rPr lang="ja-JP" altLang="en-US" sz="800" dirty="0">
                <a:latin typeface="ＭＳ Ｐゴシック" panose="020B0600070205080204" pitchFamily="50" charset="-128"/>
                <a:ea typeface="ＭＳ Ｐゴシック" panose="020B0600070205080204" pitchFamily="50" charset="-128"/>
              </a:rPr>
              <a:t>メッセージ</a:t>
            </a:r>
            <a:endParaRPr lang="ja-JP" altLang="en-US" sz="900" dirty="0">
              <a:latin typeface="ＭＳ Ｐゴシック" panose="020B0600070205080204" pitchFamily="50" charset="-128"/>
              <a:ea typeface="ＭＳ Ｐゴシック" panose="020B0600070205080204" pitchFamily="50" charset="-128"/>
            </a:endParaRPr>
          </a:p>
        </p:txBody>
      </p:sp>
      <p:sp>
        <p:nvSpPr>
          <p:cNvPr id="416" name="正方形/長方形 415">
            <a:extLst>
              <a:ext uri="{FF2B5EF4-FFF2-40B4-BE49-F238E27FC236}">
                <a16:creationId xmlns:a16="http://schemas.microsoft.com/office/drawing/2014/main" id="{0E1C2963-349B-9D75-AEE9-6975D16557F7}"/>
              </a:ext>
            </a:extLst>
          </p:cNvPr>
          <p:cNvSpPr/>
          <p:nvPr/>
        </p:nvSpPr>
        <p:spPr>
          <a:xfrm>
            <a:off x="10891240" y="4994140"/>
            <a:ext cx="1087142" cy="8015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417" name="直線コネクタ 416">
            <a:extLst>
              <a:ext uri="{FF2B5EF4-FFF2-40B4-BE49-F238E27FC236}">
                <a16:creationId xmlns:a16="http://schemas.microsoft.com/office/drawing/2014/main" id="{00FD9F80-2B1E-0F97-D9CF-7DE2818EB6A1}"/>
              </a:ext>
            </a:extLst>
          </p:cNvPr>
          <p:cNvCxnSpPr>
            <a:cxnSpLocks/>
          </p:cNvCxnSpPr>
          <p:nvPr/>
        </p:nvCxnSpPr>
        <p:spPr>
          <a:xfrm>
            <a:off x="10884558" y="5165326"/>
            <a:ext cx="10938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8" name="正方形/長方形 417">
            <a:extLst>
              <a:ext uri="{FF2B5EF4-FFF2-40B4-BE49-F238E27FC236}">
                <a16:creationId xmlns:a16="http://schemas.microsoft.com/office/drawing/2014/main" id="{C5389C9B-33DB-2108-5BE1-66C71D628A1D}"/>
              </a:ext>
            </a:extLst>
          </p:cNvPr>
          <p:cNvSpPr/>
          <p:nvPr/>
        </p:nvSpPr>
        <p:spPr>
          <a:xfrm>
            <a:off x="10973383" y="4952191"/>
            <a:ext cx="816424"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修正情報</a:t>
            </a:r>
          </a:p>
        </p:txBody>
      </p:sp>
      <p:sp>
        <p:nvSpPr>
          <p:cNvPr id="419" name="テキスト ボックス 418">
            <a:extLst>
              <a:ext uri="{FF2B5EF4-FFF2-40B4-BE49-F238E27FC236}">
                <a16:creationId xmlns:a16="http://schemas.microsoft.com/office/drawing/2014/main" id="{07BF2F78-6160-EBA3-8519-81DB34A413AE}"/>
              </a:ext>
            </a:extLst>
          </p:cNvPr>
          <p:cNvSpPr txBox="1"/>
          <p:nvPr/>
        </p:nvSpPr>
        <p:spPr>
          <a:xfrm>
            <a:off x="10859430" y="5133454"/>
            <a:ext cx="1007006" cy="646331"/>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修正者</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修正事由</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修正前値</a:t>
            </a:r>
          </a:p>
        </p:txBody>
      </p:sp>
      <p:sp>
        <p:nvSpPr>
          <p:cNvPr id="420" name="テキスト ボックス 419">
            <a:extLst>
              <a:ext uri="{FF2B5EF4-FFF2-40B4-BE49-F238E27FC236}">
                <a16:creationId xmlns:a16="http://schemas.microsoft.com/office/drawing/2014/main" id="{A64D9ED9-2F74-086F-75A3-31E2737D159A}"/>
              </a:ext>
            </a:extLst>
          </p:cNvPr>
          <p:cNvSpPr txBox="1"/>
          <p:nvPr/>
        </p:nvSpPr>
        <p:spPr>
          <a:xfrm>
            <a:off x="10839297" y="475820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421" name="直線コネクタ 420">
            <a:extLst>
              <a:ext uri="{FF2B5EF4-FFF2-40B4-BE49-F238E27FC236}">
                <a16:creationId xmlns:a16="http://schemas.microsoft.com/office/drawing/2014/main" id="{02AECC79-AA8F-BA92-EED1-6F8C72BB6A0B}"/>
              </a:ext>
            </a:extLst>
          </p:cNvPr>
          <p:cNvCxnSpPr>
            <a:cxnSpLocks/>
            <a:endCxn id="422" idx="2"/>
          </p:cNvCxnSpPr>
          <p:nvPr/>
        </p:nvCxnSpPr>
        <p:spPr>
          <a:xfrm flipH="1" flipV="1">
            <a:off x="10812572" y="4897863"/>
            <a:ext cx="136395" cy="106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2" name="ひし形 421">
            <a:extLst>
              <a:ext uri="{FF2B5EF4-FFF2-40B4-BE49-F238E27FC236}">
                <a16:creationId xmlns:a16="http://schemas.microsoft.com/office/drawing/2014/main" id="{DBB231C0-BC89-3707-9005-713989C651A5}"/>
              </a:ext>
            </a:extLst>
          </p:cNvPr>
          <p:cNvSpPr/>
          <p:nvPr/>
        </p:nvSpPr>
        <p:spPr>
          <a:xfrm rot="17460609">
            <a:off x="10665316" y="4768259"/>
            <a:ext cx="116397" cy="19080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26" name="正方形/長方形 425">
            <a:extLst>
              <a:ext uri="{FF2B5EF4-FFF2-40B4-BE49-F238E27FC236}">
                <a16:creationId xmlns:a16="http://schemas.microsoft.com/office/drawing/2014/main" id="{B50FBC36-AFB5-76AB-0677-1951E0D14E94}"/>
              </a:ext>
            </a:extLst>
          </p:cNvPr>
          <p:cNvSpPr/>
          <p:nvPr/>
        </p:nvSpPr>
        <p:spPr>
          <a:xfrm>
            <a:off x="10885923" y="3520808"/>
            <a:ext cx="1080218" cy="8015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427" name="直線コネクタ 426">
            <a:extLst>
              <a:ext uri="{FF2B5EF4-FFF2-40B4-BE49-F238E27FC236}">
                <a16:creationId xmlns:a16="http://schemas.microsoft.com/office/drawing/2014/main" id="{0D9B0433-F2E7-9744-D5C4-BAC08E3FA8FC}"/>
              </a:ext>
            </a:extLst>
          </p:cNvPr>
          <p:cNvCxnSpPr>
            <a:cxnSpLocks/>
          </p:cNvCxnSpPr>
          <p:nvPr/>
        </p:nvCxnSpPr>
        <p:spPr>
          <a:xfrm>
            <a:off x="10879241" y="3691994"/>
            <a:ext cx="1086900" cy="23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8" name="正方形/長方形 427">
            <a:extLst>
              <a:ext uri="{FF2B5EF4-FFF2-40B4-BE49-F238E27FC236}">
                <a16:creationId xmlns:a16="http://schemas.microsoft.com/office/drawing/2014/main" id="{A990AB02-BDE3-B133-2C7B-8BCE29F343A1}"/>
              </a:ext>
            </a:extLst>
          </p:cNvPr>
          <p:cNvSpPr/>
          <p:nvPr/>
        </p:nvSpPr>
        <p:spPr>
          <a:xfrm>
            <a:off x="10968066" y="3478859"/>
            <a:ext cx="816424"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修正情報</a:t>
            </a:r>
          </a:p>
        </p:txBody>
      </p:sp>
      <p:sp>
        <p:nvSpPr>
          <p:cNvPr id="429" name="テキスト ボックス 428">
            <a:extLst>
              <a:ext uri="{FF2B5EF4-FFF2-40B4-BE49-F238E27FC236}">
                <a16:creationId xmlns:a16="http://schemas.microsoft.com/office/drawing/2014/main" id="{D95A2241-1EA5-4525-BE3D-7B8E63B87140}"/>
              </a:ext>
            </a:extLst>
          </p:cNvPr>
          <p:cNvSpPr txBox="1"/>
          <p:nvPr/>
        </p:nvSpPr>
        <p:spPr>
          <a:xfrm>
            <a:off x="10854113" y="3660122"/>
            <a:ext cx="1007006" cy="646331"/>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修正者</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修正事由</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修正前値</a:t>
            </a:r>
          </a:p>
        </p:txBody>
      </p:sp>
      <p:sp>
        <p:nvSpPr>
          <p:cNvPr id="430" name="テキスト ボックス 429">
            <a:extLst>
              <a:ext uri="{FF2B5EF4-FFF2-40B4-BE49-F238E27FC236}">
                <a16:creationId xmlns:a16="http://schemas.microsoft.com/office/drawing/2014/main" id="{F3A64A62-7267-834D-6273-F981959DB4C5}"/>
              </a:ext>
            </a:extLst>
          </p:cNvPr>
          <p:cNvSpPr txBox="1"/>
          <p:nvPr/>
        </p:nvSpPr>
        <p:spPr>
          <a:xfrm>
            <a:off x="11060445" y="327995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432" name="ひし形 431">
            <a:extLst>
              <a:ext uri="{FF2B5EF4-FFF2-40B4-BE49-F238E27FC236}">
                <a16:creationId xmlns:a16="http://schemas.microsoft.com/office/drawing/2014/main" id="{5B24FF76-2195-39E4-7908-15E4953B5CEB}"/>
              </a:ext>
            </a:extLst>
          </p:cNvPr>
          <p:cNvSpPr/>
          <p:nvPr/>
        </p:nvSpPr>
        <p:spPr>
          <a:xfrm rot="21522792">
            <a:off x="11340231" y="3163940"/>
            <a:ext cx="116942" cy="166531"/>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33" name="正方形/長方形 432">
            <a:extLst>
              <a:ext uri="{FF2B5EF4-FFF2-40B4-BE49-F238E27FC236}">
                <a16:creationId xmlns:a16="http://schemas.microsoft.com/office/drawing/2014/main" id="{0AA782A0-B93A-07E4-546B-9DAAB0CA9907}"/>
              </a:ext>
            </a:extLst>
          </p:cNvPr>
          <p:cNvSpPr/>
          <p:nvPr/>
        </p:nvSpPr>
        <p:spPr>
          <a:xfrm>
            <a:off x="10885923" y="2190428"/>
            <a:ext cx="1080218" cy="9506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434" name="直線コネクタ 433">
            <a:extLst>
              <a:ext uri="{FF2B5EF4-FFF2-40B4-BE49-F238E27FC236}">
                <a16:creationId xmlns:a16="http://schemas.microsoft.com/office/drawing/2014/main" id="{46B8A6D2-762D-DDE3-9216-1417D086B93B}"/>
              </a:ext>
            </a:extLst>
          </p:cNvPr>
          <p:cNvCxnSpPr>
            <a:cxnSpLocks/>
          </p:cNvCxnSpPr>
          <p:nvPr/>
        </p:nvCxnSpPr>
        <p:spPr>
          <a:xfrm>
            <a:off x="10879241" y="2345711"/>
            <a:ext cx="1086900" cy="70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5" name="正方形/長方形 434">
            <a:extLst>
              <a:ext uri="{FF2B5EF4-FFF2-40B4-BE49-F238E27FC236}">
                <a16:creationId xmlns:a16="http://schemas.microsoft.com/office/drawing/2014/main" id="{7F975E6E-F35C-B69F-4757-859A0E4A0A3C}"/>
              </a:ext>
            </a:extLst>
          </p:cNvPr>
          <p:cNvSpPr/>
          <p:nvPr/>
        </p:nvSpPr>
        <p:spPr>
          <a:xfrm>
            <a:off x="10882860" y="2148479"/>
            <a:ext cx="1156235"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達成記録</a:t>
            </a:r>
          </a:p>
        </p:txBody>
      </p:sp>
      <p:sp>
        <p:nvSpPr>
          <p:cNvPr id="436" name="テキスト ボックス 435">
            <a:extLst>
              <a:ext uri="{FF2B5EF4-FFF2-40B4-BE49-F238E27FC236}">
                <a16:creationId xmlns:a16="http://schemas.microsoft.com/office/drawing/2014/main" id="{25E5FC01-0137-05AF-2C81-AA3133D0014A}"/>
              </a:ext>
            </a:extLst>
          </p:cNvPr>
          <p:cNvSpPr txBox="1"/>
          <p:nvPr/>
        </p:nvSpPr>
        <p:spPr>
          <a:xfrm>
            <a:off x="10870739" y="2323409"/>
            <a:ext cx="1156234" cy="784830"/>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記録項目名</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記録項目表示名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項目値</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項目値名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修正情報</a:t>
            </a:r>
          </a:p>
        </p:txBody>
      </p:sp>
      <p:sp>
        <p:nvSpPr>
          <p:cNvPr id="437" name="テキスト ボックス 436">
            <a:extLst>
              <a:ext uri="{FF2B5EF4-FFF2-40B4-BE49-F238E27FC236}">
                <a16:creationId xmlns:a16="http://schemas.microsoft.com/office/drawing/2014/main" id="{2D4CB47C-8E14-B5A0-26CC-613C0F827EFB}"/>
              </a:ext>
            </a:extLst>
          </p:cNvPr>
          <p:cNvSpPr txBox="1"/>
          <p:nvPr/>
        </p:nvSpPr>
        <p:spPr>
          <a:xfrm>
            <a:off x="10577496" y="2553405"/>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439" name="直線コネクタ 438">
            <a:extLst>
              <a:ext uri="{FF2B5EF4-FFF2-40B4-BE49-F238E27FC236}">
                <a16:creationId xmlns:a16="http://schemas.microsoft.com/office/drawing/2014/main" id="{A7E4B8AE-60F0-ED0D-6861-D40C9248AF3D}"/>
              </a:ext>
            </a:extLst>
          </p:cNvPr>
          <p:cNvCxnSpPr>
            <a:cxnSpLocks/>
            <a:endCxn id="440" idx="2"/>
          </p:cNvCxnSpPr>
          <p:nvPr/>
        </p:nvCxnSpPr>
        <p:spPr>
          <a:xfrm flipH="1" flipV="1">
            <a:off x="10716765" y="2581353"/>
            <a:ext cx="169158" cy="24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0" name="ひし形 439">
            <a:extLst>
              <a:ext uri="{FF2B5EF4-FFF2-40B4-BE49-F238E27FC236}">
                <a16:creationId xmlns:a16="http://schemas.microsoft.com/office/drawing/2014/main" id="{A1754BE3-6F34-ECD8-518C-5B3E6E6CA548}"/>
              </a:ext>
            </a:extLst>
          </p:cNvPr>
          <p:cNvSpPr/>
          <p:nvPr/>
        </p:nvSpPr>
        <p:spPr>
          <a:xfrm rot="15912170">
            <a:off x="10563501" y="2493932"/>
            <a:ext cx="116397" cy="19080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896AD8AE-32E5-C37F-1949-E92E7AE99B82}"/>
              </a:ext>
            </a:extLst>
          </p:cNvPr>
          <p:cNvSpPr/>
          <p:nvPr/>
        </p:nvSpPr>
        <p:spPr>
          <a:xfrm>
            <a:off x="5701588" y="1932091"/>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7D84DEC0-E79B-7F2A-35FD-5CE91959A999}"/>
              </a:ext>
            </a:extLst>
          </p:cNvPr>
          <p:cNvSpPr txBox="1"/>
          <p:nvPr/>
        </p:nvSpPr>
        <p:spPr>
          <a:xfrm>
            <a:off x="5702176" y="1904942"/>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5" name="直線コネクタ 4">
            <a:extLst>
              <a:ext uri="{FF2B5EF4-FFF2-40B4-BE49-F238E27FC236}">
                <a16:creationId xmlns:a16="http://schemas.microsoft.com/office/drawing/2014/main" id="{61986468-24C9-A7A3-A067-2E9246CCB14F}"/>
              </a:ext>
            </a:extLst>
          </p:cNvPr>
          <p:cNvCxnSpPr>
            <a:cxnSpLocks/>
          </p:cNvCxnSpPr>
          <p:nvPr/>
        </p:nvCxnSpPr>
        <p:spPr>
          <a:xfrm flipV="1">
            <a:off x="5707963" y="2115758"/>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1C5245E-5A95-F145-B86A-41BF7CD12932}"/>
              </a:ext>
            </a:extLst>
          </p:cNvPr>
          <p:cNvSpPr txBox="1"/>
          <p:nvPr/>
        </p:nvSpPr>
        <p:spPr>
          <a:xfrm>
            <a:off x="5672668" y="2115758"/>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26" name="ひし形 25">
            <a:extLst>
              <a:ext uri="{FF2B5EF4-FFF2-40B4-BE49-F238E27FC236}">
                <a16:creationId xmlns:a16="http://schemas.microsoft.com/office/drawing/2014/main" id="{EA290B71-EACF-8791-352C-99BDADD54AE6}"/>
              </a:ext>
            </a:extLst>
          </p:cNvPr>
          <p:cNvSpPr/>
          <p:nvPr/>
        </p:nvSpPr>
        <p:spPr>
          <a:xfrm rot="7503262">
            <a:off x="5421228" y="164080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8" name="直線コネクタ 27">
            <a:extLst>
              <a:ext uri="{FF2B5EF4-FFF2-40B4-BE49-F238E27FC236}">
                <a16:creationId xmlns:a16="http://schemas.microsoft.com/office/drawing/2014/main" id="{047CE3FE-6B49-B0CF-AD49-EFC1130786F9}"/>
              </a:ext>
            </a:extLst>
          </p:cNvPr>
          <p:cNvCxnSpPr>
            <a:cxnSpLocks/>
            <a:stCxn id="4" idx="1"/>
            <a:endCxn id="26" idx="0"/>
          </p:cNvCxnSpPr>
          <p:nvPr/>
        </p:nvCxnSpPr>
        <p:spPr>
          <a:xfrm flipH="1" flipV="1">
            <a:off x="5561127" y="1790303"/>
            <a:ext cx="141049" cy="237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CE772C74-284C-E523-9945-05E32B0B588E}"/>
              </a:ext>
            </a:extLst>
          </p:cNvPr>
          <p:cNvSpPr txBox="1"/>
          <p:nvPr/>
        </p:nvSpPr>
        <p:spPr>
          <a:xfrm>
            <a:off x="5397684" y="19112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340" name="テキスト ボックス 339">
            <a:extLst>
              <a:ext uri="{FF2B5EF4-FFF2-40B4-BE49-F238E27FC236}">
                <a16:creationId xmlns:a16="http://schemas.microsoft.com/office/drawing/2014/main" id="{EAF4281A-F732-71BE-D263-6DB9DCDDEA2C}"/>
              </a:ext>
            </a:extLst>
          </p:cNvPr>
          <p:cNvSpPr txBox="1"/>
          <p:nvPr/>
        </p:nvSpPr>
        <p:spPr>
          <a:xfrm>
            <a:off x="7544084" y="314048"/>
            <a:ext cx="928147" cy="253916"/>
          </a:xfrm>
          <a:prstGeom prst="rect">
            <a:avLst/>
          </a:prstGeom>
          <a:noFill/>
        </p:spPr>
        <p:txBody>
          <a:bodyPr wrap="square" rtlCol="0">
            <a:spAutoFit/>
          </a:bodyPr>
          <a:lstStyle/>
          <a:p>
            <a:r>
              <a:rPr lang="en-US" altLang="ja-JP" sz="1050" b="1" dirty="0"/>
              <a:t>OAT</a:t>
            </a:r>
            <a:r>
              <a:rPr lang="ja-JP" altLang="en-US" sz="1050" b="1" dirty="0"/>
              <a:t> </a:t>
            </a:r>
            <a:r>
              <a:rPr lang="en-US" altLang="ja-JP" sz="1050" b="1" dirty="0"/>
              <a:t>Unit</a:t>
            </a:r>
          </a:p>
        </p:txBody>
      </p:sp>
    </p:spTree>
    <p:extLst>
      <p:ext uri="{BB962C8B-B14F-4D97-AF65-F5344CB8AC3E}">
        <p14:creationId xmlns:p14="http://schemas.microsoft.com/office/powerpoint/2010/main" val="367851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0DDBE4D-EB3F-8328-E2BA-9E15FD4A6168}"/>
              </a:ext>
            </a:extLst>
          </p:cNvPr>
          <p:cNvSpPr>
            <a:spLocks noGrp="1"/>
          </p:cNvSpPr>
          <p:nvPr>
            <p:ph idx="1"/>
          </p:nvPr>
        </p:nvSpPr>
        <p:spPr>
          <a:xfrm>
            <a:off x="617220" y="3947160"/>
            <a:ext cx="10515600" cy="660082"/>
          </a:xfrm>
        </p:spPr>
        <p:txBody>
          <a:bodyPr/>
          <a:lstStyle/>
          <a:p>
            <a:pPr marL="0" indent="0">
              <a:buNone/>
            </a:pPr>
            <a:r>
              <a:rPr kumimoji="1" lang="ja-JP" altLang="en-US" dirty="0"/>
              <a:t>以降のスライドは  </a:t>
            </a:r>
            <a:r>
              <a:rPr lang="ja-JP" altLang="en-US" dirty="0"/>
              <a:t>コピー元</a:t>
            </a:r>
            <a:r>
              <a:rPr kumimoji="1" lang="ja-JP" altLang="en-US" dirty="0"/>
              <a:t>素材</a:t>
            </a:r>
          </a:p>
        </p:txBody>
      </p:sp>
    </p:spTree>
    <p:extLst>
      <p:ext uri="{BB962C8B-B14F-4D97-AF65-F5344CB8AC3E}">
        <p14:creationId xmlns:p14="http://schemas.microsoft.com/office/powerpoint/2010/main" val="323198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56A720-A647-4EA8-A0EA-EE1D6E216952}"/>
            </a:ext>
          </a:extLst>
        </p:cNvPr>
        <p:cNvGrpSpPr/>
        <p:nvPr/>
      </p:nvGrpSpPr>
      <p:grpSpPr>
        <a:xfrm>
          <a:off x="0" y="0"/>
          <a:ext cx="0" cy="0"/>
          <a:chOff x="0" y="0"/>
          <a:chExt cx="0" cy="0"/>
        </a:xfrm>
      </p:grpSpPr>
      <p:cxnSp>
        <p:nvCxnSpPr>
          <p:cNvPr id="22" name="直線コネクタ 21">
            <a:extLst>
              <a:ext uri="{FF2B5EF4-FFF2-40B4-BE49-F238E27FC236}">
                <a16:creationId xmlns:a16="http://schemas.microsoft.com/office/drawing/2014/main" id="{40ECFE95-A18E-402F-956C-C308F352DD58}"/>
              </a:ext>
            </a:extLst>
          </p:cNvPr>
          <p:cNvCxnSpPr>
            <a:cxnSpLocks/>
          </p:cNvCxnSpPr>
          <p:nvPr/>
        </p:nvCxnSpPr>
        <p:spPr>
          <a:xfrm flipH="1">
            <a:off x="3531467" y="5240694"/>
            <a:ext cx="0" cy="231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7DC7A60-EB50-4758-6C4D-20D2CDB44848}"/>
              </a:ext>
            </a:extLst>
          </p:cNvPr>
          <p:cNvCxnSpPr>
            <a:cxnSpLocks/>
          </p:cNvCxnSpPr>
          <p:nvPr/>
        </p:nvCxnSpPr>
        <p:spPr>
          <a:xfrm flipH="1">
            <a:off x="2147445" y="1400881"/>
            <a:ext cx="801187" cy="2312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50D20ED9-1B56-BF23-162C-0B46E307690E}"/>
              </a:ext>
            </a:extLst>
          </p:cNvPr>
          <p:cNvCxnSpPr>
            <a:cxnSpLocks/>
          </p:cNvCxnSpPr>
          <p:nvPr/>
        </p:nvCxnSpPr>
        <p:spPr>
          <a:xfrm flipH="1">
            <a:off x="3529918" y="2628415"/>
            <a:ext cx="0" cy="314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88DC9E1D-5E3D-C228-6D7E-EEB7D882FD81}"/>
              </a:ext>
            </a:extLst>
          </p:cNvPr>
          <p:cNvCxnSpPr>
            <a:cxnSpLocks/>
          </p:cNvCxnSpPr>
          <p:nvPr/>
        </p:nvCxnSpPr>
        <p:spPr>
          <a:xfrm flipV="1">
            <a:off x="2111330" y="963609"/>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a:extLst>
              <a:ext uri="{FF2B5EF4-FFF2-40B4-BE49-F238E27FC236}">
                <a16:creationId xmlns:a16="http://schemas.microsoft.com/office/drawing/2014/main" id="{B1367B23-AA80-8C12-3AAE-10763F81810E}"/>
              </a:ext>
            </a:extLst>
          </p:cNvPr>
          <p:cNvCxnSpPr>
            <a:cxnSpLocks/>
          </p:cNvCxnSpPr>
          <p:nvPr/>
        </p:nvCxnSpPr>
        <p:spPr>
          <a:xfrm>
            <a:off x="3533556" y="1807675"/>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a:extLst>
              <a:ext uri="{FF2B5EF4-FFF2-40B4-BE49-F238E27FC236}">
                <a16:creationId xmlns:a16="http://schemas.microsoft.com/office/drawing/2014/main" id="{9CBCC34A-CE10-F310-9F1A-D440832EFC71}"/>
              </a:ext>
            </a:extLst>
          </p:cNvPr>
          <p:cNvCxnSpPr>
            <a:cxnSpLocks/>
            <a:stCxn id="86" idx="2"/>
          </p:cNvCxnSpPr>
          <p:nvPr/>
        </p:nvCxnSpPr>
        <p:spPr>
          <a:xfrm flipV="1">
            <a:off x="4400499" y="2280429"/>
            <a:ext cx="205259" cy="7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6" name="正方形/長方形 225">
            <a:extLst>
              <a:ext uri="{FF2B5EF4-FFF2-40B4-BE49-F238E27FC236}">
                <a16:creationId xmlns:a16="http://schemas.microsoft.com/office/drawing/2014/main" id="{9D300DBF-101B-D679-73C5-80582BF50EAA}"/>
              </a:ext>
            </a:extLst>
          </p:cNvPr>
          <p:cNvSpPr/>
          <p:nvPr/>
        </p:nvSpPr>
        <p:spPr>
          <a:xfrm>
            <a:off x="2922180" y="1989067"/>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27" name="テキスト ボックス 226">
            <a:extLst>
              <a:ext uri="{FF2B5EF4-FFF2-40B4-BE49-F238E27FC236}">
                <a16:creationId xmlns:a16="http://schemas.microsoft.com/office/drawing/2014/main" id="{AFC24AC7-0780-540B-7E58-16E6C2063935}"/>
              </a:ext>
            </a:extLst>
          </p:cNvPr>
          <p:cNvSpPr txBox="1"/>
          <p:nvPr/>
        </p:nvSpPr>
        <p:spPr>
          <a:xfrm>
            <a:off x="2953675" y="1946640"/>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28" name="正方形/長方形 227">
            <a:extLst>
              <a:ext uri="{FF2B5EF4-FFF2-40B4-BE49-F238E27FC236}">
                <a16:creationId xmlns:a16="http://schemas.microsoft.com/office/drawing/2014/main" id="{FDC3092B-0E60-4BF4-CB6A-8E1E8A12092B}"/>
              </a:ext>
            </a:extLst>
          </p:cNvPr>
          <p:cNvSpPr/>
          <p:nvPr/>
        </p:nvSpPr>
        <p:spPr>
          <a:xfrm>
            <a:off x="2942362" y="692118"/>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29" name="直線コネクタ 228">
            <a:extLst>
              <a:ext uri="{FF2B5EF4-FFF2-40B4-BE49-F238E27FC236}">
                <a16:creationId xmlns:a16="http://schemas.microsoft.com/office/drawing/2014/main" id="{57AB157A-B0F4-AC10-1478-8F74A5C03959}"/>
              </a:ext>
            </a:extLst>
          </p:cNvPr>
          <p:cNvCxnSpPr>
            <a:cxnSpLocks/>
          </p:cNvCxnSpPr>
          <p:nvPr/>
        </p:nvCxnSpPr>
        <p:spPr>
          <a:xfrm>
            <a:off x="2953675" y="841332"/>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0" name="テキスト ボックス 229">
            <a:extLst>
              <a:ext uri="{FF2B5EF4-FFF2-40B4-BE49-F238E27FC236}">
                <a16:creationId xmlns:a16="http://schemas.microsoft.com/office/drawing/2014/main" id="{85AAFE68-F71E-821A-B5EC-34A0CA4A56F5}"/>
              </a:ext>
            </a:extLst>
          </p:cNvPr>
          <p:cNvSpPr txBox="1"/>
          <p:nvPr/>
        </p:nvSpPr>
        <p:spPr>
          <a:xfrm>
            <a:off x="3065456" y="626301"/>
            <a:ext cx="1024639" cy="246221"/>
          </a:xfrm>
          <a:prstGeom prst="rect">
            <a:avLst/>
          </a:prstGeom>
          <a:noFill/>
        </p:spPr>
        <p:txBody>
          <a:bodyPr wrap="none" rtlCol="0">
            <a:spAutoFit/>
          </a:bodyPr>
          <a:lstStyle/>
          <a:p>
            <a:r>
              <a:rPr lang="en-US" altLang="ja-JP" sz="1000" dirty="0" err="1">
                <a:latin typeface="ＭＳ Ｐゴシック" panose="020B0600070205080204" pitchFamily="50" charset="-128"/>
                <a:ea typeface="ＭＳ Ｐゴシック" panose="020B0600070205080204" pitchFamily="50" charset="-128"/>
              </a:rPr>
              <a:t>ePath</a:t>
            </a:r>
            <a:r>
              <a:rPr lang="en-US" altLang="ja-JP" sz="1000" dirty="0">
                <a:latin typeface="ＭＳ Ｐゴシック" panose="020B0600070205080204" pitchFamily="50" charset="-128"/>
                <a:ea typeface="ＭＳ Ｐゴシック" panose="020B0600070205080204" pitchFamily="50" charset="-128"/>
              </a:rPr>
              <a:t> </a:t>
            </a:r>
            <a:r>
              <a:rPr lang="ja-JP" altLang="en-US" sz="900" dirty="0">
                <a:latin typeface="ＭＳ Ｐゴシック" panose="020B0600070205080204" pitchFamily="50" charset="-128"/>
                <a:ea typeface="ＭＳ Ｐゴシック" panose="020B0600070205080204" pitchFamily="50" charset="-128"/>
              </a:rPr>
              <a:t>メッセージ</a:t>
            </a: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2" name="正方形/長方形 241">
            <a:extLst>
              <a:ext uri="{FF2B5EF4-FFF2-40B4-BE49-F238E27FC236}">
                <a16:creationId xmlns:a16="http://schemas.microsoft.com/office/drawing/2014/main" id="{9EFDE1C1-CF38-D89E-62DB-9671DFEE1F7D}"/>
              </a:ext>
            </a:extLst>
          </p:cNvPr>
          <p:cNvSpPr/>
          <p:nvPr/>
        </p:nvSpPr>
        <p:spPr>
          <a:xfrm>
            <a:off x="954944" y="3649709"/>
            <a:ext cx="1197883" cy="11340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3" name="直線コネクタ 242">
            <a:extLst>
              <a:ext uri="{FF2B5EF4-FFF2-40B4-BE49-F238E27FC236}">
                <a16:creationId xmlns:a16="http://schemas.microsoft.com/office/drawing/2014/main" id="{F615E60A-E0E9-1A4B-E49A-8D5F5729AA13}"/>
              </a:ext>
            </a:extLst>
          </p:cNvPr>
          <p:cNvCxnSpPr>
            <a:cxnSpLocks/>
          </p:cNvCxnSpPr>
          <p:nvPr/>
        </p:nvCxnSpPr>
        <p:spPr>
          <a:xfrm>
            <a:off x="944792" y="3834182"/>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テキスト ボックス 243">
            <a:extLst>
              <a:ext uri="{FF2B5EF4-FFF2-40B4-BE49-F238E27FC236}">
                <a16:creationId xmlns:a16="http://schemas.microsoft.com/office/drawing/2014/main" id="{4FE95C2A-83FF-0ED8-F186-8638761F1CCF}"/>
              </a:ext>
            </a:extLst>
          </p:cNvPr>
          <p:cNvSpPr txBox="1"/>
          <p:nvPr/>
        </p:nvSpPr>
        <p:spPr>
          <a:xfrm>
            <a:off x="989242" y="3622231"/>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D2319C15-818D-92B6-B8B4-F11E34281946}"/>
              </a:ext>
            </a:extLst>
          </p:cNvPr>
          <p:cNvSpPr txBox="1"/>
          <p:nvPr/>
        </p:nvSpPr>
        <p:spPr>
          <a:xfrm>
            <a:off x="900632" y="3805845"/>
            <a:ext cx="1215407"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退院日</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死亡有無</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endPar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endParaRPr>
          </a:p>
        </p:txBody>
      </p:sp>
      <p:sp>
        <p:nvSpPr>
          <p:cNvPr id="248" name="テキスト ボックス 247">
            <a:extLst>
              <a:ext uri="{FF2B5EF4-FFF2-40B4-BE49-F238E27FC236}">
                <a16:creationId xmlns:a16="http://schemas.microsoft.com/office/drawing/2014/main" id="{3BD2E263-A965-B86C-6826-56E4EFE0D6FC}"/>
              </a:ext>
            </a:extLst>
          </p:cNvPr>
          <p:cNvSpPr txBox="1"/>
          <p:nvPr/>
        </p:nvSpPr>
        <p:spPr>
          <a:xfrm>
            <a:off x="2923082" y="2144552"/>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cxnSp>
        <p:nvCxnSpPr>
          <p:cNvPr id="60" name="直線コネクタ 59">
            <a:extLst>
              <a:ext uri="{FF2B5EF4-FFF2-40B4-BE49-F238E27FC236}">
                <a16:creationId xmlns:a16="http://schemas.microsoft.com/office/drawing/2014/main" id="{FF9DD011-2FC2-0600-0DDA-76B7610B615D}"/>
              </a:ext>
            </a:extLst>
          </p:cNvPr>
          <p:cNvCxnSpPr>
            <a:cxnSpLocks/>
          </p:cNvCxnSpPr>
          <p:nvPr/>
        </p:nvCxnSpPr>
        <p:spPr>
          <a:xfrm>
            <a:off x="2921977" y="2157594"/>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正方形/長方形 258">
            <a:extLst>
              <a:ext uri="{FF2B5EF4-FFF2-40B4-BE49-F238E27FC236}">
                <a16:creationId xmlns:a16="http://schemas.microsoft.com/office/drawing/2014/main" id="{3451C049-1CFE-1E68-6431-1598FC069401}"/>
              </a:ext>
            </a:extLst>
          </p:cNvPr>
          <p:cNvSpPr/>
          <p:nvPr/>
        </p:nvSpPr>
        <p:spPr>
          <a:xfrm>
            <a:off x="4598799" y="1766023"/>
            <a:ext cx="1215743"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66" name="直線コネクタ 265">
            <a:extLst>
              <a:ext uri="{FF2B5EF4-FFF2-40B4-BE49-F238E27FC236}">
                <a16:creationId xmlns:a16="http://schemas.microsoft.com/office/drawing/2014/main" id="{944B8509-4A8E-A9AC-9761-EB09C2D8A0DC}"/>
              </a:ext>
            </a:extLst>
          </p:cNvPr>
          <p:cNvCxnSpPr>
            <a:cxnSpLocks/>
          </p:cNvCxnSpPr>
          <p:nvPr/>
        </p:nvCxnSpPr>
        <p:spPr>
          <a:xfrm flipV="1">
            <a:off x="4603818" y="1977743"/>
            <a:ext cx="122336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正方形/長方形 266">
            <a:extLst>
              <a:ext uri="{FF2B5EF4-FFF2-40B4-BE49-F238E27FC236}">
                <a16:creationId xmlns:a16="http://schemas.microsoft.com/office/drawing/2014/main" id="{EF54DD83-4604-AEE2-569D-28E1F7F9D790}"/>
              </a:ext>
            </a:extLst>
          </p:cNvPr>
          <p:cNvSpPr/>
          <p:nvPr/>
        </p:nvSpPr>
        <p:spPr>
          <a:xfrm>
            <a:off x="954949" y="876907"/>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69" name="テキスト ボックス 68">
            <a:extLst>
              <a:ext uri="{FF2B5EF4-FFF2-40B4-BE49-F238E27FC236}">
                <a16:creationId xmlns:a16="http://schemas.microsoft.com/office/drawing/2014/main" id="{F7720891-FFC1-3220-58C5-51C763528061}"/>
              </a:ext>
            </a:extLst>
          </p:cNvPr>
          <p:cNvSpPr txBox="1"/>
          <p:nvPr/>
        </p:nvSpPr>
        <p:spPr>
          <a:xfrm>
            <a:off x="954945" y="841332"/>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72" name="直線コネクタ 71">
            <a:extLst>
              <a:ext uri="{FF2B5EF4-FFF2-40B4-BE49-F238E27FC236}">
                <a16:creationId xmlns:a16="http://schemas.microsoft.com/office/drawing/2014/main" id="{0F1A2FF2-4AEC-976D-F340-C3378110D250}"/>
              </a:ext>
            </a:extLst>
          </p:cNvPr>
          <p:cNvCxnSpPr>
            <a:cxnSpLocks/>
          </p:cNvCxnSpPr>
          <p:nvPr/>
        </p:nvCxnSpPr>
        <p:spPr>
          <a:xfrm>
            <a:off x="954945" y="1087486"/>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37673599-AA68-1B11-D634-B03C0CDE8163}"/>
              </a:ext>
            </a:extLst>
          </p:cNvPr>
          <p:cNvSpPr txBox="1"/>
          <p:nvPr/>
        </p:nvSpPr>
        <p:spPr>
          <a:xfrm>
            <a:off x="903316" y="1055299"/>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施設パスバージョン</a:t>
            </a:r>
          </a:p>
        </p:txBody>
      </p:sp>
      <p:sp>
        <p:nvSpPr>
          <p:cNvPr id="78" name="テキスト ボックス 77">
            <a:extLst>
              <a:ext uri="{FF2B5EF4-FFF2-40B4-BE49-F238E27FC236}">
                <a16:creationId xmlns:a16="http://schemas.microsoft.com/office/drawing/2014/main" id="{71C26A53-664F-5C48-C615-378D5359DDB7}"/>
              </a:ext>
            </a:extLst>
          </p:cNvPr>
          <p:cNvSpPr txBox="1"/>
          <p:nvPr/>
        </p:nvSpPr>
        <p:spPr>
          <a:xfrm>
            <a:off x="4550464" y="1959347"/>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パス中止理由</a:t>
            </a:r>
          </a:p>
        </p:txBody>
      </p:sp>
      <p:sp>
        <p:nvSpPr>
          <p:cNvPr id="79" name="正方形/長方形 78">
            <a:extLst>
              <a:ext uri="{FF2B5EF4-FFF2-40B4-BE49-F238E27FC236}">
                <a16:creationId xmlns:a16="http://schemas.microsoft.com/office/drawing/2014/main" id="{546CEB4B-C104-F0D6-92B0-EF7828A8DECC}"/>
              </a:ext>
            </a:extLst>
          </p:cNvPr>
          <p:cNvSpPr/>
          <p:nvPr/>
        </p:nvSpPr>
        <p:spPr>
          <a:xfrm>
            <a:off x="4598799" y="1740868"/>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sp>
        <p:nvSpPr>
          <p:cNvPr id="86" name="ひし形 85">
            <a:extLst>
              <a:ext uri="{FF2B5EF4-FFF2-40B4-BE49-F238E27FC236}">
                <a16:creationId xmlns:a16="http://schemas.microsoft.com/office/drawing/2014/main" id="{6325CCCB-598B-B8EC-DBD9-FD18CCE245A7}"/>
              </a:ext>
            </a:extLst>
          </p:cNvPr>
          <p:cNvSpPr/>
          <p:nvPr/>
        </p:nvSpPr>
        <p:spPr>
          <a:xfrm rot="16188860">
            <a:off x="4258294" y="219642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7" name="正方形/長方形 86">
            <a:extLst>
              <a:ext uri="{FF2B5EF4-FFF2-40B4-BE49-F238E27FC236}">
                <a16:creationId xmlns:a16="http://schemas.microsoft.com/office/drawing/2014/main" id="{D282317F-2799-6CF1-3A1B-8FBFDA793222}"/>
              </a:ext>
            </a:extLst>
          </p:cNvPr>
          <p:cNvSpPr/>
          <p:nvPr/>
        </p:nvSpPr>
        <p:spPr>
          <a:xfrm>
            <a:off x="2922233" y="2938271"/>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8" name="テキスト ボックス 87">
            <a:extLst>
              <a:ext uri="{FF2B5EF4-FFF2-40B4-BE49-F238E27FC236}">
                <a16:creationId xmlns:a16="http://schemas.microsoft.com/office/drawing/2014/main" id="{B8F36A9F-9C5F-9565-7841-58A1D4C1863D}"/>
              </a:ext>
            </a:extLst>
          </p:cNvPr>
          <p:cNvSpPr txBox="1"/>
          <p:nvPr/>
        </p:nvSpPr>
        <p:spPr>
          <a:xfrm>
            <a:off x="2953732" y="2895845"/>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89" name="テキスト ボックス 88">
            <a:extLst>
              <a:ext uri="{FF2B5EF4-FFF2-40B4-BE49-F238E27FC236}">
                <a16:creationId xmlns:a16="http://schemas.microsoft.com/office/drawing/2014/main" id="{5EC74FDD-22DE-09E4-81C2-BB2ECCAE6950}"/>
              </a:ext>
            </a:extLst>
          </p:cNvPr>
          <p:cNvSpPr txBox="1"/>
          <p:nvPr/>
        </p:nvSpPr>
        <p:spPr>
          <a:xfrm>
            <a:off x="2923135" y="3059641"/>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総合評価</a:t>
            </a:r>
          </a:p>
        </p:txBody>
      </p:sp>
      <p:cxnSp>
        <p:nvCxnSpPr>
          <p:cNvPr id="90" name="直線コネクタ 89">
            <a:extLst>
              <a:ext uri="{FF2B5EF4-FFF2-40B4-BE49-F238E27FC236}">
                <a16:creationId xmlns:a16="http://schemas.microsoft.com/office/drawing/2014/main" id="{DC0E11F8-44AC-6EEB-5F51-CE43E82DF9D0}"/>
              </a:ext>
            </a:extLst>
          </p:cNvPr>
          <p:cNvCxnSpPr>
            <a:cxnSpLocks/>
          </p:cNvCxnSpPr>
          <p:nvPr/>
        </p:nvCxnSpPr>
        <p:spPr>
          <a:xfrm>
            <a:off x="2933034" y="3107593"/>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ひし形 91">
            <a:extLst>
              <a:ext uri="{FF2B5EF4-FFF2-40B4-BE49-F238E27FC236}">
                <a16:creationId xmlns:a16="http://schemas.microsoft.com/office/drawing/2014/main" id="{CB9E8E28-E373-20AB-A710-5D20D38151CD}"/>
              </a:ext>
            </a:extLst>
          </p:cNvPr>
          <p:cNvSpPr/>
          <p:nvPr/>
        </p:nvSpPr>
        <p:spPr>
          <a:xfrm>
            <a:off x="3473750" y="256250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93" name="テキスト ボックス 92">
            <a:extLst>
              <a:ext uri="{FF2B5EF4-FFF2-40B4-BE49-F238E27FC236}">
                <a16:creationId xmlns:a16="http://schemas.microsoft.com/office/drawing/2014/main" id="{B6915BA1-4AD1-0CFB-F292-43A5DC009705}"/>
              </a:ext>
            </a:extLst>
          </p:cNvPr>
          <p:cNvSpPr txBox="1"/>
          <p:nvPr/>
        </p:nvSpPr>
        <p:spPr>
          <a:xfrm>
            <a:off x="3494159" y="270608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94" name="テキスト ボックス 93">
            <a:extLst>
              <a:ext uri="{FF2B5EF4-FFF2-40B4-BE49-F238E27FC236}">
                <a16:creationId xmlns:a16="http://schemas.microsoft.com/office/drawing/2014/main" id="{921879A9-2CD3-61BA-8CF6-3F17F4C3DE46}"/>
              </a:ext>
            </a:extLst>
          </p:cNvPr>
          <p:cNvSpPr txBox="1"/>
          <p:nvPr/>
        </p:nvSpPr>
        <p:spPr>
          <a:xfrm>
            <a:off x="3517197" y="1575448"/>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95" name="ひし形 94">
            <a:extLst>
              <a:ext uri="{FF2B5EF4-FFF2-40B4-BE49-F238E27FC236}">
                <a16:creationId xmlns:a16="http://schemas.microsoft.com/office/drawing/2014/main" id="{7BBB0634-1382-C295-7A57-D3A335C9F70B}"/>
              </a:ext>
            </a:extLst>
          </p:cNvPr>
          <p:cNvSpPr/>
          <p:nvPr/>
        </p:nvSpPr>
        <p:spPr>
          <a:xfrm>
            <a:off x="3476345" y="163025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8" name="テキスト ボックス 287">
            <a:extLst>
              <a:ext uri="{FF2B5EF4-FFF2-40B4-BE49-F238E27FC236}">
                <a16:creationId xmlns:a16="http://schemas.microsoft.com/office/drawing/2014/main" id="{1DFDE5F2-BF2A-6611-AFB6-37DAAE7E41FC}"/>
              </a:ext>
            </a:extLst>
          </p:cNvPr>
          <p:cNvSpPr txBox="1"/>
          <p:nvPr/>
        </p:nvSpPr>
        <p:spPr>
          <a:xfrm>
            <a:off x="2108755" y="832804"/>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1" name="テキスト ボックス 290">
            <a:extLst>
              <a:ext uri="{FF2B5EF4-FFF2-40B4-BE49-F238E27FC236}">
                <a16:creationId xmlns:a16="http://schemas.microsoft.com/office/drawing/2014/main" id="{B0684C39-74BE-AC9F-CC6D-7D463A257431}"/>
              </a:ext>
            </a:extLst>
          </p:cNvPr>
          <p:cNvSpPr txBox="1"/>
          <p:nvPr/>
        </p:nvSpPr>
        <p:spPr>
          <a:xfrm>
            <a:off x="4413891" y="204305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4" name="テキスト ボックス 293">
            <a:extLst>
              <a:ext uri="{FF2B5EF4-FFF2-40B4-BE49-F238E27FC236}">
                <a16:creationId xmlns:a16="http://schemas.microsoft.com/office/drawing/2014/main" id="{0067931E-1C34-0991-3922-C3A575F39AC9}"/>
              </a:ext>
            </a:extLst>
          </p:cNvPr>
          <p:cNvSpPr txBox="1"/>
          <p:nvPr/>
        </p:nvSpPr>
        <p:spPr>
          <a:xfrm>
            <a:off x="2089157" y="362402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5" name="直線コネクタ 294">
            <a:extLst>
              <a:ext uri="{FF2B5EF4-FFF2-40B4-BE49-F238E27FC236}">
                <a16:creationId xmlns:a16="http://schemas.microsoft.com/office/drawing/2014/main" id="{522D9D80-770F-C6EE-971F-D07E81376ADB}"/>
              </a:ext>
            </a:extLst>
          </p:cNvPr>
          <p:cNvCxnSpPr>
            <a:cxnSpLocks/>
          </p:cNvCxnSpPr>
          <p:nvPr/>
        </p:nvCxnSpPr>
        <p:spPr>
          <a:xfrm flipH="1">
            <a:off x="4370889" y="3085163"/>
            <a:ext cx="2282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6" name="ひし形 295">
            <a:extLst>
              <a:ext uri="{FF2B5EF4-FFF2-40B4-BE49-F238E27FC236}">
                <a16:creationId xmlns:a16="http://schemas.microsoft.com/office/drawing/2014/main" id="{AD38F4EC-11EC-9089-C646-B9BEC8479385}"/>
              </a:ext>
            </a:extLst>
          </p:cNvPr>
          <p:cNvSpPr/>
          <p:nvPr/>
        </p:nvSpPr>
        <p:spPr>
          <a:xfrm rot="5400000">
            <a:off x="4265344" y="2983374"/>
            <a:ext cx="113024"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8" name="正方形/長方形 297">
            <a:extLst>
              <a:ext uri="{FF2B5EF4-FFF2-40B4-BE49-F238E27FC236}">
                <a16:creationId xmlns:a16="http://schemas.microsoft.com/office/drawing/2014/main" id="{5C77BC33-41B6-C700-60F3-91D4A3697CA9}"/>
              </a:ext>
            </a:extLst>
          </p:cNvPr>
          <p:cNvSpPr/>
          <p:nvPr/>
        </p:nvSpPr>
        <p:spPr>
          <a:xfrm>
            <a:off x="4605754" y="2940852"/>
            <a:ext cx="121117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9" name="テキスト ボックス 298">
            <a:extLst>
              <a:ext uri="{FF2B5EF4-FFF2-40B4-BE49-F238E27FC236}">
                <a16:creationId xmlns:a16="http://schemas.microsoft.com/office/drawing/2014/main" id="{55BF6EA4-F49B-8773-6659-36D0F842184B}"/>
              </a:ext>
            </a:extLst>
          </p:cNvPr>
          <p:cNvSpPr txBox="1"/>
          <p:nvPr/>
        </p:nvSpPr>
        <p:spPr>
          <a:xfrm>
            <a:off x="4635657" y="2913703"/>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304" name="直線コネクタ 303">
            <a:extLst>
              <a:ext uri="{FF2B5EF4-FFF2-40B4-BE49-F238E27FC236}">
                <a16:creationId xmlns:a16="http://schemas.microsoft.com/office/drawing/2014/main" id="{E7127A9B-7C2F-FFDA-B309-9B4D6FCC8476}"/>
              </a:ext>
            </a:extLst>
          </p:cNvPr>
          <p:cNvCxnSpPr>
            <a:cxnSpLocks/>
          </p:cNvCxnSpPr>
          <p:nvPr/>
        </p:nvCxnSpPr>
        <p:spPr>
          <a:xfrm flipV="1">
            <a:off x="4612129" y="3124519"/>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5" name="テキスト ボックス 304">
            <a:extLst>
              <a:ext uri="{FF2B5EF4-FFF2-40B4-BE49-F238E27FC236}">
                <a16:creationId xmlns:a16="http://schemas.microsoft.com/office/drawing/2014/main" id="{0976E27F-A2E6-1BC8-B72C-D09A099E914A}"/>
              </a:ext>
            </a:extLst>
          </p:cNvPr>
          <p:cNvSpPr txBox="1"/>
          <p:nvPr/>
        </p:nvSpPr>
        <p:spPr>
          <a:xfrm>
            <a:off x="4576834" y="3124523"/>
            <a:ext cx="1211174"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開始日</a:t>
            </a:r>
          </a:p>
        </p:txBody>
      </p:sp>
      <p:sp>
        <p:nvSpPr>
          <p:cNvPr id="306" name="テキスト ボックス 305">
            <a:extLst>
              <a:ext uri="{FF2B5EF4-FFF2-40B4-BE49-F238E27FC236}">
                <a16:creationId xmlns:a16="http://schemas.microsoft.com/office/drawing/2014/main" id="{5E083AD9-4B56-C7B4-9630-8A673979D5EA}"/>
              </a:ext>
            </a:extLst>
          </p:cNvPr>
          <p:cNvSpPr txBox="1"/>
          <p:nvPr/>
        </p:nvSpPr>
        <p:spPr>
          <a:xfrm>
            <a:off x="4311231" y="3056858"/>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07" name="直線コネクタ 306">
            <a:extLst>
              <a:ext uri="{FF2B5EF4-FFF2-40B4-BE49-F238E27FC236}">
                <a16:creationId xmlns:a16="http://schemas.microsoft.com/office/drawing/2014/main" id="{95527419-938B-C4B3-F798-1F088532F4A1}"/>
              </a:ext>
            </a:extLst>
          </p:cNvPr>
          <p:cNvCxnSpPr>
            <a:cxnSpLocks/>
            <a:endCxn id="308" idx="0"/>
          </p:cNvCxnSpPr>
          <p:nvPr/>
        </p:nvCxnSpPr>
        <p:spPr>
          <a:xfrm flipH="1" flipV="1">
            <a:off x="4392290" y="3801381"/>
            <a:ext cx="223014" cy="80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 name="ひし形 307">
            <a:extLst>
              <a:ext uri="{FF2B5EF4-FFF2-40B4-BE49-F238E27FC236}">
                <a16:creationId xmlns:a16="http://schemas.microsoft.com/office/drawing/2014/main" id="{3884A281-AE82-0395-3E57-AEF8CC3F2923}"/>
              </a:ext>
            </a:extLst>
          </p:cNvPr>
          <p:cNvSpPr/>
          <p:nvPr/>
        </p:nvSpPr>
        <p:spPr>
          <a:xfrm rot="7161016">
            <a:off x="4247355" y="365987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9" name="正方形/長方形 308">
            <a:extLst>
              <a:ext uri="{FF2B5EF4-FFF2-40B4-BE49-F238E27FC236}">
                <a16:creationId xmlns:a16="http://schemas.microsoft.com/office/drawing/2014/main" id="{DAFED9EE-8E28-A701-C158-BB43AE18E33D}"/>
              </a:ext>
            </a:extLst>
          </p:cNvPr>
          <p:cNvSpPr/>
          <p:nvPr/>
        </p:nvSpPr>
        <p:spPr>
          <a:xfrm>
            <a:off x="4612125" y="3817253"/>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10" name="テキスト ボックス 309">
            <a:extLst>
              <a:ext uri="{FF2B5EF4-FFF2-40B4-BE49-F238E27FC236}">
                <a16:creationId xmlns:a16="http://schemas.microsoft.com/office/drawing/2014/main" id="{800524B3-85C7-4802-14FD-EC6008FF404D}"/>
              </a:ext>
            </a:extLst>
          </p:cNvPr>
          <p:cNvSpPr txBox="1"/>
          <p:nvPr/>
        </p:nvSpPr>
        <p:spPr>
          <a:xfrm>
            <a:off x="4612713" y="3790104"/>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311" name="直線コネクタ 310">
            <a:extLst>
              <a:ext uri="{FF2B5EF4-FFF2-40B4-BE49-F238E27FC236}">
                <a16:creationId xmlns:a16="http://schemas.microsoft.com/office/drawing/2014/main" id="{D203E8DA-04A8-4E62-9D19-81406AEAF4DF}"/>
              </a:ext>
            </a:extLst>
          </p:cNvPr>
          <p:cNvCxnSpPr>
            <a:cxnSpLocks/>
          </p:cNvCxnSpPr>
          <p:nvPr/>
        </p:nvCxnSpPr>
        <p:spPr>
          <a:xfrm flipV="1">
            <a:off x="4618500" y="4000920"/>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テキスト ボックス 95">
            <a:extLst>
              <a:ext uri="{FF2B5EF4-FFF2-40B4-BE49-F238E27FC236}">
                <a16:creationId xmlns:a16="http://schemas.microsoft.com/office/drawing/2014/main" id="{6FBF7F6E-CB8D-CC5A-DFBF-63468FC7D5FC}"/>
              </a:ext>
            </a:extLst>
          </p:cNvPr>
          <p:cNvSpPr txBox="1"/>
          <p:nvPr/>
        </p:nvSpPr>
        <p:spPr>
          <a:xfrm>
            <a:off x="4583205" y="4000920"/>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a:t>
            </a:r>
            <a:r>
              <a:rPr kumimoji="1" lang="ja-JP" altLang="en-US" sz="900" dirty="0">
                <a:latin typeface="ＭＳ Ｐゴシック" panose="020B0600070205080204" pitchFamily="50" charset="-128"/>
                <a:ea typeface="ＭＳ Ｐゴシック" panose="020B0600070205080204" pitchFamily="50" charset="-128"/>
              </a:rPr>
              <a:t>種別</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許容</a:t>
            </a:r>
            <a:r>
              <a:rPr lang="ja-JP" altLang="en-US" sz="900" dirty="0">
                <a:latin typeface="ＭＳ Ｐゴシック" panose="020B0600070205080204" pitchFamily="50" charset="-128"/>
                <a:ea typeface="ＭＳ Ｐゴシック" panose="020B0600070205080204" pitchFamily="50" charset="-128"/>
              </a:rPr>
              <a:t>日数</a:t>
            </a:r>
            <a:r>
              <a:rPr kumimoji="1" lang="ja-JP" altLang="en-US" sz="900" dirty="0">
                <a:latin typeface="ＭＳ Ｐゴシック" panose="020B0600070205080204" pitchFamily="50" charset="-128"/>
                <a:ea typeface="ＭＳ Ｐゴシック" panose="020B0600070205080204" pitchFamily="50" charset="-128"/>
              </a:rPr>
              <a:t>期間</a:t>
            </a:r>
          </a:p>
        </p:txBody>
      </p:sp>
      <p:sp>
        <p:nvSpPr>
          <p:cNvPr id="101" name="テキスト ボックス 100">
            <a:extLst>
              <a:ext uri="{FF2B5EF4-FFF2-40B4-BE49-F238E27FC236}">
                <a16:creationId xmlns:a16="http://schemas.microsoft.com/office/drawing/2014/main" id="{C6E89622-DBE3-5996-A2E9-3F33360A4978}"/>
              </a:ext>
            </a:extLst>
          </p:cNvPr>
          <p:cNvSpPr txBox="1"/>
          <p:nvPr/>
        </p:nvSpPr>
        <p:spPr>
          <a:xfrm>
            <a:off x="4327966" y="384001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102" name="直線コネクタ 101">
            <a:extLst>
              <a:ext uri="{FF2B5EF4-FFF2-40B4-BE49-F238E27FC236}">
                <a16:creationId xmlns:a16="http://schemas.microsoft.com/office/drawing/2014/main" id="{DF65FC7C-D876-9EC9-D6C0-2203EFA0B286}"/>
              </a:ext>
            </a:extLst>
          </p:cNvPr>
          <p:cNvCxnSpPr>
            <a:cxnSpLocks/>
          </p:cNvCxnSpPr>
          <p:nvPr/>
        </p:nvCxnSpPr>
        <p:spPr>
          <a:xfrm>
            <a:off x="3528703" y="4227146"/>
            <a:ext cx="0" cy="442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E57D7849-EBC8-288D-459D-12EB7952D51B}"/>
              </a:ext>
            </a:extLst>
          </p:cNvPr>
          <p:cNvCxnSpPr>
            <a:cxnSpLocks/>
            <a:stCxn id="239" idx="2"/>
          </p:cNvCxnSpPr>
          <p:nvPr/>
        </p:nvCxnSpPr>
        <p:spPr>
          <a:xfrm flipV="1">
            <a:off x="4666435" y="5966363"/>
            <a:ext cx="454279" cy="1066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6110AA06-5DC1-3462-793F-27991D8DCCE6}"/>
              </a:ext>
            </a:extLst>
          </p:cNvPr>
          <p:cNvSpPr/>
          <p:nvPr/>
        </p:nvSpPr>
        <p:spPr>
          <a:xfrm>
            <a:off x="2924555" y="4594421"/>
            <a:ext cx="1295619"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11" name="テキスト ボックス 110">
            <a:extLst>
              <a:ext uri="{FF2B5EF4-FFF2-40B4-BE49-F238E27FC236}">
                <a16:creationId xmlns:a16="http://schemas.microsoft.com/office/drawing/2014/main" id="{4B5D01E8-9109-3FA8-1F70-BF749DB14304}"/>
              </a:ext>
            </a:extLst>
          </p:cNvPr>
          <p:cNvSpPr txBox="1"/>
          <p:nvPr/>
        </p:nvSpPr>
        <p:spPr>
          <a:xfrm>
            <a:off x="3055163" y="4529828"/>
            <a:ext cx="857879" cy="253916"/>
          </a:xfrm>
          <a:prstGeom prst="rect">
            <a:avLst/>
          </a:prstGeom>
          <a:noFill/>
        </p:spPr>
        <p:txBody>
          <a:bodyPr wrap="square" rtlCol="0">
            <a:spAutoFit/>
          </a:bodyPr>
          <a:lstStyle/>
          <a:p>
            <a:pPr algn="ctr"/>
            <a:r>
              <a:rPr lang="en-US" altLang="ja-JP" sz="1000" dirty="0">
                <a:latin typeface="ＭＳ Ｐゴシック" panose="020B0600070205080204" pitchFamily="50" charset="-128"/>
                <a:ea typeface="ＭＳ Ｐゴシック" panose="020B0600070205080204" pitchFamily="50" charset="-128"/>
              </a:rPr>
              <a:t>OAT</a:t>
            </a:r>
            <a:r>
              <a:rPr lang="ja-JP" altLang="en-US" sz="1000" dirty="0">
                <a:latin typeface="ＭＳ Ｐゴシック" panose="020B0600070205080204" pitchFamily="50" charset="-128"/>
                <a:ea typeface="ＭＳ Ｐゴシック" panose="020B0600070205080204" pitchFamily="50" charset="-128"/>
              </a:rPr>
              <a:t>ユニット</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112" name="直線コネクタ 111">
            <a:extLst>
              <a:ext uri="{FF2B5EF4-FFF2-40B4-BE49-F238E27FC236}">
                <a16:creationId xmlns:a16="http://schemas.microsoft.com/office/drawing/2014/main" id="{8DE6B24C-9956-CB0D-0497-A30CBA681176}"/>
              </a:ext>
            </a:extLst>
          </p:cNvPr>
          <p:cNvCxnSpPr>
            <a:cxnSpLocks/>
          </p:cNvCxnSpPr>
          <p:nvPr/>
        </p:nvCxnSpPr>
        <p:spPr>
          <a:xfrm>
            <a:off x="2924552" y="4738637"/>
            <a:ext cx="12956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正方形/長方形 115">
            <a:extLst>
              <a:ext uri="{FF2B5EF4-FFF2-40B4-BE49-F238E27FC236}">
                <a16:creationId xmlns:a16="http://schemas.microsoft.com/office/drawing/2014/main" id="{507F8E86-ED3C-5081-3C02-30856884E0A9}"/>
              </a:ext>
            </a:extLst>
          </p:cNvPr>
          <p:cNvSpPr/>
          <p:nvPr/>
        </p:nvSpPr>
        <p:spPr>
          <a:xfrm>
            <a:off x="2891595" y="4704252"/>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119" name="正方形/長方形 118">
            <a:extLst>
              <a:ext uri="{FF2B5EF4-FFF2-40B4-BE49-F238E27FC236}">
                <a16:creationId xmlns:a16="http://schemas.microsoft.com/office/drawing/2014/main" id="{396DCBF2-2C48-0A63-D2E6-3875C92EF779}"/>
              </a:ext>
            </a:extLst>
          </p:cNvPr>
          <p:cNvSpPr/>
          <p:nvPr/>
        </p:nvSpPr>
        <p:spPr>
          <a:xfrm>
            <a:off x="5135528" y="5410306"/>
            <a:ext cx="1697069" cy="14190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20" name="正方形/長方形 119">
            <a:extLst>
              <a:ext uri="{FF2B5EF4-FFF2-40B4-BE49-F238E27FC236}">
                <a16:creationId xmlns:a16="http://schemas.microsoft.com/office/drawing/2014/main" id="{487DD120-07DA-AF07-2B83-5AC54330D8E3}"/>
              </a:ext>
            </a:extLst>
          </p:cNvPr>
          <p:cNvSpPr/>
          <p:nvPr/>
        </p:nvSpPr>
        <p:spPr>
          <a:xfrm>
            <a:off x="7462696" y="5427891"/>
            <a:ext cx="1240854"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25" name="テキスト ボックス 124">
            <a:extLst>
              <a:ext uri="{FF2B5EF4-FFF2-40B4-BE49-F238E27FC236}">
                <a16:creationId xmlns:a16="http://schemas.microsoft.com/office/drawing/2014/main" id="{733548ED-ABD7-384E-BF3B-83566D91B19C}"/>
              </a:ext>
            </a:extLst>
          </p:cNvPr>
          <p:cNvSpPr txBox="1"/>
          <p:nvPr/>
        </p:nvSpPr>
        <p:spPr>
          <a:xfrm>
            <a:off x="5322091" y="5374881"/>
            <a:ext cx="1030539" cy="253916"/>
          </a:xfrm>
          <a:prstGeom prst="rect">
            <a:avLst/>
          </a:prstGeom>
          <a:noFill/>
        </p:spPr>
        <p:txBody>
          <a:bodyPr wrap="square" rtlCol="0">
            <a:spAutoFit/>
          </a:bodyPr>
          <a:lstStyle/>
          <a:p>
            <a:pPr algn="ctr"/>
            <a:r>
              <a:rPr kumimoji="1" lang="ja-JP" altLang="en-US" sz="1050" dirty="0">
                <a:latin typeface="ＭＳ Ｐゴシック" panose="020B0600070205080204" pitchFamily="50" charset="-128"/>
                <a:ea typeface="ＭＳ Ｐゴシック" panose="020B0600070205080204" pitchFamily="50" charset="-128"/>
              </a:rPr>
              <a:t>観察項目</a:t>
            </a:r>
          </a:p>
        </p:txBody>
      </p:sp>
      <p:sp>
        <p:nvSpPr>
          <p:cNvPr id="127" name="テキスト ボックス 126">
            <a:extLst>
              <a:ext uri="{FF2B5EF4-FFF2-40B4-BE49-F238E27FC236}">
                <a16:creationId xmlns:a16="http://schemas.microsoft.com/office/drawing/2014/main" id="{D0987C82-E6D1-0D2A-E6E3-5C74A2485127}"/>
              </a:ext>
            </a:extLst>
          </p:cNvPr>
          <p:cNvSpPr txBox="1"/>
          <p:nvPr/>
        </p:nvSpPr>
        <p:spPr>
          <a:xfrm>
            <a:off x="7488214" y="5379519"/>
            <a:ext cx="1184139" cy="253916"/>
          </a:xfrm>
          <a:prstGeom prst="rect">
            <a:avLst/>
          </a:prstGeom>
          <a:noFill/>
        </p:spPr>
        <p:txBody>
          <a:bodyPr wrap="square" rtlCol="0">
            <a:spAutoFit/>
          </a:bodyPr>
          <a:lstStyle/>
          <a:p>
            <a:pPr algn="ctr"/>
            <a:r>
              <a:rPr kumimoji="1" lang="ja-JP" altLang="en-US" sz="1050" dirty="0">
                <a:latin typeface="ＭＳ Ｐゴシック" panose="020B0600070205080204" pitchFamily="50" charset="-128"/>
                <a:ea typeface="ＭＳ Ｐゴシック" panose="020B0600070205080204" pitchFamily="50" charset="-128"/>
              </a:rPr>
              <a:t>タスク</a:t>
            </a:r>
          </a:p>
        </p:txBody>
      </p:sp>
      <p:sp>
        <p:nvSpPr>
          <p:cNvPr id="129" name="正方形/長方形 128">
            <a:extLst>
              <a:ext uri="{FF2B5EF4-FFF2-40B4-BE49-F238E27FC236}">
                <a16:creationId xmlns:a16="http://schemas.microsoft.com/office/drawing/2014/main" id="{F497C5F6-1085-958C-3674-41F6167CB832}"/>
              </a:ext>
            </a:extLst>
          </p:cNvPr>
          <p:cNvSpPr/>
          <p:nvPr/>
        </p:nvSpPr>
        <p:spPr>
          <a:xfrm>
            <a:off x="5090979" y="5577907"/>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130" name="テキスト ボックス 129">
            <a:extLst>
              <a:ext uri="{FF2B5EF4-FFF2-40B4-BE49-F238E27FC236}">
                <a16:creationId xmlns:a16="http://schemas.microsoft.com/office/drawing/2014/main" id="{257BCD8C-B800-5728-EB87-AFFB20AE302B}"/>
              </a:ext>
            </a:extLst>
          </p:cNvPr>
          <p:cNvSpPr txBox="1"/>
          <p:nvPr/>
        </p:nvSpPr>
        <p:spPr>
          <a:xfrm>
            <a:off x="7409968" y="5591033"/>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タスク実施</a:t>
            </a:r>
            <a: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t/>
            </a:r>
            <a:b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b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（実施状況・実施者）</a:t>
            </a:r>
          </a:p>
        </p:txBody>
      </p:sp>
      <p:cxnSp>
        <p:nvCxnSpPr>
          <p:cNvPr id="131" name="直線コネクタ 130">
            <a:extLst>
              <a:ext uri="{FF2B5EF4-FFF2-40B4-BE49-F238E27FC236}">
                <a16:creationId xmlns:a16="http://schemas.microsoft.com/office/drawing/2014/main" id="{E2FFF3AD-CDDD-1791-F68A-633E120FD765}"/>
              </a:ext>
            </a:extLst>
          </p:cNvPr>
          <p:cNvCxnSpPr>
            <a:cxnSpLocks/>
          </p:cNvCxnSpPr>
          <p:nvPr/>
        </p:nvCxnSpPr>
        <p:spPr>
          <a:xfrm>
            <a:off x="7463470" y="5609811"/>
            <a:ext cx="12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58A5438D-CA4D-A3B9-E09C-ED672B5643DA}"/>
              </a:ext>
            </a:extLst>
          </p:cNvPr>
          <p:cNvCxnSpPr>
            <a:cxnSpLocks/>
          </p:cNvCxnSpPr>
          <p:nvPr/>
        </p:nvCxnSpPr>
        <p:spPr>
          <a:xfrm>
            <a:off x="5135471" y="5588531"/>
            <a:ext cx="16661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線矢印コネクタ 140">
            <a:extLst>
              <a:ext uri="{FF2B5EF4-FFF2-40B4-BE49-F238E27FC236}">
                <a16:creationId xmlns:a16="http://schemas.microsoft.com/office/drawing/2014/main" id="{B4DA0448-B2FE-6106-3DD0-B29B019CC03C}"/>
              </a:ext>
            </a:extLst>
          </p:cNvPr>
          <p:cNvCxnSpPr>
            <a:cxnSpLocks/>
            <a:stCxn id="157" idx="2"/>
          </p:cNvCxnSpPr>
          <p:nvPr/>
        </p:nvCxnSpPr>
        <p:spPr>
          <a:xfrm>
            <a:off x="7023158" y="5972459"/>
            <a:ext cx="439538" cy="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2" name="テキスト ボックス 141">
            <a:extLst>
              <a:ext uri="{FF2B5EF4-FFF2-40B4-BE49-F238E27FC236}">
                <a16:creationId xmlns:a16="http://schemas.microsoft.com/office/drawing/2014/main" id="{9058A9E0-A37F-6541-A68C-7B60FF3528A4}"/>
              </a:ext>
            </a:extLst>
          </p:cNvPr>
          <p:cNvSpPr txBox="1"/>
          <p:nvPr/>
        </p:nvSpPr>
        <p:spPr>
          <a:xfrm>
            <a:off x="4790004" y="57458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43" name="テキスト ボックス 142">
            <a:extLst>
              <a:ext uri="{FF2B5EF4-FFF2-40B4-BE49-F238E27FC236}">
                <a16:creationId xmlns:a16="http://schemas.microsoft.com/office/drawing/2014/main" id="{96F3121E-EC27-D96A-05DD-3B31D2074FBA}"/>
              </a:ext>
            </a:extLst>
          </p:cNvPr>
          <p:cNvSpPr txBox="1"/>
          <p:nvPr/>
        </p:nvSpPr>
        <p:spPr>
          <a:xfrm>
            <a:off x="7131433" y="575808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53" name="ひし形 152">
            <a:extLst>
              <a:ext uri="{FF2B5EF4-FFF2-40B4-BE49-F238E27FC236}">
                <a16:creationId xmlns:a16="http://schemas.microsoft.com/office/drawing/2014/main" id="{2E081139-E9FD-BFB9-6B0C-5519C6F1089D}"/>
              </a:ext>
            </a:extLst>
          </p:cNvPr>
          <p:cNvSpPr/>
          <p:nvPr/>
        </p:nvSpPr>
        <p:spPr>
          <a:xfrm>
            <a:off x="3474256" y="508690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4" name="テキスト ボックス 153">
            <a:extLst>
              <a:ext uri="{FF2B5EF4-FFF2-40B4-BE49-F238E27FC236}">
                <a16:creationId xmlns:a16="http://schemas.microsoft.com/office/drawing/2014/main" id="{19EB7992-ABE4-4CB2-9EE0-DA19D61DDDA0}"/>
              </a:ext>
            </a:extLst>
          </p:cNvPr>
          <p:cNvSpPr txBox="1"/>
          <p:nvPr/>
        </p:nvSpPr>
        <p:spPr>
          <a:xfrm>
            <a:off x="3499800" y="5192988"/>
            <a:ext cx="230646"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55" name="ひし形 154">
            <a:extLst>
              <a:ext uri="{FF2B5EF4-FFF2-40B4-BE49-F238E27FC236}">
                <a16:creationId xmlns:a16="http://schemas.microsoft.com/office/drawing/2014/main" id="{41CD06F1-449F-7B51-0C27-406CD99029D9}"/>
              </a:ext>
            </a:extLst>
          </p:cNvPr>
          <p:cNvSpPr/>
          <p:nvPr/>
        </p:nvSpPr>
        <p:spPr>
          <a:xfrm rot="16200000">
            <a:off x="4337455" y="589216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7" name="ひし形 156">
            <a:extLst>
              <a:ext uri="{FF2B5EF4-FFF2-40B4-BE49-F238E27FC236}">
                <a16:creationId xmlns:a16="http://schemas.microsoft.com/office/drawing/2014/main" id="{44406503-81FB-EBC3-30C3-8951AC228AD8}"/>
              </a:ext>
            </a:extLst>
          </p:cNvPr>
          <p:cNvSpPr/>
          <p:nvPr/>
        </p:nvSpPr>
        <p:spPr>
          <a:xfrm rot="16200000">
            <a:off x="6869998" y="5877498"/>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0" name="ひし形 159">
            <a:extLst>
              <a:ext uri="{FF2B5EF4-FFF2-40B4-BE49-F238E27FC236}">
                <a16:creationId xmlns:a16="http://schemas.microsoft.com/office/drawing/2014/main" id="{765114EF-B545-1F34-6073-9035A9DCFD21}"/>
              </a:ext>
            </a:extLst>
          </p:cNvPr>
          <p:cNvSpPr/>
          <p:nvPr/>
        </p:nvSpPr>
        <p:spPr>
          <a:xfrm>
            <a:off x="3474256" y="417908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1" name="テキスト ボックス 160">
            <a:extLst>
              <a:ext uri="{FF2B5EF4-FFF2-40B4-BE49-F238E27FC236}">
                <a16:creationId xmlns:a16="http://schemas.microsoft.com/office/drawing/2014/main" id="{66E3F720-D195-CE05-4BAA-D1EB29C4A95F}"/>
              </a:ext>
            </a:extLst>
          </p:cNvPr>
          <p:cNvSpPr txBox="1"/>
          <p:nvPr/>
        </p:nvSpPr>
        <p:spPr>
          <a:xfrm>
            <a:off x="3493684" y="4362545"/>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162" name="直線コネクタ 161">
            <a:extLst>
              <a:ext uri="{FF2B5EF4-FFF2-40B4-BE49-F238E27FC236}">
                <a16:creationId xmlns:a16="http://schemas.microsoft.com/office/drawing/2014/main" id="{46CA5AFB-738A-E84D-4681-652B6847BB24}"/>
              </a:ext>
            </a:extLst>
          </p:cNvPr>
          <p:cNvCxnSpPr>
            <a:cxnSpLocks/>
            <a:endCxn id="167" idx="2"/>
          </p:cNvCxnSpPr>
          <p:nvPr/>
        </p:nvCxnSpPr>
        <p:spPr>
          <a:xfrm flipH="1">
            <a:off x="6419688" y="5096691"/>
            <a:ext cx="205226" cy="151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3" name="正方形/長方形 162">
            <a:extLst>
              <a:ext uri="{FF2B5EF4-FFF2-40B4-BE49-F238E27FC236}">
                <a16:creationId xmlns:a16="http://schemas.microsoft.com/office/drawing/2014/main" id="{2206F805-9697-05CE-BBB8-A4BBFF93791E}"/>
              </a:ext>
            </a:extLst>
          </p:cNvPr>
          <p:cNvSpPr/>
          <p:nvPr/>
        </p:nvSpPr>
        <p:spPr>
          <a:xfrm>
            <a:off x="6631812" y="2732487"/>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164" name="直線コネクタ 163">
            <a:extLst>
              <a:ext uri="{FF2B5EF4-FFF2-40B4-BE49-F238E27FC236}">
                <a16:creationId xmlns:a16="http://schemas.microsoft.com/office/drawing/2014/main" id="{0F941F29-3F9F-B8F4-E329-4B790095ABBF}"/>
              </a:ext>
            </a:extLst>
          </p:cNvPr>
          <p:cNvCxnSpPr>
            <a:cxnSpLocks/>
          </p:cNvCxnSpPr>
          <p:nvPr/>
        </p:nvCxnSpPr>
        <p:spPr>
          <a:xfrm>
            <a:off x="6631812" y="2927854"/>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5" name="正方形/長方形 164">
            <a:extLst>
              <a:ext uri="{FF2B5EF4-FFF2-40B4-BE49-F238E27FC236}">
                <a16:creationId xmlns:a16="http://schemas.microsoft.com/office/drawing/2014/main" id="{02960EDB-7A61-93EE-A119-4D52E6C3E55B}"/>
              </a:ext>
            </a:extLst>
          </p:cNvPr>
          <p:cNvSpPr/>
          <p:nvPr/>
        </p:nvSpPr>
        <p:spPr>
          <a:xfrm>
            <a:off x="6625443" y="2705287"/>
            <a:ext cx="1334947"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166" name="テキスト ボックス 165">
            <a:extLst>
              <a:ext uri="{FF2B5EF4-FFF2-40B4-BE49-F238E27FC236}">
                <a16:creationId xmlns:a16="http://schemas.microsoft.com/office/drawing/2014/main" id="{C293DFD9-22F1-A867-7949-5335623B6038}"/>
              </a:ext>
            </a:extLst>
          </p:cNvPr>
          <p:cNvSpPr txBox="1"/>
          <p:nvPr/>
        </p:nvSpPr>
        <p:spPr>
          <a:xfrm>
            <a:off x="6653573" y="2901887"/>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
        <p:nvSpPr>
          <p:cNvPr id="167" name="ひし形 166">
            <a:extLst>
              <a:ext uri="{FF2B5EF4-FFF2-40B4-BE49-F238E27FC236}">
                <a16:creationId xmlns:a16="http://schemas.microsoft.com/office/drawing/2014/main" id="{B98AB962-68D5-0A55-7A25-82FD5FFBB011}"/>
              </a:ext>
            </a:extLst>
          </p:cNvPr>
          <p:cNvSpPr/>
          <p:nvPr/>
        </p:nvSpPr>
        <p:spPr>
          <a:xfrm rot="13091044">
            <a:off x="6287050" y="5227770"/>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8" name="テキスト ボックス 167">
            <a:extLst>
              <a:ext uri="{FF2B5EF4-FFF2-40B4-BE49-F238E27FC236}">
                <a16:creationId xmlns:a16="http://schemas.microsoft.com/office/drawing/2014/main" id="{29D499BC-75AA-EA5B-4FEA-F23754905DD8}"/>
              </a:ext>
            </a:extLst>
          </p:cNvPr>
          <p:cNvSpPr txBox="1"/>
          <p:nvPr/>
        </p:nvSpPr>
        <p:spPr>
          <a:xfrm>
            <a:off x="5985297" y="510988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231" name="テキスト ボックス 230">
            <a:extLst>
              <a:ext uri="{FF2B5EF4-FFF2-40B4-BE49-F238E27FC236}">
                <a16:creationId xmlns:a16="http://schemas.microsoft.com/office/drawing/2014/main" id="{31632E98-1AA2-D3A0-6745-DB8FAE53041E}"/>
              </a:ext>
            </a:extLst>
          </p:cNvPr>
          <p:cNvSpPr txBox="1"/>
          <p:nvPr/>
        </p:nvSpPr>
        <p:spPr>
          <a:xfrm>
            <a:off x="2949040" y="818358"/>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234" name="正方形/長方形 233">
            <a:extLst>
              <a:ext uri="{FF2B5EF4-FFF2-40B4-BE49-F238E27FC236}">
                <a16:creationId xmlns:a16="http://schemas.microsoft.com/office/drawing/2014/main" id="{C2079F67-24F4-3582-2F8F-FB7E6056A565}"/>
              </a:ext>
            </a:extLst>
          </p:cNvPr>
          <p:cNvSpPr/>
          <p:nvPr/>
        </p:nvSpPr>
        <p:spPr>
          <a:xfrm>
            <a:off x="2657863" y="5414581"/>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5" name="直線コネクタ 234">
            <a:extLst>
              <a:ext uri="{FF2B5EF4-FFF2-40B4-BE49-F238E27FC236}">
                <a16:creationId xmlns:a16="http://schemas.microsoft.com/office/drawing/2014/main" id="{48955DFE-7B4E-3B4A-B6CC-52588C0066C0}"/>
              </a:ext>
            </a:extLst>
          </p:cNvPr>
          <p:cNvCxnSpPr>
            <a:cxnSpLocks/>
          </p:cNvCxnSpPr>
          <p:nvPr/>
        </p:nvCxnSpPr>
        <p:spPr>
          <a:xfrm>
            <a:off x="2653284" y="5604656"/>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6" name="テキスト ボックス 235">
            <a:extLst>
              <a:ext uri="{FF2B5EF4-FFF2-40B4-BE49-F238E27FC236}">
                <a16:creationId xmlns:a16="http://schemas.microsoft.com/office/drawing/2014/main" id="{3C9E900A-7278-F244-F399-886A96690441}"/>
              </a:ext>
            </a:extLst>
          </p:cNvPr>
          <p:cNvSpPr txBox="1"/>
          <p:nvPr/>
        </p:nvSpPr>
        <p:spPr>
          <a:xfrm>
            <a:off x="3226804" y="5379519"/>
            <a:ext cx="760144" cy="253916"/>
          </a:xfrm>
          <a:prstGeom prst="rect">
            <a:avLst/>
          </a:prstGeom>
          <a:noFill/>
        </p:spPr>
        <p:txBody>
          <a:bodyPr wrap="none" rtlCol="0">
            <a:spAutoFit/>
          </a:bodyPr>
          <a:lstStyle/>
          <a:p>
            <a:r>
              <a:rPr kumimoji="1" lang="ja-JP" altLang="en-US" sz="1050" dirty="0">
                <a:latin typeface="ＭＳ Ｐゴシック" panose="020B0600070205080204" pitchFamily="50" charset="-128"/>
                <a:ea typeface="ＭＳ Ｐゴシック" panose="020B0600070205080204" pitchFamily="50" charset="-128"/>
              </a:rPr>
              <a:t>アウトカム</a:t>
            </a:r>
          </a:p>
        </p:txBody>
      </p:sp>
      <p:sp>
        <p:nvSpPr>
          <p:cNvPr id="237" name="テキスト ボックス 236">
            <a:extLst>
              <a:ext uri="{FF2B5EF4-FFF2-40B4-BE49-F238E27FC236}">
                <a16:creationId xmlns:a16="http://schemas.microsoft.com/office/drawing/2014/main" id="{1E895F4A-EA8D-87F2-0E86-EC615E9BF913}"/>
              </a:ext>
            </a:extLst>
          </p:cNvPr>
          <p:cNvSpPr txBox="1"/>
          <p:nvPr/>
        </p:nvSpPr>
        <p:spPr>
          <a:xfrm>
            <a:off x="2616998" y="5600194"/>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評価</a:t>
            </a:r>
          </a:p>
        </p:txBody>
      </p:sp>
      <p:sp>
        <p:nvSpPr>
          <p:cNvPr id="239" name="ひし形 238">
            <a:extLst>
              <a:ext uri="{FF2B5EF4-FFF2-40B4-BE49-F238E27FC236}">
                <a16:creationId xmlns:a16="http://schemas.microsoft.com/office/drawing/2014/main" id="{2F74B778-5BCF-FDF0-3DBE-717E4028D599}"/>
              </a:ext>
            </a:extLst>
          </p:cNvPr>
          <p:cNvSpPr/>
          <p:nvPr/>
        </p:nvSpPr>
        <p:spPr>
          <a:xfrm rot="16200000">
            <a:off x="4513275" y="5882063"/>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0492416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56A720-A647-4EA8-A0EA-EE1D6E216952}"/>
            </a:ext>
          </a:extLst>
        </p:cNvPr>
        <p:cNvGrpSpPr/>
        <p:nvPr/>
      </p:nvGrpSpPr>
      <p:grpSpPr>
        <a:xfrm>
          <a:off x="0" y="0"/>
          <a:ext cx="0" cy="0"/>
          <a:chOff x="0" y="0"/>
          <a:chExt cx="0" cy="0"/>
        </a:xfrm>
      </p:grpSpPr>
      <p:cxnSp>
        <p:nvCxnSpPr>
          <p:cNvPr id="22" name="直線コネクタ 21">
            <a:extLst>
              <a:ext uri="{FF2B5EF4-FFF2-40B4-BE49-F238E27FC236}">
                <a16:creationId xmlns:a16="http://schemas.microsoft.com/office/drawing/2014/main" id="{40ECFE95-A18E-402F-956C-C308F352DD58}"/>
              </a:ext>
            </a:extLst>
          </p:cNvPr>
          <p:cNvCxnSpPr>
            <a:cxnSpLocks/>
          </p:cNvCxnSpPr>
          <p:nvPr/>
        </p:nvCxnSpPr>
        <p:spPr>
          <a:xfrm flipH="1">
            <a:off x="3531467" y="5240694"/>
            <a:ext cx="0" cy="231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7DC7A60-EB50-4758-6C4D-20D2CDB44848}"/>
              </a:ext>
            </a:extLst>
          </p:cNvPr>
          <p:cNvCxnSpPr>
            <a:cxnSpLocks/>
          </p:cNvCxnSpPr>
          <p:nvPr/>
        </p:nvCxnSpPr>
        <p:spPr>
          <a:xfrm flipH="1">
            <a:off x="2147445" y="1400881"/>
            <a:ext cx="801187" cy="2312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50D20ED9-1B56-BF23-162C-0B46E307690E}"/>
              </a:ext>
            </a:extLst>
          </p:cNvPr>
          <p:cNvCxnSpPr>
            <a:cxnSpLocks/>
          </p:cNvCxnSpPr>
          <p:nvPr/>
        </p:nvCxnSpPr>
        <p:spPr>
          <a:xfrm flipH="1">
            <a:off x="3529918" y="2628415"/>
            <a:ext cx="0" cy="314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88DC9E1D-5E3D-C228-6D7E-EEB7D882FD81}"/>
              </a:ext>
            </a:extLst>
          </p:cNvPr>
          <p:cNvCxnSpPr>
            <a:cxnSpLocks/>
          </p:cNvCxnSpPr>
          <p:nvPr/>
        </p:nvCxnSpPr>
        <p:spPr>
          <a:xfrm flipV="1">
            <a:off x="2111330" y="963609"/>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a:extLst>
              <a:ext uri="{FF2B5EF4-FFF2-40B4-BE49-F238E27FC236}">
                <a16:creationId xmlns:a16="http://schemas.microsoft.com/office/drawing/2014/main" id="{B1367B23-AA80-8C12-3AAE-10763F81810E}"/>
              </a:ext>
            </a:extLst>
          </p:cNvPr>
          <p:cNvCxnSpPr>
            <a:cxnSpLocks/>
          </p:cNvCxnSpPr>
          <p:nvPr/>
        </p:nvCxnSpPr>
        <p:spPr>
          <a:xfrm>
            <a:off x="3533556" y="1807675"/>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a:extLst>
              <a:ext uri="{FF2B5EF4-FFF2-40B4-BE49-F238E27FC236}">
                <a16:creationId xmlns:a16="http://schemas.microsoft.com/office/drawing/2014/main" id="{9CBCC34A-CE10-F310-9F1A-D440832EFC71}"/>
              </a:ext>
            </a:extLst>
          </p:cNvPr>
          <p:cNvCxnSpPr>
            <a:cxnSpLocks/>
            <a:stCxn id="86" idx="2"/>
          </p:cNvCxnSpPr>
          <p:nvPr/>
        </p:nvCxnSpPr>
        <p:spPr>
          <a:xfrm flipV="1">
            <a:off x="4400499" y="2280429"/>
            <a:ext cx="205259" cy="7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6" name="正方形/長方形 225">
            <a:extLst>
              <a:ext uri="{FF2B5EF4-FFF2-40B4-BE49-F238E27FC236}">
                <a16:creationId xmlns:a16="http://schemas.microsoft.com/office/drawing/2014/main" id="{9D300DBF-101B-D679-73C5-80582BF50EAA}"/>
              </a:ext>
            </a:extLst>
          </p:cNvPr>
          <p:cNvSpPr/>
          <p:nvPr/>
        </p:nvSpPr>
        <p:spPr>
          <a:xfrm>
            <a:off x="2922180" y="1989067"/>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27" name="テキスト ボックス 226">
            <a:extLst>
              <a:ext uri="{FF2B5EF4-FFF2-40B4-BE49-F238E27FC236}">
                <a16:creationId xmlns:a16="http://schemas.microsoft.com/office/drawing/2014/main" id="{AFC24AC7-0780-540B-7E58-16E6C2063935}"/>
              </a:ext>
            </a:extLst>
          </p:cNvPr>
          <p:cNvSpPr txBox="1"/>
          <p:nvPr/>
        </p:nvSpPr>
        <p:spPr>
          <a:xfrm>
            <a:off x="2953675" y="1946640"/>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28" name="正方形/長方形 227">
            <a:extLst>
              <a:ext uri="{FF2B5EF4-FFF2-40B4-BE49-F238E27FC236}">
                <a16:creationId xmlns:a16="http://schemas.microsoft.com/office/drawing/2014/main" id="{FDC3092B-0E60-4BF4-CB6A-8E1E8A12092B}"/>
              </a:ext>
            </a:extLst>
          </p:cNvPr>
          <p:cNvSpPr/>
          <p:nvPr/>
        </p:nvSpPr>
        <p:spPr>
          <a:xfrm>
            <a:off x="2942362" y="692118"/>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29" name="直線コネクタ 228">
            <a:extLst>
              <a:ext uri="{FF2B5EF4-FFF2-40B4-BE49-F238E27FC236}">
                <a16:creationId xmlns:a16="http://schemas.microsoft.com/office/drawing/2014/main" id="{57AB157A-B0F4-AC10-1478-8F74A5C03959}"/>
              </a:ext>
            </a:extLst>
          </p:cNvPr>
          <p:cNvCxnSpPr>
            <a:cxnSpLocks/>
          </p:cNvCxnSpPr>
          <p:nvPr/>
        </p:nvCxnSpPr>
        <p:spPr>
          <a:xfrm>
            <a:off x="2953675" y="841332"/>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0" name="テキスト ボックス 229">
            <a:extLst>
              <a:ext uri="{FF2B5EF4-FFF2-40B4-BE49-F238E27FC236}">
                <a16:creationId xmlns:a16="http://schemas.microsoft.com/office/drawing/2014/main" id="{85AAFE68-F71E-821A-B5EC-34A0CA4A56F5}"/>
              </a:ext>
            </a:extLst>
          </p:cNvPr>
          <p:cNvSpPr txBox="1"/>
          <p:nvPr/>
        </p:nvSpPr>
        <p:spPr>
          <a:xfrm>
            <a:off x="3065456" y="626301"/>
            <a:ext cx="1024639" cy="246221"/>
          </a:xfrm>
          <a:prstGeom prst="rect">
            <a:avLst/>
          </a:prstGeom>
          <a:noFill/>
        </p:spPr>
        <p:txBody>
          <a:bodyPr wrap="none" rtlCol="0">
            <a:spAutoFit/>
          </a:bodyPr>
          <a:lstStyle/>
          <a:p>
            <a:r>
              <a:rPr lang="en-US" altLang="ja-JP" sz="1000" dirty="0" err="1">
                <a:latin typeface="ＭＳ Ｐゴシック" panose="020B0600070205080204" pitchFamily="50" charset="-128"/>
                <a:ea typeface="ＭＳ Ｐゴシック" panose="020B0600070205080204" pitchFamily="50" charset="-128"/>
              </a:rPr>
              <a:t>ePath</a:t>
            </a:r>
            <a:r>
              <a:rPr lang="en-US" altLang="ja-JP" sz="1000" dirty="0">
                <a:latin typeface="ＭＳ Ｐゴシック" panose="020B0600070205080204" pitchFamily="50" charset="-128"/>
                <a:ea typeface="ＭＳ Ｐゴシック" panose="020B0600070205080204" pitchFamily="50" charset="-128"/>
              </a:rPr>
              <a:t> </a:t>
            </a:r>
            <a:r>
              <a:rPr lang="ja-JP" altLang="en-US" sz="900" dirty="0">
                <a:latin typeface="ＭＳ Ｐゴシック" panose="020B0600070205080204" pitchFamily="50" charset="-128"/>
                <a:ea typeface="ＭＳ Ｐゴシック" panose="020B0600070205080204" pitchFamily="50" charset="-128"/>
              </a:rPr>
              <a:t>メッセージ</a:t>
            </a:r>
            <a:endParaRPr kumimoji="1" lang="ja-JP" altLang="en-US" sz="900" dirty="0">
              <a:latin typeface="ＭＳ Ｐゴシック" panose="020B0600070205080204" pitchFamily="50" charset="-128"/>
              <a:ea typeface="ＭＳ Ｐゴシック" panose="020B0600070205080204" pitchFamily="50" charset="-128"/>
            </a:endParaRPr>
          </a:p>
        </p:txBody>
      </p:sp>
      <p:cxnSp>
        <p:nvCxnSpPr>
          <p:cNvPr id="232" name="直線コネクタ 231">
            <a:extLst>
              <a:ext uri="{FF2B5EF4-FFF2-40B4-BE49-F238E27FC236}">
                <a16:creationId xmlns:a16="http://schemas.microsoft.com/office/drawing/2014/main" id="{4968431C-7C2E-DA50-77E3-74E8053BABF2}"/>
              </a:ext>
            </a:extLst>
          </p:cNvPr>
          <p:cNvCxnSpPr>
            <a:cxnSpLocks/>
          </p:cNvCxnSpPr>
          <p:nvPr/>
        </p:nvCxnSpPr>
        <p:spPr>
          <a:xfrm flipH="1">
            <a:off x="2168630" y="1088819"/>
            <a:ext cx="764404" cy="918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3" name="正方形/長方形 232">
            <a:extLst>
              <a:ext uri="{FF2B5EF4-FFF2-40B4-BE49-F238E27FC236}">
                <a16:creationId xmlns:a16="http://schemas.microsoft.com/office/drawing/2014/main" id="{C3DA5A73-5224-1495-EA04-FB8AC762AB2A}"/>
              </a:ext>
            </a:extLst>
          </p:cNvPr>
          <p:cNvSpPr/>
          <p:nvPr/>
        </p:nvSpPr>
        <p:spPr>
          <a:xfrm>
            <a:off x="954944" y="1968231"/>
            <a:ext cx="1204177" cy="5299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0" name="テキスト ボックス 239">
            <a:extLst>
              <a:ext uri="{FF2B5EF4-FFF2-40B4-BE49-F238E27FC236}">
                <a16:creationId xmlns:a16="http://schemas.microsoft.com/office/drawing/2014/main" id="{576D2BA5-1FE4-3F75-3E95-3984D09F2D1C}"/>
              </a:ext>
            </a:extLst>
          </p:cNvPr>
          <p:cNvSpPr txBox="1"/>
          <p:nvPr/>
        </p:nvSpPr>
        <p:spPr>
          <a:xfrm>
            <a:off x="1089840" y="1903052"/>
            <a:ext cx="988166"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医療機関情報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41" name="直線コネクタ 240">
            <a:extLst>
              <a:ext uri="{FF2B5EF4-FFF2-40B4-BE49-F238E27FC236}">
                <a16:creationId xmlns:a16="http://schemas.microsoft.com/office/drawing/2014/main" id="{312168FD-8724-8C4F-E22B-AF9C826A4282}"/>
              </a:ext>
            </a:extLst>
          </p:cNvPr>
          <p:cNvCxnSpPr>
            <a:cxnSpLocks/>
          </p:cNvCxnSpPr>
          <p:nvPr/>
        </p:nvCxnSpPr>
        <p:spPr>
          <a:xfrm flipV="1">
            <a:off x="954944" y="2115907"/>
            <a:ext cx="1200197" cy="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2" name="正方形/長方形 241">
            <a:extLst>
              <a:ext uri="{FF2B5EF4-FFF2-40B4-BE49-F238E27FC236}">
                <a16:creationId xmlns:a16="http://schemas.microsoft.com/office/drawing/2014/main" id="{9EFDE1C1-CF38-D89E-62DB-9671DFEE1F7D}"/>
              </a:ext>
            </a:extLst>
          </p:cNvPr>
          <p:cNvSpPr/>
          <p:nvPr/>
        </p:nvSpPr>
        <p:spPr>
          <a:xfrm>
            <a:off x="954944" y="3649709"/>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3" name="直線コネクタ 242">
            <a:extLst>
              <a:ext uri="{FF2B5EF4-FFF2-40B4-BE49-F238E27FC236}">
                <a16:creationId xmlns:a16="http://schemas.microsoft.com/office/drawing/2014/main" id="{F615E60A-E0E9-1A4B-E49A-8D5F5729AA13}"/>
              </a:ext>
            </a:extLst>
          </p:cNvPr>
          <p:cNvCxnSpPr>
            <a:cxnSpLocks/>
          </p:cNvCxnSpPr>
          <p:nvPr/>
        </p:nvCxnSpPr>
        <p:spPr>
          <a:xfrm>
            <a:off x="944792" y="3834182"/>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テキスト ボックス 243">
            <a:extLst>
              <a:ext uri="{FF2B5EF4-FFF2-40B4-BE49-F238E27FC236}">
                <a16:creationId xmlns:a16="http://schemas.microsoft.com/office/drawing/2014/main" id="{4FE95C2A-83FF-0ED8-F186-8638761F1CCF}"/>
              </a:ext>
            </a:extLst>
          </p:cNvPr>
          <p:cNvSpPr txBox="1"/>
          <p:nvPr/>
        </p:nvSpPr>
        <p:spPr>
          <a:xfrm>
            <a:off x="989242" y="3622231"/>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D2319C15-818D-92B6-B8B4-F11E34281946}"/>
              </a:ext>
            </a:extLst>
          </p:cNvPr>
          <p:cNvSpPr txBox="1"/>
          <p:nvPr/>
        </p:nvSpPr>
        <p:spPr>
          <a:xfrm>
            <a:off x="900632" y="3805845"/>
            <a:ext cx="1176538"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退院日</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死亡有無</a:t>
            </a:r>
            <a:endParaRPr kumimoji="1"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8" name="テキスト ボックス 247">
            <a:extLst>
              <a:ext uri="{FF2B5EF4-FFF2-40B4-BE49-F238E27FC236}">
                <a16:creationId xmlns:a16="http://schemas.microsoft.com/office/drawing/2014/main" id="{3BD2E263-A965-B86C-6826-56E4EFE0D6FC}"/>
              </a:ext>
            </a:extLst>
          </p:cNvPr>
          <p:cNvSpPr txBox="1"/>
          <p:nvPr/>
        </p:nvSpPr>
        <p:spPr>
          <a:xfrm>
            <a:off x="2923082" y="2144552"/>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cxnSp>
        <p:nvCxnSpPr>
          <p:cNvPr id="60" name="直線コネクタ 59">
            <a:extLst>
              <a:ext uri="{FF2B5EF4-FFF2-40B4-BE49-F238E27FC236}">
                <a16:creationId xmlns:a16="http://schemas.microsoft.com/office/drawing/2014/main" id="{FF9DD011-2FC2-0600-0DDA-76B7610B615D}"/>
              </a:ext>
            </a:extLst>
          </p:cNvPr>
          <p:cNvCxnSpPr>
            <a:cxnSpLocks/>
          </p:cNvCxnSpPr>
          <p:nvPr/>
        </p:nvCxnSpPr>
        <p:spPr>
          <a:xfrm>
            <a:off x="2921977" y="2157594"/>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8" name="正方形/長方形 257">
            <a:extLst>
              <a:ext uri="{FF2B5EF4-FFF2-40B4-BE49-F238E27FC236}">
                <a16:creationId xmlns:a16="http://schemas.microsoft.com/office/drawing/2014/main" id="{766739FD-1A51-D164-B232-DDF2BFC89B6A}"/>
              </a:ext>
            </a:extLst>
          </p:cNvPr>
          <p:cNvSpPr/>
          <p:nvPr/>
        </p:nvSpPr>
        <p:spPr>
          <a:xfrm>
            <a:off x="914305" y="2101549"/>
            <a:ext cx="1067604" cy="369332"/>
          </a:xfrm>
          <a:prstGeom prst="rect">
            <a:avLst/>
          </a:prstGeom>
        </p:spPr>
        <p:txBody>
          <a:bodyPr wrap="square">
            <a:spAutoFit/>
          </a:bodyPr>
          <a:lstStyle/>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コード</a:t>
            </a:r>
            <a:endParaRPr kumimoji="1" lang="en-US" altLang="zh-TW"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名称</a:t>
            </a:r>
            <a:endParaRPr kumimoji="1" lang="zh-TW" altLang="en-US" sz="900" dirty="0">
              <a:latin typeface="ＭＳ Ｐゴシック" panose="020B0600070205080204" pitchFamily="50" charset="-128"/>
              <a:ea typeface="ＭＳ Ｐゴシック" panose="020B0600070205080204" pitchFamily="50" charset="-128"/>
            </a:endParaRPr>
          </a:p>
        </p:txBody>
      </p:sp>
      <p:sp>
        <p:nvSpPr>
          <p:cNvPr id="259" name="正方形/長方形 258">
            <a:extLst>
              <a:ext uri="{FF2B5EF4-FFF2-40B4-BE49-F238E27FC236}">
                <a16:creationId xmlns:a16="http://schemas.microsoft.com/office/drawing/2014/main" id="{3451C049-1CFE-1E68-6431-1598FC069401}"/>
              </a:ext>
            </a:extLst>
          </p:cNvPr>
          <p:cNvSpPr/>
          <p:nvPr/>
        </p:nvSpPr>
        <p:spPr>
          <a:xfrm>
            <a:off x="4598799" y="1766023"/>
            <a:ext cx="1215743"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66" name="直線コネクタ 265">
            <a:extLst>
              <a:ext uri="{FF2B5EF4-FFF2-40B4-BE49-F238E27FC236}">
                <a16:creationId xmlns:a16="http://schemas.microsoft.com/office/drawing/2014/main" id="{944B8509-4A8E-A9AC-9761-EB09C2D8A0DC}"/>
              </a:ext>
            </a:extLst>
          </p:cNvPr>
          <p:cNvCxnSpPr>
            <a:cxnSpLocks/>
          </p:cNvCxnSpPr>
          <p:nvPr/>
        </p:nvCxnSpPr>
        <p:spPr>
          <a:xfrm flipV="1">
            <a:off x="4603818" y="1977743"/>
            <a:ext cx="122336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正方形/長方形 266">
            <a:extLst>
              <a:ext uri="{FF2B5EF4-FFF2-40B4-BE49-F238E27FC236}">
                <a16:creationId xmlns:a16="http://schemas.microsoft.com/office/drawing/2014/main" id="{EF54DD83-4604-AEE2-569D-28E1F7F9D790}"/>
              </a:ext>
            </a:extLst>
          </p:cNvPr>
          <p:cNvSpPr/>
          <p:nvPr/>
        </p:nvSpPr>
        <p:spPr>
          <a:xfrm>
            <a:off x="954949" y="876907"/>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69" name="テキスト ボックス 68">
            <a:extLst>
              <a:ext uri="{FF2B5EF4-FFF2-40B4-BE49-F238E27FC236}">
                <a16:creationId xmlns:a16="http://schemas.microsoft.com/office/drawing/2014/main" id="{F7720891-FFC1-3220-58C5-51C763528061}"/>
              </a:ext>
            </a:extLst>
          </p:cNvPr>
          <p:cNvSpPr txBox="1"/>
          <p:nvPr/>
        </p:nvSpPr>
        <p:spPr>
          <a:xfrm>
            <a:off x="954945" y="841332"/>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72" name="直線コネクタ 71">
            <a:extLst>
              <a:ext uri="{FF2B5EF4-FFF2-40B4-BE49-F238E27FC236}">
                <a16:creationId xmlns:a16="http://schemas.microsoft.com/office/drawing/2014/main" id="{0F1A2FF2-4AEC-976D-F340-C3378110D250}"/>
              </a:ext>
            </a:extLst>
          </p:cNvPr>
          <p:cNvCxnSpPr>
            <a:cxnSpLocks/>
          </p:cNvCxnSpPr>
          <p:nvPr/>
        </p:nvCxnSpPr>
        <p:spPr>
          <a:xfrm>
            <a:off x="954945" y="1087486"/>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37673599-AA68-1B11-D634-B03C0CDE8163}"/>
              </a:ext>
            </a:extLst>
          </p:cNvPr>
          <p:cNvSpPr txBox="1"/>
          <p:nvPr/>
        </p:nvSpPr>
        <p:spPr>
          <a:xfrm>
            <a:off x="903316" y="1055299"/>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施設パスバージョン</a:t>
            </a:r>
          </a:p>
        </p:txBody>
      </p:sp>
      <p:sp>
        <p:nvSpPr>
          <p:cNvPr id="78" name="テキスト ボックス 77">
            <a:extLst>
              <a:ext uri="{FF2B5EF4-FFF2-40B4-BE49-F238E27FC236}">
                <a16:creationId xmlns:a16="http://schemas.microsoft.com/office/drawing/2014/main" id="{71C26A53-664F-5C48-C615-378D5359DDB7}"/>
              </a:ext>
            </a:extLst>
          </p:cNvPr>
          <p:cNvSpPr txBox="1"/>
          <p:nvPr/>
        </p:nvSpPr>
        <p:spPr>
          <a:xfrm>
            <a:off x="4550464" y="1959347"/>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パス中止理由</a:t>
            </a:r>
          </a:p>
        </p:txBody>
      </p:sp>
      <p:sp>
        <p:nvSpPr>
          <p:cNvPr id="79" name="正方形/長方形 78">
            <a:extLst>
              <a:ext uri="{FF2B5EF4-FFF2-40B4-BE49-F238E27FC236}">
                <a16:creationId xmlns:a16="http://schemas.microsoft.com/office/drawing/2014/main" id="{546CEB4B-C104-F0D6-92B0-EF7828A8DECC}"/>
              </a:ext>
            </a:extLst>
          </p:cNvPr>
          <p:cNvSpPr/>
          <p:nvPr/>
        </p:nvSpPr>
        <p:spPr>
          <a:xfrm>
            <a:off x="4598799" y="1740868"/>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sp>
        <p:nvSpPr>
          <p:cNvPr id="86" name="ひし形 85">
            <a:extLst>
              <a:ext uri="{FF2B5EF4-FFF2-40B4-BE49-F238E27FC236}">
                <a16:creationId xmlns:a16="http://schemas.microsoft.com/office/drawing/2014/main" id="{6325CCCB-598B-B8EC-DBD9-FD18CCE245A7}"/>
              </a:ext>
            </a:extLst>
          </p:cNvPr>
          <p:cNvSpPr/>
          <p:nvPr/>
        </p:nvSpPr>
        <p:spPr>
          <a:xfrm rot="16188860">
            <a:off x="4258294" y="219642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7" name="正方形/長方形 86">
            <a:extLst>
              <a:ext uri="{FF2B5EF4-FFF2-40B4-BE49-F238E27FC236}">
                <a16:creationId xmlns:a16="http://schemas.microsoft.com/office/drawing/2014/main" id="{D282317F-2799-6CF1-3A1B-8FBFDA793222}"/>
              </a:ext>
            </a:extLst>
          </p:cNvPr>
          <p:cNvSpPr/>
          <p:nvPr/>
        </p:nvSpPr>
        <p:spPr>
          <a:xfrm>
            <a:off x="2922233" y="2938271"/>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8" name="テキスト ボックス 87">
            <a:extLst>
              <a:ext uri="{FF2B5EF4-FFF2-40B4-BE49-F238E27FC236}">
                <a16:creationId xmlns:a16="http://schemas.microsoft.com/office/drawing/2014/main" id="{B8F36A9F-9C5F-9565-7841-58A1D4C1863D}"/>
              </a:ext>
            </a:extLst>
          </p:cNvPr>
          <p:cNvSpPr txBox="1"/>
          <p:nvPr/>
        </p:nvSpPr>
        <p:spPr>
          <a:xfrm>
            <a:off x="2953732" y="2895845"/>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89" name="テキスト ボックス 88">
            <a:extLst>
              <a:ext uri="{FF2B5EF4-FFF2-40B4-BE49-F238E27FC236}">
                <a16:creationId xmlns:a16="http://schemas.microsoft.com/office/drawing/2014/main" id="{5EC74FDD-22DE-09E4-81C2-BB2ECCAE6950}"/>
              </a:ext>
            </a:extLst>
          </p:cNvPr>
          <p:cNvSpPr txBox="1"/>
          <p:nvPr/>
        </p:nvSpPr>
        <p:spPr>
          <a:xfrm>
            <a:off x="2923135" y="3059641"/>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総合評価</a:t>
            </a:r>
          </a:p>
        </p:txBody>
      </p:sp>
      <p:cxnSp>
        <p:nvCxnSpPr>
          <p:cNvPr id="90" name="直線コネクタ 89">
            <a:extLst>
              <a:ext uri="{FF2B5EF4-FFF2-40B4-BE49-F238E27FC236}">
                <a16:creationId xmlns:a16="http://schemas.microsoft.com/office/drawing/2014/main" id="{DC0E11F8-44AC-6EEB-5F51-CE43E82DF9D0}"/>
              </a:ext>
            </a:extLst>
          </p:cNvPr>
          <p:cNvCxnSpPr>
            <a:cxnSpLocks/>
          </p:cNvCxnSpPr>
          <p:nvPr/>
        </p:nvCxnSpPr>
        <p:spPr>
          <a:xfrm>
            <a:off x="2933034" y="3107593"/>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ひし形 91">
            <a:extLst>
              <a:ext uri="{FF2B5EF4-FFF2-40B4-BE49-F238E27FC236}">
                <a16:creationId xmlns:a16="http://schemas.microsoft.com/office/drawing/2014/main" id="{CB9E8E28-E373-20AB-A710-5D20D38151CD}"/>
              </a:ext>
            </a:extLst>
          </p:cNvPr>
          <p:cNvSpPr/>
          <p:nvPr/>
        </p:nvSpPr>
        <p:spPr>
          <a:xfrm>
            <a:off x="3473750" y="256250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93" name="テキスト ボックス 92">
            <a:extLst>
              <a:ext uri="{FF2B5EF4-FFF2-40B4-BE49-F238E27FC236}">
                <a16:creationId xmlns:a16="http://schemas.microsoft.com/office/drawing/2014/main" id="{B6915BA1-4AD1-0CFB-F292-43A5DC009705}"/>
              </a:ext>
            </a:extLst>
          </p:cNvPr>
          <p:cNvSpPr txBox="1"/>
          <p:nvPr/>
        </p:nvSpPr>
        <p:spPr>
          <a:xfrm>
            <a:off x="3494159" y="270608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94" name="テキスト ボックス 93">
            <a:extLst>
              <a:ext uri="{FF2B5EF4-FFF2-40B4-BE49-F238E27FC236}">
                <a16:creationId xmlns:a16="http://schemas.microsoft.com/office/drawing/2014/main" id="{921879A9-2CD3-61BA-8CF6-3F17F4C3DE46}"/>
              </a:ext>
            </a:extLst>
          </p:cNvPr>
          <p:cNvSpPr txBox="1"/>
          <p:nvPr/>
        </p:nvSpPr>
        <p:spPr>
          <a:xfrm>
            <a:off x="3517197" y="1575448"/>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95" name="ひし形 94">
            <a:extLst>
              <a:ext uri="{FF2B5EF4-FFF2-40B4-BE49-F238E27FC236}">
                <a16:creationId xmlns:a16="http://schemas.microsoft.com/office/drawing/2014/main" id="{7BBB0634-1382-C295-7A57-D3A335C9F70B}"/>
              </a:ext>
            </a:extLst>
          </p:cNvPr>
          <p:cNvSpPr/>
          <p:nvPr/>
        </p:nvSpPr>
        <p:spPr>
          <a:xfrm>
            <a:off x="3476345" y="163025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8" name="テキスト ボックス 287">
            <a:extLst>
              <a:ext uri="{FF2B5EF4-FFF2-40B4-BE49-F238E27FC236}">
                <a16:creationId xmlns:a16="http://schemas.microsoft.com/office/drawing/2014/main" id="{1DFDE5F2-BF2A-6611-AFB6-37DAAE7E41FC}"/>
              </a:ext>
            </a:extLst>
          </p:cNvPr>
          <p:cNvSpPr txBox="1"/>
          <p:nvPr/>
        </p:nvSpPr>
        <p:spPr>
          <a:xfrm>
            <a:off x="2108755" y="832804"/>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9" name="テキスト ボックス 288">
            <a:extLst>
              <a:ext uri="{FF2B5EF4-FFF2-40B4-BE49-F238E27FC236}">
                <a16:creationId xmlns:a16="http://schemas.microsoft.com/office/drawing/2014/main" id="{393A2970-7AB2-A6A4-E151-5A174554FAD1}"/>
              </a:ext>
            </a:extLst>
          </p:cNvPr>
          <p:cNvSpPr txBox="1"/>
          <p:nvPr/>
        </p:nvSpPr>
        <p:spPr>
          <a:xfrm>
            <a:off x="2085620" y="1925509"/>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1" name="テキスト ボックス 290">
            <a:extLst>
              <a:ext uri="{FF2B5EF4-FFF2-40B4-BE49-F238E27FC236}">
                <a16:creationId xmlns:a16="http://schemas.microsoft.com/office/drawing/2014/main" id="{B0684C39-74BE-AC9F-CC6D-7D463A257431}"/>
              </a:ext>
            </a:extLst>
          </p:cNvPr>
          <p:cNvSpPr txBox="1"/>
          <p:nvPr/>
        </p:nvSpPr>
        <p:spPr>
          <a:xfrm>
            <a:off x="4413891" y="204305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4" name="テキスト ボックス 293">
            <a:extLst>
              <a:ext uri="{FF2B5EF4-FFF2-40B4-BE49-F238E27FC236}">
                <a16:creationId xmlns:a16="http://schemas.microsoft.com/office/drawing/2014/main" id="{0067931E-1C34-0991-3922-C3A575F39AC9}"/>
              </a:ext>
            </a:extLst>
          </p:cNvPr>
          <p:cNvSpPr txBox="1"/>
          <p:nvPr/>
        </p:nvSpPr>
        <p:spPr>
          <a:xfrm>
            <a:off x="2089157" y="362402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5" name="直線コネクタ 294">
            <a:extLst>
              <a:ext uri="{FF2B5EF4-FFF2-40B4-BE49-F238E27FC236}">
                <a16:creationId xmlns:a16="http://schemas.microsoft.com/office/drawing/2014/main" id="{522D9D80-770F-C6EE-971F-D07E81376ADB}"/>
              </a:ext>
            </a:extLst>
          </p:cNvPr>
          <p:cNvCxnSpPr>
            <a:cxnSpLocks/>
          </p:cNvCxnSpPr>
          <p:nvPr/>
        </p:nvCxnSpPr>
        <p:spPr>
          <a:xfrm flipH="1">
            <a:off x="4370889" y="3085163"/>
            <a:ext cx="2282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6" name="ひし形 295">
            <a:extLst>
              <a:ext uri="{FF2B5EF4-FFF2-40B4-BE49-F238E27FC236}">
                <a16:creationId xmlns:a16="http://schemas.microsoft.com/office/drawing/2014/main" id="{AD38F4EC-11EC-9089-C646-B9BEC8479385}"/>
              </a:ext>
            </a:extLst>
          </p:cNvPr>
          <p:cNvSpPr/>
          <p:nvPr/>
        </p:nvSpPr>
        <p:spPr>
          <a:xfrm rot="5400000">
            <a:off x="4265344" y="2983374"/>
            <a:ext cx="113024"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8" name="正方形/長方形 297">
            <a:extLst>
              <a:ext uri="{FF2B5EF4-FFF2-40B4-BE49-F238E27FC236}">
                <a16:creationId xmlns:a16="http://schemas.microsoft.com/office/drawing/2014/main" id="{5C77BC33-41B6-C700-60F3-91D4A3697CA9}"/>
              </a:ext>
            </a:extLst>
          </p:cNvPr>
          <p:cNvSpPr/>
          <p:nvPr/>
        </p:nvSpPr>
        <p:spPr>
          <a:xfrm>
            <a:off x="4605754" y="2940852"/>
            <a:ext cx="121117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9" name="テキスト ボックス 298">
            <a:extLst>
              <a:ext uri="{FF2B5EF4-FFF2-40B4-BE49-F238E27FC236}">
                <a16:creationId xmlns:a16="http://schemas.microsoft.com/office/drawing/2014/main" id="{55BF6EA4-F49B-8773-6659-36D0F842184B}"/>
              </a:ext>
            </a:extLst>
          </p:cNvPr>
          <p:cNvSpPr txBox="1"/>
          <p:nvPr/>
        </p:nvSpPr>
        <p:spPr>
          <a:xfrm>
            <a:off x="4635657" y="2913703"/>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304" name="直線コネクタ 303">
            <a:extLst>
              <a:ext uri="{FF2B5EF4-FFF2-40B4-BE49-F238E27FC236}">
                <a16:creationId xmlns:a16="http://schemas.microsoft.com/office/drawing/2014/main" id="{E7127A9B-7C2F-FFDA-B309-9B4D6FCC8476}"/>
              </a:ext>
            </a:extLst>
          </p:cNvPr>
          <p:cNvCxnSpPr>
            <a:cxnSpLocks/>
          </p:cNvCxnSpPr>
          <p:nvPr/>
        </p:nvCxnSpPr>
        <p:spPr>
          <a:xfrm flipV="1">
            <a:off x="4612129" y="3124519"/>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5" name="テキスト ボックス 304">
            <a:extLst>
              <a:ext uri="{FF2B5EF4-FFF2-40B4-BE49-F238E27FC236}">
                <a16:creationId xmlns:a16="http://schemas.microsoft.com/office/drawing/2014/main" id="{0976E27F-A2E6-1BC8-B72C-D09A099E914A}"/>
              </a:ext>
            </a:extLst>
          </p:cNvPr>
          <p:cNvSpPr txBox="1"/>
          <p:nvPr/>
        </p:nvSpPr>
        <p:spPr>
          <a:xfrm>
            <a:off x="4576834" y="3124523"/>
            <a:ext cx="1211174"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開始日</a:t>
            </a:r>
          </a:p>
        </p:txBody>
      </p:sp>
      <p:sp>
        <p:nvSpPr>
          <p:cNvPr id="306" name="テキスト ボックス 305">
            <a:extLst>
              <a:ext uri="{FF2B5EF4-FFF2-40B4-BE49-F238E27FC236}">
                <a16:creationId xmlns:a16="http://schemas.microsoft.com/office/drawing/2014/main" id="{5E083AD9-4B56-C7B4-9630-8A673979D5EA}"/>
              </a:ext>
            </a:extLst>
          </p:cNvPr>
          <p:cNvSpPr txBox="1"/>
          <p:nvPr/>
        </p:nvSpPr>
        <p:spPr>
          <a:xfrm>
            <a:off x="4303416" y="3056858"/>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07" name="直線コネクタ 306">
            <a:extLst>
              <a:ext uri="{FF2B5EF4-FFF2-40B4-BE49-F238E27FC236}">
                <a16:creationId xmlns:a16="http://schemas.microsoft.com/office/drawing/2014/main" id="{95527419-938B-C4B3-F798-1F088532F4A1}"/>
              </a:ext>
            </a:extLst>
          </p:cNvPr>
          <p:cNvCxnSpPr>
            <a:cxnSpLocks/>
            <a:endCxn id="308" idx="0"/>
          </p:cNvCxnSpPr>
          <p:nvPr/>
        </p:nvCxnSpPr>
        <p:spPr>
          <a:xfrm flipH="1" flipV="1">
            <a:off x="4392290" y="3801381"/>
            <a:ext cx="223014" cy="80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 name="ひし形 307">
            <a:extLst>
              <a:ext uri="{FF2B5EF4-FFF2-40B4-BE49-F238E27FC236}">
                <a16:creationId xmlns:a16="http://schemas.microsoft.com/office/drawing/2014/main" id="{3884A281-AE82-0395-3E57-AEF8CC3F2923}"/>
              </a:ext>
            </a:extLst>
          </p:cNvPr>
          <p:cNvSpPr/>
          <p:nvPr/>
        </p:nvSpPr>
        <p:spPr>
          <a:xfrm rot="7161016">
            <a:off x="4247355" y="365987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9" name="正方形/長方形 308">
            <a:extLst>
              <a:ext uri="{FF2B5EF4-FFF2-40B4-BE49-F238E27FC236}">
                <a16:creationId xmlns:a16="http://schemas.microsoft.com/office/drawing/2014/main" id="{DAFED9EE-8E28-A701-C158-BB43AE18E33D}"/>
              </a:ext>
            </a:extLst>
          </p:cNvPr>
          <p:cNvSpPr/>
          <p:nvPr/>
        </p:nvSpPr>
        <p:spPr>
          <a:xfrm>
            <a:off x="4612125" y="3817253"/>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10" name="テキスト ボックス 309">
            <a:extLst>
              <a:ext uri="{FF2B5EF4-FFF2-40B4-BE49-F238E27FC236}">
                <a16:creationId xmlns:a16="http://schemas.microsoft.com/office/drawing/2014/main" id="{800524B3-85C7-4802-14FD-EC6008FF404D}"/>
              </a:ext>
            </a:extLst>
          </p:cNvPr>
          <p:cNvSpPr txBox="1"/>
          <p:nvPr/>
        </p:nvSpPr>
        <p:spPr>
          <a:xfrm>
            <a:off x="4612713" y="3790104"/>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311" name="直線コネクタ 310">
            <a:extLst>
              <a:ext uri="{FF2B5EF4-FFF2-40B4-BE49-F238E27FC236}">
                <a16:creationId xmlns:a16="http://schemas.microsoft.com/office/drawing/2014/main" id="{D203E8DA-04A8-4E62-9D19-81406AEAF4DF}"/>
              </a:ext>
            </a:extLst>
          </p:cNvPr>
          <p:cNvCxnSpPr>
            <a:cxnSpLocks/>
          </p:cNvCxnSpPr>
          <p:nvPr/>
        </p:nvCxnSpPr>
        <p:spPr>
          <a:xfrm flipV="1">
            <a:off x="4618500" y="4000920"/>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テキスト ボックス 95">
            <a:extLst>
              <a:ext uri="{FF2B5EF4-FFF2-40B4-BE49-F238E27FC236}">
                <a16:creationId xmlns:a16="http://schemas.microsoft.com/office/drawing/2014/main" id="{6FBF7F6E-CB8D-CC5A-DFBF-63468FC7D5FC}"/>
              </a:ext>
            </a:extLst>
          </p:cNvPr>
          <p:cNvSpPr txBox="1"/>
          <p:nvPr/>
        </p:nvSpPr>
        <p:spPr>
          <a:xfrm>
            <a:off x="4583205" y="4000920"/>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101" name="テキスト ボックス 100">
            <a:extLst>
              <a:ext uri="{FF2B5EF4-FFF2-40B4-BE49-F238E27FC236}">
                <a16:creationId xmlns:a16="http://schemas.microsoft.com/office/drawing/2014/main" id="{C6E89622-DBE3-5996-A2E9-3F33360A4978}"/>
              </a:ext>
            </a:extLst>
          </p:cNvPr>
          <p:cNvSpPr txBox="1"/>
          <p:nvPr/>
        </p:nvSpPr>
        <p:spPr>
          <a:xfrm>
            <a:off x="4312336" y="384001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102" name="直線コネクタ 101">
            <a:extLst>
              <a:ext uri="{FF2B5EF4-FFF2-40B4-BE49-F238E27FC236}">
                <a16:creationId xmlns:a16="http://schemas.microsoft.com/office/drawing/2014/main" id="{DF65FC7C-D876-9EC9-D6C0-2203EFA0B286}"/>
              </a:ext>
            </a:extLst>
          </p:cNvPr>
          <p:cNvCxnSpPr>
            <a:cxnSpLocks/>
          </p:cNvCxnSpPr>
          <p:nvPr/>
        </p:nvCxnSpPr>
        <p:spPr>
          <a:xfrm>
            <a:off x="3528703" y="4227146"/>
            <a:ext cx="0" cy="442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E57D7849-EBC8-288D-459D-12EB7952D51B}"/>
              </a:ext>
            </a:extLst>
          </p:cNvPr>
          <p:cNvCxnSpPr>
            <a:cxnSpLocks/>
            <a:stCxn id="239" idx="2"/>
          </p:cNvCxnSpPr>
          <p:nvPr/>
        </p:nvCxnSpPr>
        <p:spPr>
          <a:xfrm flipV="1">
            <a:off x="4666435" y="5966363"/>
            <a:ext cx="454279" cy="1066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6110AA06-5DC1-3462-793F-27991D8DCCE6}"/>
              </a:ext>
            </a:extLst>
          </p:cNvPr>
          <p:cNvSpPr/>
          <p:nvPr/>
        </p:nvSpPr>
        <p:spPr>
          <a:xfrm>
            <a:off x="2924555" y="4594421"/>
            <a:ext cx="1295619"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11" name="テキスト ボックス 110">
            <a:extLst>
              <a:ext uri="{FF2B5EF4-FFF2-40B4-BE49-F238E27FC236}">
                <a16:creationId xmlns:a16="http://schemas.microsoft.com/office/drawing/2014/main" id="{4B5D01E8-9109-3FA8-1F70-BF749DB14304}"/>
              </a:ext>
            </a:extLst>
          </p:cNvPr>
          <p:cNvSpPr txBox="1"/>
          <p:nvPr/>
        </p:nvSpPr>
        <p:spPr>
          <a:xfrm>
            <a:off x="3055163" y="4529828"/>
            <a:ext cx="857879" cy="253916"/>
          </a:xfrm>
          <a:prstGeom prst="rect">
            <a:avLst/>
          </a:prstGeom>
          <a:noFill/>
        </p:spPr>
        <p:txBody>
          <a:bodyPr wrap="square" rtlCol="0">
            <a:spAutoFit/>
          </a:bodyPr>
          <a:lstStyle/>
          <a:p>
            <a:pPr algn="ctr"/>
            <a:r>
              <a:rPr lang="en-US" altLang="ja-JP" sz="1000" dirty="0">
                <a:latin typeface="ＭＳ Ｐゴシック" panose="020B0600070205080204" pitchFamily="50" charset="-128"/>
                <a:ea typeface="ＭＳ Ｐゴシック" panose="020B0600070205080204" pitchFamily="50" charset="-128"/>
              </a:rPr>
              <a:t>OAT</a:t>
            </a:r>
            <a:r>
              <a:rPr lang="ja-JP" altLang="en-US" sz="1000" dirty="0">
                <a:latin typeface="ＭＳ Ｐゴシック" panose="020B0600070205080204" pitchFamily="50" charset="-128"/>
                <a:ea typeface="ＭＳ Ｐゴシック" panose="020B0600070205080204" pitchFamily="50" charset="-128"/>
              </a:rPr>
              <a:t>ユニット</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112" name="直線コネクタ 111">
            <a:extLst>
              <a:ext uri="{FF2B5EF4-FFF2-40B4-BE49-F238E27FC236}">
                <a16:creationId xmlns:a16="http://schemas.microsoft.com/office/drawing/2014/main" id="{8DE6B24C-9956-CB0D-0497-A30CBA681176}"/>
              </a:ext>
            </a:extLst>
          </p:cNvPr>
          <p:cNvCxnSpPr>
            <a:cxnSpLocks/>
          </p:cNvCxnSpPr>
          <p:nvPr/>
        </p:nvCxnSpPr>
        <p:spPr>
          <a:xfrm>
            <a:off x="2924552" y="4738637"/>
            <a:ext cx="12956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正方形/長方形 115">
            <a:extLst>
              <a:ext uri="{FF2B5EF4-FFF2-40B4-BE49-F238E27FC236}">
                <a16:creationId xmlns:a16="http://schemas.microsoft.com/office/drawing/2014/main" id="{507F8E86-ED3C-5081-3C02-30856884E0A9}"/>
              </a:ext>
            </a:extLst>
          </p:cNvPr>
          <p:cNvSpPr/>
          <p:nvPr/>
        </p:nvSpPr>
        <p:spPr>
          <a:xfrm>
            <a:off x="2891595" y="4704252"/>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119" name="正方形/長方形 118">
            <a:extLst>
              <a:ext uri="{FF2B5EF4-FFF2-40B4-BE49-F238E27FC236}">
                <a16:creationId xmlns:a16="http://schemas.microsoft.com/office/drawing/2014/main" id="{396DCBF2-2C48-0A63-D2E6-3875C92EF779}"/>
              </a:ext>
            </a:extLst>
          </p:cNvPr>
          <p:cNvSpPr/>
          <p:nvPr/>
        </p:nvSpPr>
        <p:spPr>
          <a:xfrm>
            <a:off x="5135528" y="5410306"/>
            <a:ext cx="1697069" cy="14190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20" name="正方形/長方形 119">
            <a:extLst>
              <a:ext uri="{FF2B5EF4-FFF2-40B4-BE49-F238E27FC236}">
                <a16:creationId xmlns:a16="http://schemas.microsoft.com/office/drawing/2014/main" id="{487DD120-07DA-AF07-2B83-5AC54330D8E3}"/>
              </a:ext>
            </a:extLst>
          </p:cNvPr>
          <p:cNvSpPr/>
          <p:nvPr/>
        </p:nvSpPr>
        <p:spPr>
          <a:xfrm>
            <a:off x="7462696" y="5427891"/>
            <a:ext cx="1240854"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25" name="テキスト ボックス 124">
            <a:extLst>
              <a:ext uri="{FF2B5EF4-FFF2-40B4-BE49-F238E27FC236}">
                <a16:creationId xmlns:a16="http://schemas.microsoft.com/office/drawing/2014/main" id="{733548ED-ABD7-384E-BF3B-83566D91B19C}"/>
              </a:ext>
            </a:extLst>
          </p:cNvPr>
          <p:cNvSpPr txBox="1"/>
          <p:nvPr/>
        </p:nvSpPr>
        <p:spPr>
          <a:xfrm>
            <a:off x="5322091" y="5374881"/>
            <a:ext cx="1030539" cy="253916"/>
          </a:xfrm>
          <a:prstGeom prst="rect">
            <a:avLst/>
          </a:prstGeom>
          <a:noFill/>
        </p:spPr>
        <p:txBody>
          <a:bodyPr wrap="square" rtlCol="0">
            <a:spAutoFit/>
          </a:bodyPr>
          <a:lstStyle/>
          <a:p>
            <a:pPr algn="ctr"/>
            <a:r>
              <a:rPr kumimoji="1" lang="ja-JP" altLang="en-US" sz="1050" dirty="0">
                <a:latin typeface="ＭＳ Ｐゴシック" panose="020B0600070205080204" pitchFamily="50" charset="-128"/>
                <a:ea typeface="ＭＳ Ｐゴシック" panose="020B0600070205080204" pitchFamily="50" charset="-128"/>
              </a:rPr>
              <a:t>観察項目</a:t>
            </a:r>
          </a:p>
        </p:txBody>
      </p:sp>
      <p:sp>
        <p:nvSpPr>
          <p:cNvPr id="127" name="テキスト ボックス 126">
            <a:extLst>
              <a:ext uri="{FF2B5EF4-FFF2-40B4-BE49-F238E27FC236}">
                <a16:creationId xmlns:a16="http://schemas.microsoft.com/office/drawing/2014/main" id="{D0987C82-E6D1-0D2A-E6E3-5C74A2485127}"/>
              </a:ext>
            </a:extLst>
          </p:cNvPr>
          <p:cNvSpPr txBox="1"/>
          <p:nvPr/>
        </p:nvSpPr>
        <p:spPr>
          <a:xfrm>
            <a:off x="7488214" y="5379519"/>
            <a:ext cx="1184139" cy="253916"/>
          </a:xfrm>
          <a:prstGeom prst="rect">
            <a:avLst/>
          </a:prstGeom>
          <a:noFill/>
        </p:spPr>
        <p:txBody>
          <a:bodyPr wrap="square" rtlCol="0">
            <a:spAutoFit/>
          </a:bodyPr>
          <a:lstStyle/>
          <a:p>
            <a:pPr algn="ctr"/>
            <a:r>
              <a:rPr kumimoji="1" lang="ja-JP" altLang="en-US" sz="1050" dirty="0">
                <a:latin typeface="ＭＳ Ｐゴシック" panose="020B0600070205080204" pitchFamily="50" charset="-128"/>
                <a:ea typeface="ＭＳ Ｐゴシック" panose="020B0600070205080204" pitchFamily="50" charset="-128"/>
              </a:rPr>
              <a:t>タスク</a:t>
            </a:r>
          </a:p>
        </p:txBody>
      </p:sp>
      <p:sp>
        <p:nvSpPr>
          <p:cNvPr id="129" name="正方形/長方形 128">
            <a:extLst>
              <a:ext uri="{FF2B5EF4-FFF2-40B4-BE49-F238E27FC236}">
                <a16:creationId xmlns:a16="http://schemas.microsoft.com/office/drawing/2014/main" id="{F497C5F6-1085-958C-3674-41F6167CB832}"/>
              </a:ext>
            </a:extLst>
          </p:cNvPr>
          <p:cNvSpPr/>
          <p:nvPr/>
        </p:nvSpPr>
        <p:spPr>
          <a:xfrm>
            <a:off x="5090979" y="5577907"/>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130" name="テキスト ボックス 129">
            <a:extLst>
              <a:ext uri="{FF2B5EF4-FFF2-40B4-BE49-F238E27FC236}">
                <a16:creationId xmlns:a16="http://schemas.microsoft.com/office/drawing/2014/main" id="{257BCD8C-B800-5728-EB87-AFFB20AE302B}"/>
              </a:ext>
            </a:extLst>
          </p:cNvPr>
          <p:cNvSpPr txBox="1"/>
          <p:nvPr/>
        </p:nvSpPr>
        <p:spPr>
          <a:xfrm>
            <a:off x="7409968" y="5591033"/>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タスク実施</a:t>
            </a:r>
            <a: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t/>
            </a:r>
            <a:br>
              <a:rPr lang="en-US" altLang="ja-JP" sz="900" dirty="0">
                <a:solidFill>
                  <a:schemeClr val="bg1">
                    <a:lumMod val="85000"/>
                  </a:schemeClr>
                </a:solidFill>
                <a:latin typeface="ＭＳ Ｐゴシック" panose="020B0600070205080204" pitchFamily="50" charset="-128"/>
                <a:ea typeface="ＭＳ Ｐゴシック" panose="020B0600070205080204" pitchFamily="50" charset="-128"/>
              </a:rPr>
            </a:b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（実施状況・実施者）</a:t>
            </a:r>
          </a:p>
        </p:txBody>
      </p:sp>
      <p:cxnSp>
        <p:nvCxnSpPr>
          <p:cNvPr id="131" name="直線コネクタ 130">
            <a:extLst>
              <a:ext uri="{FF2B5EF4-FFF2-40B4-BE49-F238E27FC236}">
                <a16:creationId xmlns:a16="http://schemas.microsoft.com/office/drawing/2014/main" id="{E2FFF3AD-CDDD-1791-F68A-633E120FD765}"/>
              </a:ext>
            </a:extLst>
          </p:cNvPr>
          <p:cNvCxnSpPr>
            <a:cxnSpLocks/>
          </p:cNvCxnSpPr>
          <p:nvPr/>
        </p:nvCxnSpPr>
        <p:spPr>
          <a:xfrm>
            <a:off x="7463470" y="5609811"/>
            <a:ext cx="12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58A5438D-CA4D-A3B9-E09C-ED672B5643DA}"/>
              </a:ext>
            </a:extLst>
          </p:cNvPr>
          <p:cNvCxnSpPr>
            <a:cxnSpLocks/>
          </p:cNvCxnSpPr>
          <p:nvPr/>
        </p:nvCxnSpPr>
        <p:spPr>
          <a:xfrm>
            <a:off x="5135471" y="5588531"/>
            <a:ext cx="16661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線矢印コネクタ 140">
            <a:extLst>
              <a:ext uri="{FF2B5EF4-FFF2-40B4-BE49-F238E27FC236}">
                <a16:creationId xmlns:a16="http://schemas.microsoft.com/office/drawing/2014/main" id="{B4DA0448-B2FE-6106-3DD0-B29B019CC03C}"/>
              </a:ext>
            </a:extLst>
          </p:cNvPr>
          <p:cNvCxnSpPr>
            <a:cxnSpLocks/>
            <a:stCxn id="157" idx="2"/>
          </p:cNvCxnSpPr>
          <p:nvPr/>
        </p:nvCxnSpPr>
        <p:spPr>
          <a:xfrm>
            <a:off x="7023158" y="5972459"/>
            <a:ext cx="439538" cy="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2" name="テキスト ボックス 141">
            <a:extLst>
              <a:ext uri="{FF2B5EF4-FFF2-40B4-BE49-F238E27FC236}">
                <a16:creationId xmlns:a16="http://schemas.microsoft.com/office/drawing/2014/main" id="{9058A9E0-A37F-6541-A68C-7B60FF3528A4}"/>
              </a:ext>
            </a:extLst>
          </p:cNvPr>
          <p:cNvSpPr txBox="1"/>
          <p:nvPr/>
        </p:nvSpPr>
        <p:spPr>
          <a:xfrm>
            <a:off x="4790004" y="574589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43" name="テキスト ボックス 142">
            <a:extLst>
              <a:ext uri="{FF2B5EF4-FFF2-40B4-BE49-F238E27FC236}">
                <a16:creationId xmlns:a16="http://schemas.microsoft.com/office/drawing/2014/main" id="{96F3121E-EC27-D96A-05DD-3B31D2074FBA}"/>
              </a:ext>
            </a:extLst>
          </p:cNvPr>
          <p:cNvSpPr txBox="1"/>
          <p:nvPr/>
        </p:nvSpPr>
        <p:spPr>
          <a:xfrm>
            <a:off x="7131433" y="575808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53" name="ひし形 152">
            <a:extLst>
              <a:ext uri="{FF2B5EF4-FFF2-40B4-BE49-F238E27FC236}">
                <a16:creationId xmlns:a16="http://schemas.microsoft.com/office/drawing/2014/main" id="{2E081139-E9FD-BFB9-6B0C-5519C6F1089D}"/>
              </a:ext>
            </a:extLst>
          </p:cNvPr>
          <p:cNvSpPr/>
          <p:nvPr/>
        </p:nvSpPr>
        <p:spPr>
          <a:xfrm>
            <a:off x="3474256" y="508690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4" name="テキスト ボックス 153">
            <a:extLst>
              <a:ext uri="{FF2B5EF4-FFF2-40B4-BE49-F238E27FC236}">
                <a16:creationId xmlns:a16="http://schemas.microsoft.com/office/drawing/2014/main" id="{19EB7992-ABE4-4CB2-9EE0-DA19D61DDDA0}"/>
              </a:ext>
            </a:extLst>
          </p:cNvPr>
          <p:cNvSpPr txBox="1"/>
          <p:nvPr/>
        </p:nvSpPr>
        <p:spPr>
          <a:xfrm>
            <a:off x="3499800" y="5192988"/>
            <a:ext cx="230646"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55" name="ひし形 154">
            <a:extLst>
              <a:ext uri="{FF2B5EF4-FFF2-40B4-BE49-F238E27FC236}">
                <a16:creationId xmlns:a16="http://schemas.microsoft.com/office/drawing/2014/main" id="{41CD06F1-449F-7B51-0C27-406CD99029D9}"/>
              </a:ext>
            </a:extLst>
          </p:cNvPr>
          <p:cNvSpPr/>
          <p:nvPr/>
        </p:nvSpPr>
        <p:spPr>
          <a:xfrm rot="16200000">
            <a:off x="4337455" y="5892167"/>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7" name="ひし形 156">
            <a:extLst>
              <a:ext uri="{FF2B5EF4-FFF2-40B4-BE49-F238E27FC236}">
                <a16:creationId xmlns:a16="http://schemas.microsoft.com/office/drawing/2014/main" id="{44406503-81FB-EBC3-30C3-8951AC228AD8}"/>
              </a:ext>
            </a:extLst>
          </p:cNvPr>
          <p:cNvSpPr/>
          <p:nvPr/>
        </p:nvSpPr>
        <p:spPr>
          <a:xfrm rot="16200000">
            <a:off x="6869998" y="5877498"/>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0" name="ひし形 159">
            <a:extLst>
              <a:ext uri="{FF2B5EF4-FFF2-40B4-BE49-F238E27FC236}">
                <a16:creationId xmlns:a16="http://schemas.microsoft.com/office/drawing/2014/main" id="{765114EF-B545-1F34-6073-9035A9DCFD21}"/>
              </a:ext>
            </a:extLst>
          </p:cNvPr>
          <p:cNvSpPr/>
          <p:nvPr/>
        </p:nvSpPr>
        <p:spPr>
          <a:xfrm>
            <a:off x="3474256" y="417908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1" name="テキスト ボックス 160">
            <a:extLst>
              <a:ext uri="{FF2B5EF4-FFF2-40B4-BE49-F238E27FC236}">
                <a16:creationId xmlns:a16="http://schemas.microsoft.com/office/drawing/2014/main" id="{66E3F720-D195-CE05-4BAA-D1EB29C4A95F}"/>
              </a:ext>
            </a:extLst>
          </p:cNvPr>
          <p:cNvSpPr txBox="1"/>
          <p:nvPr/>
        </p:nvSpPr>
        <p:spPr>
          <a:xfrm>
            <a:off x="3493684" y="4362545"/>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162" name="直線コネクタ 161">
            <a:extLst>
              <a:ext uri="{FF2B5EF4-FFF2-40B4-BE49-F238E27FC236}">
                <a16:creationId xmlns:a16="http://schemas.microsoft.com/office/drawing/2014/main" id="{46CA5AFB-738A-E84D-4681-652B6847BB24}"/>
              </a:ext>
            </a:extLst>
          </p:cNvPr>
          <p:cNvCxnSpPr>
            <a:cxnSpLocks/>
            <a:endCxn id="167" idx="2"/>
          </p:cNvCxnSpPr>
          <p:nvPr/>
        </p:nvCxnSpPr>
        <p:spPr>
          <a:xfrm flipH="1">
            <a:off x="6419688" y="5096691"/>
            <a:ext cx="205226" cy="151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ひし形 166">
            <a:extLst>
              <a:ext uri="{FF2B5EF4-FFF2-40B4-BE49-F238E27FC236}">
                <a16:creationId xmlns:a16="http://schemas.microsoft.com/office/drawing/2014/main" id="{B98AB962-68D5-0A55-7A25-82FD5FFBB011}"/>
              </a:ext>
            </a:extLst>
          </p:cNvPr>
          <p:cNvSpPr/>
          <p:nvPr/>
        </p:nvSpPr>
        <p:spPr>
          <a:xfrm rot="13091044">
            <a:off x="6287050" y="5227770"/>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8" name="テキスト ボックス 167">
            <a:extLst>
              <a:ext uri="{FF2B5EF4-FFF2-40B4-BE49-F238E27FC236}">
                <a16:creationId xmlns:a16="http://schemas.microsoft.com/office/drawing/2014/main" id="{29D499BC-75AA-EA5B-4FEA-F23754905DD8}"/>
              </a:ext>
            </a:extLst>
          </p:cNvPr>
          <p:cNvSpPr txBox="1"/>
          <p:nvPr/>
        </p:nvSpPr>
        <p:spPr>
          <a:xfrm>
            <a:off x="5985297" y="510988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sp>
        <p:nvSpPr>
          <p:cNvPr id="231" name="テキスト ボックス 230">
            <a:extLst>
              <a:ext uri="{FF2B5EF4-FFF2-40B4-BE49-F238E27FC236}">
                <a16:creationId xmlns:a16="http://schemas.microsoft.com/office/drawing/2014/main" id="{31632E98-1AA2-D3A0-6745-DB8FAE53041E}"/>
              </a:ext>
            </a:extLst>
          </p:cNvPr>
          <p:cNvSpPr txBox="1"/>
          <p:nvPr/>
        </p:nvSpPr>
        <p:spPr>
          <a:xfrm>
            <a:off x="2949040" y="818358"/>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234" name="正方形/長方形 233">
            <a:extLst>
              <a:ext uri="{FF2B5EF4-FFF2-40B4-BE49-F238E27FC236}">
                <a16:creationId xmlns:a16="http://schemas.microsoft.com/office/drawing/2014/main" id="{C2079F67-24F4-3582-2F8F-FB7E6056A565}"/>
              </a:ext>
            </a:extLst>
          </p:cNvPr>
          <p:cNvSpPr/>
          <p:nvPr/>
        </p:nvSpPr>
        <p:spPr>
          <a:xfrm>
            <a:off x="2657863" y="5414581"/>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35" name="直線コネクタ 234">
            <a:extLst>
              <a:ext uri="{FF2B5EF4-FFF2-40B4-BE49-F238E27FC236}">
                <a16:creationId xmlns:a16="http://schemas.microsoft.com/office/drawing/2014/main" id="{48955DFE-7B4E-3B4A-B6CC-52588C0066C0}"/>
              </a:ext>
            </a:extLst>
          </p:cNvPr>
          <p:cNvCxnSpPr>
            <a:cxnSpLocks/>
          </p:cNvCxnSpPr>
          <p:nvPr/>
        </p:nvCxnSpPr>
        <p:spPr>
          <a:xfrm>
            <a:off x="2653284" y="5604656"/>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6" name="テキスト ボックス 235">
            <a:extLst>
              <a:ext uri="{FF2B5EF4-FFF2-40B4-BE49-F238E27FC236}">
                <a16:creationId xmlns:a16="http://schemas.microsoft.com/office/drawing/2014/main" id="{3C9E900A-7278-F244-F399-886A96690441}"/>
              </a:ext>
            </a:extLst>
          </p:cNvPr>
          <p:cNvSpPr txBox="1"/>
          <p:nvPr/>
        </p:nvSpPr>
        <p:spPr>
          <a:xfrm>
            <a:off x="3226804" y="5379519"/>
            <a:ext cx="760144" cy="253916"/>
          </a:xfrm>
          <a:prstGeom prst="rect">
            <a:avLst/>
          </a:prstGeom>
          <a:noFill/>
        </p:spPr>
        <p:txBody>
          <a:bodyPr wrap="none" rtlCol="0">
            <a:spAutoFit/>
          </a:bodyPr>
          <a:lstStyle/>
          <a:p>
            <a:r>
              <a:rPr kumimoji="1" lang="ja-JP" altLang="en-US" sz="1050" dirty="0">
                <a:latin typeface="ＭＳ Ｐゴシック" panose="020B0600070205080204" pitchFamily="50" charset="-128"/>
                <a:ea typeface="ＭＳ Ｐゴシック" panose="020B0600070205080204" pitchFamily="50" charset="-128"/>
              </a:rPr>
              <a:t>アウトカム</a:t>
            </a:r>
          </a:p>
        </p:txBody>
      </p:sp>
      <p:sp>
        <p:nvSpPr>
          <p:cNvPr id="237" name="テキスト ボックス 236">
            <a:extLst>
              <a:ext uri="{FF2B5EF4-FFF2-40B4-BE49-F238E27FC236}">
                <a16:creationId xmlns:a16="http://schemas.microsoft.com/office/drawing/2014/main" id="{1E895F4A-EA8D-87F2-0E86-EC615E9BF913}"/>
              </a:ext>
            </a:extLst>
          </p:cNvPr>
          <p:cNvSpPr txBox="1"/>
          <p:nvPr/>
        </p:nvSpPr>
        <p:spPr>
          <a:xfrm>
            <a:off x="2616998" y="5600194"/>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solidFill>
                  <a:schemeClr val="bg1">
                    <a:lumMod val="85000"/>
                  </a:schemeClr>
                </a:solidFill>
                <a:latin typeface="ＭＳ Ｐゴシック" panose="020B0600070205080204" pitchFamily="50" charset="-128"/>
                <a:ea typeface="ＭＳ Ｐゴシック" panose="020B0600070205080204" pitchFamily="50" charset="-128"/>
              </a:rPr>
              <a:t>評価</a:t>
            </a:r>
          </a:p>
        </p:txBody>
      </p:sp>
      <p:sp>
        <p:nvSpPr>
          <p:cNvPr id="239" name="ひし形 238">
            <a:extLst>
              <a:ext uri="{FF2B5EF4-FFF2-40B4-BE49-F238E27FC236}">
                <a16:creationId xmlns:a16="http://schemas.microsoft.com/office/drawing/2014/main" id="{2F74B778-5BCF-FDF0-3DBE-717E4028D599}"/>
              </a:ext>
            </a:extLst>
          </p:cNvPr>
          <p:cNvSpPr/>
          <p:nvPr/>
        </p:nvSpPr>
        <p:spPr>
          <a:xfrm rot="16200000">
            <a:off x="4513275" y="5882063"/>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 name="正方形/長方形 1">
            <a:extLst>
              <a:ext uri="{FF2B5EF4-FFF2-40B4-BE49-F238E27FC236}">
                <a16:creationId xmlns:a16="http://schemas.microsoft.com/office/drawing/2014/main" id="{CC9FBE7B-CC8E-E10C-0F07-EE3D30ED74DB}"/>
              </a:ext>
            </a:extLst>
          </p:cNvPr>
          <p:cNvSpPr/>
          <p:nvPr/>
        </p:nvSpPr>
        <p:spPr>
          <a:xfrm>
            <a:off x="6631812" y="2732487"/>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 name="直線コネクタ 2">
            <a:extLst>
              <a:ext uri="{FF2B5EF4-FFF2-40B4-BE49-F238E27FC236}">
                <a16:creationId xmlns:a16="http://schemas.microsoft.com/office/drawing/2014/main" id="{DB03B9F8-C79A-3625-1EAD-D26F09C2C2F1}"/>
              </a:ext>
            </a:extLst>
          </p:cNvPr>
          <p:cNvCxnSpPr>
            <a:cxnSpLocks/>
          </p:cNvCxnSpPr>
          <p:nvPr/>
        </p:nvCxnSpPr>
        <p:spPr>
          <a:xfrm>
            <a:off x="6631812" y="2927854"/>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A9497B29-7C34-9045-F1DE-58BFF4232F30}"/>
              </a:ext>
            </a:extLst>
          </p:cNvPr>
          <p:cNvSpPr/>
          <p:nvPr/>
        </p:nvSpPr>
        <p:spPr>
          <a:xfrm>
            <a:off x="6625443" y="2705287"/>
            <a:ext cx="1334947"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5" name="テキスト ボックス 4">
            <a:extLst>
              <a:ext uri="{FF2B5EF4-FFF2-40B4-BE49-F238E27FC236}">
                <a16:creationId xmlns:a16="http://schemas.microsoft.com/office/drawing/2014/main" id="{5DF87FA9-99B0-33C9-39D5-CDFC76EE9C7A}"/>
              </a:ext>
            </a:extLst>
          </p:cNvPr>
          <p:cNvSpPr txBox="1"/>
          <p:nvPr/>
        </p:nvSpPr>
        <p:spPr>
          <a:xfrm>
            <a:off x="6653573" y="2901887"/>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Tree>
    <p:extLst>
      <p:ext uri="{BB962C8B-B14F-4D97-AF65-F5344CB8AC3E}">
        <p14:creationId xmlns:p14="http://schemas.microsoft.com/office/powerpoint/2010/main" val="31510139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56A720-A647-4EA8-A0EA-EE1D6E216952}"/>
            </a:ext>
          </a:extLst>
        </p:cNvPr>
        <p:cNvGrpSpPr/>
        <p:nvPr/>
      </p:nvGrpSpPr>
      <p:grpSpPr>
        <a:xfrm>
          <a:off x="0" y="0"/>
          <a:ext cx="0" cy="0"/>
          <a:chOff x="0" y="0"/>
          <a:chExt cx="0" cy="0"/>
        </a:xfrm>
      </p:grpSpPr>
      <p:cxnSp>
        <p:nvCxnSpPr>
          <p:cNvPr id="22" name="直線コネクタ 21">
            <a:extLst>
              <a:ext uri="{FF2B5EF4-FFF2-40B4-BE49-F238E27FC236}">
                <a16:creationId xmlns:a16="http://schemas.microsoft.com/office/drawing/2014/main" id="{40ECFE95-A18E-402F-956C-C308F352DD58}"/>
              </a:ext>
            </a:extLst>
          </p:cNvPr>
          <p:cNvCxnSpPr>
            <a:cxnSpLocks/>
          </p:cNvCxnSpPr>
          <p:nvPr/>
        </p:nvCxnSpPr>
        <p:spPr>
          <a:xfrm flipH="1">
            <a:off x="3531467" y="5240694"/>
            <a:ext cx="0" cy="231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7DC7A60-EB50-4758-6C4D-20D2CDB44848}"/>
              </a:ext>
            </a:extLst>
          </p:cNvPr>
          <p:cNvCxnSpPr>
            <a:cxnSpLocks/>
          </p:cNvCxnSpPr>
          <p:nvPr/>
        </p:nvCxnSpPr>
        <p:spPr>
          <a:xfrm flipH="1">
            <a:off x="2147445" y="1400881"/>
            <a:ext cx="801187" cy="23125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50D20ED9-1B56-BF23-162C-0B46E307690E}"/>
              </a:ext>
            </a:extLst>
          </p:cNvPr>
          <p:cNvCxnSpPr>
            <a:cxnSpLocks/>
          </p:cNvCxnSpPr>
          <p:nvPr/>
        </p:nvCxnSpPr>
        <p:spPr>
          <a:xfrm flipH="1">
            <a:off x="3529918" y="2628415"/>
            <a:ext cx="0" cy="314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88DC9E1D-5E3D-C228-6D7E-EEB7D882FD81}"/>
              </a:ext>
            </a:extLst>
          </p:cNvPr>
          <p:cNvCxnSpPr>
            <a:cxnSpLocks/>
          </p:cNvCxnSpPr>
          <p:nvPr/>
        </p:nvCxnSpPr>
        <p:spPr>
          <a:xfrm flipV="1">
            <a:off x="2111330" y="963609"/>
            <a:ext cx="831032" cy="933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a:extLst>
              <a:ext uri="{FF2B5EF4-FFF2-40B4-BE49-F238E27FC236}">
                <a16:creationId xmlns:a16="http://schemas.microsoft.com/office/drawing/2014/main" id="{B1367B23-AA80-8C12-3AAE-10763F81810E}"/>
              </a:ext>
            </a:extLst>
          </p:cNvPr>
          <p:cNvCxnSpPr>
            <a:cxnSpLocks/>
          </p:cNvCxnSpPr>
          <p:nvPr/>
        </p:nvCxnSpPr>
        <p:spPr>
          <a:xfrm>
            <a:off x="3533556" y="1807675"/>
            <a:ext cx="0" cy="1523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a:extLst>
              <a:ext uri="{FF2B5EF4-FFF2-40B4-BE49-F238E27FC236}">
                <a16:creationId xmlns:a16="http://schemas.microsoft.com/office/drawing/2014/main" id="{9CBCC34A-CE10-F310-9F1A-D440832EFC71}"/>
              </a:ext>
            </a:extLst>
          </p:cNvPr>
          <p:cNvCxnSpPr>
            <a:cxnSpLocks/>
            <a:stCxn id="86" idx="2"/>
          </p:cNvCxnSpPr>
          <p:nvPr/>
        </p:nvCxnSpPr>
        <p:spPr>
          <a:xfrm flipV="1">
            <a:off x="4400499" y="2280429"/>
            <a:ext cx="205259" cy="7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6" name="正方形/長方形 225">
            <a:extLst>
              <a:ext uri="{FF2B5EF4-FFF2-40B4-BE49-F238E27FC236}">
                <a16:creationId xmlns:a16="http://schemas.microsoft.com/office/drawing/2014/main" id="{9D300DBF-101B-D679-73C5-80582BF50EAA}"/>
              </a:ext>
            </a:extLst>
          </p:cNvPr>
          <p:cNvSpPr/>
          <p:nvPr/>
        </p:nvSpPr>
        <p:spPr>
          <a:xfrm>
            <a:off x="2922180" y="1989067"/>
            <a:ext cx="1312014" cy="5712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27" name="テキスト ボックス 226">
            <a:extLst>
              <a:ext uri="{FF2B5EF4-FFF2-40B4-BE49-F238E27FC236}">
                <a16:creationId xmlns:a16="http://schemas.microsoft.com/office/drawing/2014/main" id="{AFC24AC7-0780-540B-7E58-16E6C2063935}"/>
              </a:ext>
            </a:extLst>
          </p:cNvPr>
          <p:cNvSpPr txBox="1"/>
          <p:nvPr/>
        </p:nvSpPr>
        <p:spPr>
          <a:xfrm>
            <a:off x="2953675" y="1946640"/>
            <a:ext cx="1340302"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パス適用情報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28" name="正方形/長方形 227">
            <a:extLst>
              <a:ext uri="{FF2B5EF4-FFF2-40B4-BE49-F238E27FC236}">
                <a16:creationId xmlns:a16="http://schemas.microsoft.com/office/drawing/2014/main" id="{FDC3092B-0E60-4BF4-CB6A-8E1E8A12092B}"/>
              </a:ext>
            </a:extLst>
          </p:cNvPr>
          <p:cNvSpPr/>
          <p:nvPr/>
        </p:nvSpPr>
        <p:spPr>
          <a:xfrm>
            <a:off x="2942362" y="692118"/>
            <a:ext cx="1263438" cy="9180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29" name="直線コネクタ 228">
            <a:extLst>
              <a:ext uri="{FF2B5EF4-FFF2-40B4-BE49-F238E27FC236}">
                <a16:creationId xmlns:a16="http://schemas.microsoft.com/office/drawing/2014/main" id="{57AB157A-B0F4-AC10-1478-8F74A5C03959}"/>
              </a:ext>
            </a:extLst>
          </p:cNvPr>
          <p:cNvCxnSpPr>
            <a:cxnSpLocks/>
          </p:cNvCxnSpPr>
          <p:nvPr/>
        </p:nvCxnSpPr>
        <p:spPr>
          <a:xfrm>
            <a:off x="2953675" y="841332"/>
            <a:ext cx="1252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0" name="テキスト ボックス 229">
            <a:extLst>
              <a:ext uri="{FF2B5EF4-FFF2-40B4-BE49-F238E27FC236}">
                <a16:creationId xmlns:a16="http://schemas.microsoft.com/office/drawing/2014/main" id="{85AAFE68-F71E-821A-B5EC-34A0CA4A56F5}"/>
              </a:ext>
            </a:extLst>
          </p:cNvPr>
          <p:cNvSpPr txBox="1"/>
          <p:nvPr/>
        </p:nvSpPr>
        <p:spPr>
          <a:xfrm>
            <a:off x="3065456" y="626301"/>
            <a:ext cx="1024639" cy="246221"/>
          </a:xfrm>
          <a:prstGeom prst="rect">
            <a:avLst/>
          </a:prstGeom>
          <a:noFill/>
        </p:spPr>
        <p:txBody>
          <a:bodyPr wrap="none" rtlCol="0">
            <a:spAutoFit/>
          </a:bodyPr>
          <a:lstStyle/>
          <a:p>
            <a:r>
              <a:rPr lang="en-US" altLang="ja-JP" sz="1000" dirty="0" err="1">
                <a:latin typeface="ＭＳ Ｐゴシック" panose="020B0600070205080204" pitchFamily="50" charset="-128"/>
                <a:ea typeface="ＭＳ Ｐゴシック" panose="020B0600070205080204" pitchFamily="50" charset="-128"/>
              </a:rPr>
              <a:t>ePath</a:t>
            </a:r>
            <a:r>
              <a:rPr lang="en-US" altLang="ja-JP" sz="1000" dirty="0">
                <a:latin typeface="ＭＳ Ｐゴシック" panose="020B0600070205080204" pitchFamily="50" charset="-128"/>
                <a:ea typeface="ＭＳ Ｐゴシック" panose="020B0600070205080204" pitchFamily="50" charset="-128"/>
              </a:rPr>
              <a:t> </a:t>
            </a:r>
            <a:r>
              <a:rPr lang="ja-JP" altLang="en-US" sz="900" dirty="0">
                <a:latin typeface="ＭＳ Ｐゴシック" panose="020B0600070205080204" pitchFamily="50" charset="-128"/>
                <a:ea typeface="ＭＳ Ｐゴシック" panose="020B0600070205080204" pitchFamily="50" charset="-128"/>
              </a:rPr>
              <a:t>メッセージ</a:t>
            </a:r>
            <a:endParaRPr kumimoji="1" lang="ja-JP" altLang="en-US" sz="900" dirty="0">
              <a:latin typeface="ＭＳ Ｐゴシック" panose="020B0600070205080204" pitchFamily="50" charset="-128"/>
              <a:ea typeface="ＭＳ Ｐゴシック" panose="020B0600070205080204" pitchFamily="50" charset="-128"/>
            </a:endParaRPr>
          </a:p>
        </p:txBody>
      </p:sp>
      <p:cxnSp>
        <p:nvCxnSpPr>
          <p:cNvPr id="232" name="直線コネクタ 231">
            <a:extLst>
              <a:ext uri="{FF2B5EF4-FFF2-40B4-BE49-F238E27FC236}">
                <a16:creationId xmlns:a16="http://schemas.microsoft.com/office/drawing/2014/main" id="{4968431C-7C2E-DA50-77E3-74E8053BABF2}"/>
              </a:ext>
            </a:extLst>
          </p:cNvPr>
          <p:cNvCxnSpPr>
            <a:cxnSpLocks/>
          </p:cNvCxnSpPr>
          <p:nvPr/>
        </p:nvCxnSpPr>
        <p:spPr>
          <a:xfrm flipH="1">
            <a:off x="2168630" y="1088819"/>
            <a:ext cx="764404" cy="9180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3" name="正方形/長方形 232">
            <a:extLst>
              <a:ext uri="{FF2B5EF4-FFF2-40B4-BE49-F238E27FC236}">
                <a16:creationId xmlns:a16="http://schemas.microsoft.com/office/drawing/2014/main" id="{C3DA5A73-5224-1495-EA04-FB8AC762AB2A}"/>
              </a:ext>
            </a:extLst>
          </p:cNvPr>
          <p:cNvSpPr/>
          <p:nvPr/>
        </p:nvSpPr>
        <p:spPr>
          <a:xfrm>
            <a:off x="954944" y="1968231"/>
            <a:ext cx="1204177" cy="5299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40" name="テキスト ボックス 239">
            <a:extLst>
              <a:ext uri="{FF2B5EF4-FFF2-40B4-BE49-F238E27FC236}">
                <a16:creationId xmlns:a16="http://schemas.microsoft.com/office/drawing/2014/main" id="{576D2BA5-1FE4-3F75-3E95-3984D09F2D1C}"/>
              </a:ext>
            </a:extLst>
          </p:cNvPr>
          <p:cNvSpPr txBox="1"/>
          <p:nvPr/>
        </p:nvSpPr>
        <p:spPr>
          <a:xfrm>
            <a:off x="1089840" y="1903052"/>
            <a:ext cx="988166"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医療機関情報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41" name="直線コネクタ 240">
            <a:extLst>
              <a:ext uri="{FF2B5EF4-FFF2-40B4-BE49-F238E27FC236}">
                <a16:creationId xmlns:a16="http://schemas.microsoft.com/office/drawing/2014/main" id="{312168FD-8724-8C4F-E22B-AF9C826A4282}"/>
              </a:ext>
            </a:extLst>
          </p:cNvPr>
          <p:cNvCxnSpPr>
            <a:cxnSpLocks/>
          </p:cNvCxnSpPr>
          <p:nvPr/>
        </p:nvCxnSpPr>
        <p:spPr>
          <a:xfrm flipV="1">
            <a:off x="954944" y="2115907"/>
            <a:ext cx="1200197" cy="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2" name="正方形/長方形 241">
            <a:extLst>
              <a:ext uri="{FF2B5EF4-FFF2-40B4-BE49-F238E27FC236}">
                <a16:creationId xmlns:a16="http://schemas.microsoft.com/office/drawing/2014/main" id="{9EFDE1C1-CF38-D89E-62DB-9671DFEE1F7D}"/>
              </a:ext>
            </a:extLst>
          </p:cNvPr>
          <p:cNvSpPr/>
          <p:nvPr/>
        </p:nvSpPr>
        <p:spPr>
          <a:xfrm>
            <a:off x="954944" y="3649709"/>
            <a:ext cx="1197883" cy="108892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43" name="直線コネクタ 242">
            <a:extLst>
              <a:ext uri="{FF2B5EF4-FFF2-40B4-BE49-F238E27FC236}">
                <a16:creationId xmlns:a16="http://schemas.microsoft.com/office/drawing/2014/main" id="{F615E60A-E0E9-1A4B-E49A-8D5F5729AA13}"/>
              </a:ext>
            </a:extLst>
          </p:cNvPr>
          <p:cNvCxnSpPr>
            <a:cxnSpLocks/>
          </p:cNvCxnSpPr>
          <p:nvPr/>
        </p:nvCxnSpPr>
        <p:spPr>
          <a:xfrm>
            <a:off x="944792" y="3834182"/>
            <a:ext cx="1208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テキスト ボックス 243">
            <a:extLst>
              <a:ext uri="{FF2B5EF4-FFF2-40B4-BE49-F238E27FC236}">
                <a16:creationId xmlns:a16="http://schemas.microsoft.com/office/drawing/2014/main" id="{4FE95C2A-83FF-0ED8-F186-8638761F1CCF}"/>
              </a:ext>
            </a:extLst>
          </p:cNvPr>
          <p:cNvSpPr txBox="1"/>
          <p:nvPr/>
        </p:nvSpPr>
        <p:spPr>
          <a:xfrm>
            <a:off x="989242" y="3622231"/>
            <a:ext cx="81364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入院情報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247" name="テキスト ボックス 246">
            <a:extLst>
              <a:ext uri="{FF2B5EF4-FFF2-40B4-BE49-F238E27FC236}">
                <a16:creationId xmlns:a16="http://schemas.microsoft.com/office/drawing/2014/main" id="{D2319C15-818D-92B6-B8B4-F11E34281946}"/>
              </a:ext>
            </a:extLst>
          </p:cNvPr>
          <p:cNvSpPr txBox="1"/>
          <p:nvPr/>
        </p:nvSpPr>
        <p:spPr>
          <a:xfrm>
            <a:off x="900632" y="3805845"/>
            <a:ext cx="1241382" cy="1061829"/>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診療科</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入院日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退院日</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死亡有無</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主要イベント情報</a:t>
            </a:r>
          </a:p>
          <a:p>
            <a:pPr marL="92075" indent="-92075">
              <a:buFont typeface="Arial" panose="020B0604020202020204" pitchFamily="34" charset="0"/>
              <a:buChar char="•"/>
            </a:pPr>
            <a:endParaRPr kumimoji="1" lang="ja-JP" altLang="en-US" sz="900" dirty="0">
              <a:latin typeface="ＭＳ Ｐゴシック" panose="020B0600070205080204" pitchFamily="50" charset="-128"/>
              <a:ea typeface="ＭＳ Ｐゴシック" panose="020B0600070205080204" pitchFamily="50" charset="-128"/>
            </a:endParaRPr>
          </a:p>
        </p:txBody>
      </p:sp>
      <p:sp>
        <p:nvSpPr>
          <p:cNvPr id="248" name="テキスト ボックス 247">
            <a:extLst>
              <a:ext uri="{FF2B5EF4-FFF2-40B4-BE49-F238E27FC236}">
                <a16:creationId xmlns:a16="http://schemas.microsoft.com/office/drawing/2014/main" id="{3BD2E263-A965-B86C-6826-56E4EFE0D6FC}"/>
              </a:ext>
            </a:extLst>
          </p:cNvPr>
          <p:cNvSpPr txBox="1"/>
          <p:nvPr/>
        </p:nvSpPr>
        <p:spPr>
          <a:xfrm>
            <a:off x="2923082" y="2144552"/>
            <a:ext cx="1261155"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パス適用基本情報</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病日・イベント情報</a:t>
            </a:r>
          </a:p>
        </p:txBody>
      </p:sp>
      <p:sp>
        <p:nvSpPr>
          <p:cNvPr id="250" name="正方形/長方形 249">
            <a:extLst>
              <a:ext uri="{FF2B5EF4-FFF2-40B4-BE49-F238E27FC236}">
                <a16:creationId xmlns:a16="http://schemas.microsoft.com/office/drawing/2014/main" id="{A50B5B35-46EF-14A0-2426-23644F67E720}"/>
              </a:ext>
            </a:extLst>
          </p:cNvPr>
          <p:cNvSpPr/>
          <p:nvPr/>
        </p:nvSpPr>
        <p:spPr>
          <a:xfrm>
            <a:off x="954945" y="2603682"/>
            <a:ext cx="1200196" cy="96855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52" name="テキスト ボックス 251">
            <a:extLst>
              <a:ext uri="{FF2B5EF4-FFF2-40B4-BE49-F238E27FC236}">
                <a16:creationId xmlns:a16="http://schemas.microsoft.com/office/drawing/2014/main" id="{9045D76A-5677-4F7B-0905-9CFF30B50CA8}"/>
              </a:ext>
            </a:extLst>
          </p:cNvPr>
          <p:cNvSpPr txBox="1"/>
          <p:nvPr/>
        </p:nvSpPr>
        <p:spPr>
          <a:xfrm>
            <a:off x="954945" y="2580752"/>
            <a:ext cx="973778"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患者基本情報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253" name="直線コネクタ 252">
            <a:extLst>
              <a:ext uri="{FF2B5EF4-FFF2-40B4-BE49-F238E27FC236}">
                <a16:creationId xmlns:a16="http://schemas.microsoft.com/office/drawing/2014/main" id="{D3D7999F-BEED-4495-F3C0-5427B93F465C}"/>
              </a:ext>
            </a:extLst>
          </p:cNvPr>
          <p:cNvCxnSpPr>
            <a:cxnSpLocks/>
          </p:cNvCxnSpPr>
          <p:nvPr/>
        </p:nvCxnSpPr>
        <p:spPr>
          <a:xfrm>
            <a:off x="954945" y="2817345"/>
            <a:ext cx="119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5" name="正方形/長方形 254">
            <a:extLst>
              <a:ext uri="{FF2B5EF4-FFF2-40B4-BE49-F238E27FC236}">
                <a16:creationId xmlns:a16="http://schemas.microsoft.com/office/drawing/2014/main" id="{D97FBC7C-8584-A9D3-3F14-A8BC40C3577A}"/>
              </a:ext>
            </a:extLst>
          </p:cNvPr>
          <p:cNvSpPr/>
          <p:nvPr/>
        </p:nvSpPr>
        <p:spPr>
          <a:xfrm>
            <a:off x="954949" y="2796074"/>
            <a:ext cx="968799" cy="784830"/>
          </a:xfrm>
          <a:prstGeom prst="rect">
            <a:avLst/>
          </a:prstGeom>
        </p:spPr>
        <p:txBody>
          <a:bodyPr wrap="square">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患者</a:t>
            </a:r>
            <a:r>
              <a:rPr kumimoji="1" lang="en-US" altLang="ja-JP" sz="900" dirty="0">
                <a:latin typeface="ＭＳ Ｐゴシック" panose="020B0600070205080204" pitchFamily="50" charset="-128"/>
                <a:ea typeface="ＭＳ Ｐゴシック" panose="020B0600070205080204" pitchFamily="50" charset="-128"/>
              </a:rPr>
              <a:t>ID</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関連</a:t>
            </a:r>
            <a:r>
              <a:rPr kumimoji="1" lang="en-US" altLang="ja-JP" sz="900" dirty="0">
                <a:latin typeface="ＭＳ Ｐゴシック" panose="020B0600070205080204" pitchFamily="50" charset="-128"/>
                <a:ea typeface="ＭＳ Ｐゴシック" panose="020B0600070205080204" pitchFamily="50" charset="-128"/>
              </a:rPr>
              <a:t>ID</a:t>
            </a:r>
            <a:endParaRPr kumimoji="1" lang="ja-JP" altLang="en-US"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氏名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性別</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生年月日</a:t>
            </a:r>
          </a:p>
        </p:txBody>
      </p:sp>
      <p:cxnSp>
        <p:nvCxnSpPr>
          <p:cNvPr id="60" name="直線コネクタ 59">
            <a:extLst>
              <a:ext uri="{FF2B5EF4-FFF2-40B4-BE49-F238E27FC236}">
                <a16:creationId xmlns:a16="http://schemas.microsoft.com/office/drawing/2014/main" id="{FF9DD011-2FC2-0600-0DDA-76B7610B615D}"/>
              </a:ext>
            </a:extLst>
          </p:cNvPr>
          <p:cNvCxnSpPr>
            <a:cxnSpLocks/>
          </p:cNvCxnSpPr>
          <p:nvPr/>
        </p:nvCxnSpPr>
        <p:spPr>
          <a:xfrm>
            <a:off x="2921977" y="2157594"/>
            <a:ext cx="1306677" cy="7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8" name="正方形/長方形 257">
            <a:extLst>
              <a:ext uri="{FF2B5EF4-FFF2-40B4-BE49-F238E27FC236}">
                <a16:creationId xmlns:a16="http://schemas.microsoft.com/office/drawing/2014/main" id="{766739FD-1A51-D164-B232-DDF2BFC89B6A}"/>
              </a:ext>
            </a:extLst>
          </p:cNvPr>
          <p:cNvSpPr/>
          <p:nvPr/>
        </p:nvSpPr>
        <p:spPr>
          <a:xfrm>
            <a:off x="914305" y="2101549"/>
            <a:ext cx="1067604" cy="369332"/>
          </a:xfrm>
          <a:prstGeom prst="rect">
            <a:avLst/>
          </a:prstGeom>
        </p:spPr>
        <p:txBody>
          <a:bodyPr wrap="square">
            <a:spAutoFit/>
          </a:bodyPr>
          <a:lstStyle/>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コード</a:t>
            </a:r>
            <a:endParaRPr kumimoji="1" lang="en-US" altLang="zh-TW"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zh-TW" altLang="en-US" sz="900" dirty="0">
                <a:latin typeface="ＭＳ Ｐゴシック" panose="020B0600070205080204" pitchFamily="50" charset="-128"/>
                <a:ea typeface="ＭＳ Ｐゴシック" panose="020B0600070205080204" pitchFamily="50" charset="-128"/>
              </a:rPr>
              <a:t>医療機関</a:t>
            </a:r>
            <a:r>
              <a:rPr kumimoji="1" lang="ja-JP" altLang="en-US" sz="900" dirty="0">
                <a:latin typeface="ＭＳ Ｐゴシック" panose="020B0600070205080204" pitchFamily="50" charset="-128"/>
                <a:ea typeface="ＭＳ Ｐゴシック" panose="020B0600070205080204" pitchFamily="50" charset="-128"/>
              </a:rPr>
              <a:t>名称</a:t>
            </a:r>
            <a:endParaRPr kumimoji="1" lang="zh-TW" altLang="en-US" sz="900" dirty="0">
              <a:latin typeface="ＭＳ Ｐゴシック" panose="020B0600070205080204" pitchFamily="50" charset="-128"/>
              <a:ea typeface="ＭＳ Ｐゴシック" panose="020B0600070205080204" pitchFamily="50" charset="-128"/>
            </a:endParaRPr>
          </a:p>
        </p:txBody>
      </p:sp>
      <p:sp>
        <p:nvSpPr>
          <p:cNvPr id="259" name="正方形/長方形 258">
            <a:extLst>
              <a:ext uri="{FF2B5EF4-FFF2-40B4-BE49-F238E27FC236}">
                <a16:creationId xmlns:a16="http://schemas.microsoft.com/office/drawing/2014/main" id="{3451C049-1CFE-1E68-6431-1598FC069401}"/>
              </a:ext>
            </a:extLst>
          </p:cNvPr>
          <p:cNvSpPr/>
          <p:nvPr/>
        </p:nvSpPr>
        <p:spPr>
          <a:xfrm>
            <a:off x="4598799" y="1766023"/>
            <a:ext cx="1215743" cy="111466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266" name="直線コネクタ 265">
            <a:extLst>
              <a:ext uri="{FF2B5EF4-FFF2-40B4-BE49-F238E27FC236}">
                <a16:creationId xmlns:a16="http://schemas.microsoft.com/office/drawing/2014/main" id="{944B8509-4A8E-A9AC-9761-EB09C2D8A0DC}"/>
              </a:ext>
            </a:extLst>
          </p:cNvPr>
          <p:cNvCxnSpPr>
            <a:cxnSpLocks/>
          </p:cNvCxnSpPr>
          <p:nvPr/>
        </p:nvCxnSpPr>
        <p:spPr>
          <a:xfrm flipV="1">
            <a:off x="4603818" y="1977743"/>
            <a:ext cx="1223361"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正方形/長方形 266">
            <a:extLst>
              <a:ext uri="{FF2B5EF4-FFF2-40B4-BE49-F238E27FC236}">
                <a16:creationId xmlns:a16="http://schemas.microsoft.com/office/drawing/2014/main" id="{EF54DD83-4604-AEE2-569D-28E1F7F9D790}"/>
              </a:ext>
            </a:extLst>
          </p:cNvPr>
          <p:cNvSpPr/>
          <p:nvPr/>
        </p:nvSpPr>
        <p:spPr>
          <a:xfrm>
            <a:off x="954949" y="876907"/>
            <a:ext cx="1206067" cy="10287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69" name="テキスト ボックス 68">
            <a:extLst>
              <a:ext uri="{FF2B5EF4-FFF2-40B4-BE49-F238E27FC236}">
                <a16:creationId xmlns:a16="http://schemas.microsoft.com/office/drawing/2014/main" id="{F7720891-FFC1-3220-58C5-51C763528061}"/>
              </a:ext>
            </a:extLst>
          </p:cNvPr>
          <p:cNvSpPr txBox="1"/>
          <p:nvPr/>
        </p:nvSpPr>
        <p:spPr>
          <a:xfrm>
            <a:off x="954945" y="841332"/>
            <a:ext cx="1143000"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パス識別情報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72" name="直線コネクタ 71">
            <a:extLst>
              <a:ext uri="{FF2B5EF4-FFF2-40B4-BE49-F238E27FC236}">
                <a16:creationId xmlns:a16="http://schemas.microsoft.com/office/drawing/2014/main" id="{0F1A2FF2-4AEC-976D-F340-C3378110D250}"/>
              </a:ext>
            </a:extLst>
          </p:cNvPr>
          <p:cNvCxnSpPr>
            <a:cxnSpLocks/>
          </p:cNvCxnSpPr>
          <p:nvPr/>
        </p:nvCxnSpPr>
        <p:spPr>
          <a:xfrm>
            <a:off x="954945" y="1087486"/>
            <a:ext cx="11870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37673599-AA68-1B11-D634-B03C0CDE8163}"/>
              </a:ext>
            </a:extLst>
          </p:cNvPr>
          <p:cNvSpPr txBox="1"/>
          <p:nvPr/>
        </p:nvSpPr>
        <p:spPr>
          <a:xfrm>
            <a:off x="903316" y="1055299"/>
            <a:ext cx="1364476" cy="784830"/>
          </a:xfrm>
          <a:prstGeom prst="rect">
            <a:avLst/>
          </a:prstGeom>
          <a:noFill/>
        </p:spPr>
        <p:txBody>
          <a:bodyPr wrap="non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パスコード・名称 </a:t>
            </a:r>
            <a:r>
              <a:rPr kumimoji="1" lang="en-US" altLang="ja-JP" sz="900" dirty="0">
                <a:latin typeface="ＭＳ Ｐゴシック" panose="020B0600070205080204" pitchFamily="50" charset="-128"/>
                <a:ea typeface="ＭＳ Ｐゴシック" panose="020B0600070205080204" pitchFamily="50" charset="-128"/>
              </a:rPr>
              <a:t>1..</a:t>
            </a:r>
            <a:r>
              <a:rPr kumimoji="1" lang="ja-JP" altLang="en-US" sz="900" dirty="0">
                <a:latin typeface="ＭＳ Ｐゴシック" panose="020B0600070205080204" pitchFamily="50" charset="-128"/>
                <a:ea typeface="ＭＳ Ｐゴシック" panose="020B0600070205080204" pitchFamily="50" charset="-128"/>
              </a:rPr>
              <a:t>*</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パス状態区分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代替用途種別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ひな型パスバージョン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施設パスバージョン</a:t>
            </a:r>
          </a:p>
        </p:txBody>
      </p:sp>
      <p:sp>
        <p:nvSpPr>
          <p:cNvPr id="78" name="テキスト ボックス 77">
            <a:extLst>
              <a:ext uri="{FF2B5EF4-FFF2-40B4-BE49-F238E27FC236}">
                <a16:creationId xmlns:a16="http://schemas.microsoft.com/office/drawing/2014/main" id="{71C26A53-664F-5C48-C615-378D5359DDB7}"/>
              </a:ext>
            </a:extLst>
          </p:cNvPr>
          <p:cNvSpPr txBox="1"/>
          <p:nvPr/>
        </p:nvSpPr>
        <p:spPr>
          <a:xfrm>
            <a:off x="4550464" y="1959347"/>
            <a:ext cx="1215743" cy="923330"/>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適用時パス識別子</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適応基準</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パス実施期間</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パス予定日数</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パス終了区分</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パス中止理由</a:t>
            </a:r>
          </a:p>
        </p:txBody>
      </p:sp>
      <p:sp>
        <p:nvSpPr>
          <p:cNvPr id="79" name="正方形/長方形 78">
            <a:extLst>
              <a:ext uri="{FF2B5EF4-FFF2-40B4-BE49-F238E27FC236}">
                <a16:creationId xmlns:a16="http://schemas.microsoft.com/office/drawing/2014/main" id="{546CEB4B-C104-F0D6-92B0-EF7828A8DECC}"/>
              </a:ext>
            </a:extLst>
          </p:cNvPr>
          <p:cNvSpPr/>
          <p:nvPr/>
        </p:nvSpPr>
        <p:spPr>
          <a:xfrm>
            <a:off x="4598799" y="1740868"/>
            <a:ext cx="1197764" cy="246221"/>
          </a:xfrm>
          <a:prstGeom prst="rect">
            <a:avLst/>
          </a:prstGeom>
        </p:spPr>
        <p:txBody>
          <a:bodyPr wrap="none">
            <a:spAutoFit/>
          </a:bodyPr>
          <a:lstStyle/>
          <a:p>
            <a:r>
              <a:rPr lang="ja-JP" altLang="en-US" sz="1000" dirty="0">
                <a:latin typeface="ＭＳ Ｐゴシック" panose="020B0600070205080204" pitchFamily="50" charset="-128"/>
                <a:ea typeface="ＭＳ Ｐゴシック" panose="020B0600070205080204" pitchFamily="50" charset="-128"/>
              </a:rPr>
              <a:t>パス適用基本情報</a:t>
            </a:r>
          </a:p>
        </p:txBody>
      </p:sp>
      <p:cxnSp>
        <p:nvCxnSpPr>
          <p:cNvPr id="80" name="直線コネクタ 79">
            <a:extLst>
              <a:ext uri="{FF2B5EF4-FFF2-40B4-BE49-F238E27FC236}">
                <a16:creationId xmlns:a16="http://schemas.microsoft.com/office/drawing/2014/main" id="{5B686208-280C-4CF6-F377-0DB5BCD505E6}"/>
              </a:ext>
            </a:extLst>
          </p:cNvPr>
          <p:cNvCxnSpPr>
            <a:cxnSpLocks/>
            <a:stCxn id="292" idx="3"/>
            <a:endCxn id="81" idx="0"/>
          </p:cNvCxnSpPr>
          <p:nvPr/>
        </p:nvCxnSpPr>
        <p:spPr>
          <a:xfrm flipH="1" flipV="1">
            <a:off x="4376468" y="4108664"/>
            <a:ext cx="259233" cy="10012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ひし形 80">
            <a:extLst>
              <a:ext uri="{FF2B5EF4-FFF2-40B4-BE49-F238E27FC236}">
                <a16:creationId xmlns:a16="http://schemas.microsoft.com/office/drawing/2014/main" id="{A2AC66A9-1A18-4103-A018-32C397791D36}"/>
              </a:ext>
            </a:extLst>
          </p:cNvPr>
          <p:cNvSpPr/>
          <p:nvPr/>
        </p:nvSpPr>
        <p:spPr>
          <a:xfrm rot="7959696">
            <a:off x="4244474" y="394935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2" name="正方形/長方形 81">
            <a:extLst>
              <a:ext uri="{FF2B5EF4-FFF2-40B4-BE49-F238E27FC236}">
                <a16:creationId xmlns:a16="http://schemas.microsoft.com/office/drawing/2014/main" id="{86213CB4-8ACC-F4AF-BFF4-8F5BFBC62667}"/>
              </a:ext>
            </a:extLst>
          </p:cNvPr>
          <p:cNvSpPr/>
          <p:nvPr/>
        </p:nvSpPr>
        <p:spPr>
          <a:xfrm>
            <a:off x="4620688" y="4767603"/>
            <a:ext cx="1211174" cy="6004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3" name="テキスト ボックス 82">
            <a:extLst>
              <a:ext uri="{FF2B5EF4-FFF2-40B4-BE49-F238E27FC236}">
                <a16:creationId xmlns:a16="http://schemas.microsoft.com/office/drawing/2014/main" id="{6A88D647-A25F-DB8C-CC6E-3CE96CA1D383}"/>
              </a:ext>
            </a:extLst>
          </p:cNvPr>
          <p:cNvSpPr txBox="1"/>
          <p:nvPr/>
        </p:nvSpPr>
        <p:spPr>
          <a:xfrm>
            <a:off x="4665877" y="4740454"/>
            <a:ext cx="1097114"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総合評価</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84" name="直線コネクタ 83">
            <a:extLst>
              <a:ext uri="{FF2B5EF4-FFF2-40B4-BE49-F238E27FC236}">
                <a16:creationId xmlns:a16="http://schemas.microsoft.com/office/drawing/2014/main" id="{FED9C179-C54F-C1A5-325A-314EE879680D}"/>
              </a:ext>
            </a:extLst>
          </p:cNvPr>
          <p:cNvCxnSpPr>
            <a:cxnSpLocks/>
          </p:cNvCxnSpPr>
          <p:nvPr/>
        </p:nvCxnSpPr>
        <p:spPr>
          <a:xfrm flipV="1">
            <a:off x="4627842" y="4955403"/>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テキスト ボックス 84">
            <a:extLst>
              <a:ext uri="{FF2B5EF4-FFF2-40B4-BE49-F238E27FC236}">
                <a16:creationId xmlns:a16="http://schemas.microsoft.com/office/drawing/2014/main" id="{BE242152-EB99-ABB6-5085-D1E9C2903C4D}"/>
              </a:ext>
            </a:extLst>
          </p:cNvPr>
          <p:cNvSpPr txBox="1"/>
          <p:nvPr/>
        </p:nvSpPr>
        <p:spPr>
          <a:xfrm>
            <a:off x="4591768" y="4951270"/>
            <a:ext cx="1341672" cy="369332"/>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評価（フリーテキスト ）</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記録者</a:t>
            </a:r>
          </a:p>
        </p:txBody>
      </p:sp>
      <p:sp>
        <p:nvSpPr>
          <p:cNvPr id="86" name="ひし形 85">
            <a:extLst>
              <a:ext uri="{FF2B5EF4-FFF2-40B4-BE49-F238E27FC236}">
                <a16:creationId xmlns:a16="http://schemas.microsoft.com/office/drawing/2014/main" id="{6325CCCB-598B-B8EC-DBD9-FD18CCE245A7}"/>
              </a:ext>
            </a:extLst>
          </p:cNvPr>
          <p:cNvSpPr/>
          <p:nvPr/>
        </p:nvSpPr>
        <p:spPr>
          <a:xfrm rot="16188860">
            <a:off x="4258294" y="219642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7" name="正方形/長方形 86">
            <a:extLst>
              <a:ext uri="{FF2B5EF4-FFF2-40B4-BE49-F238E27FC236}">
                <a16:creationId xmlns:a16="http://schemas.microsoft.com/office/drawing/2014/main" id="{D282317F-2799-6CF1-3A1B-8FBFDA793222}"/>
              </a:ext>
            </a:extLst>
          </p:cNvPr>
          <p:cNvSpPr/>
          <p:nvPr/>
        </p:nvSpPr>
        <p:spPr>
          <a:xfrm>
            <a:off x="2922233" y="2938271"/>
            <a:ext cx="1312014" cy="12295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88" name="テキスト ボックス 87">
            <a:extLst>
              <a:ext uri="{FF2B5EF4-FFF2-40B4-BE49-F238E27FC236}">
                <a16:creationId xmlns:a16="http://schemas.microsoft.com/office/drawing/2014/main" id="{B8F36A9F-9C5F-9565-7841-58A1D4C1863D}"/>
              </a:ext>
            </a:extLst>
          </p:cNvPr>
          <p:cNvSpPr txBox="1"/>
          <p:nvPr/>
        </p:nvSpPr>
        <p:spPr>
          <a:xfrm>
            <a:off x="2953732" y="2895845"/>
            <a:ext cx="1237177" cy="246221"/>
          </a:xfrm>
          <a:prstGeom prst="rect">
            <a:avLst/>
          </a:prstGeom>
          <a:noFill/>
        </p:spPr>
        <p:txBody>
          <a:bodyPr wrap="square" rtlCol="0">
            <a:spAutoFit/>
          </a:bodyPr>
          <a:lstStyle/>
          <a:p>
            <a:r>
              <a:rPr lang="ja-JP" altLang="en-US" sz="1000" dirty="0">
                <a:latin typeface="ＭＳ Ｐゴシック" panose="020B0600070205080204" pitchFamily="50" charset="-128"/>
                <a:ea typeface="ＭＳ Ｐゴシック" panose="020B0600070205080204" pitchFamily="50" charset="-128"/>
              </a:rPr>
              <a:t>病日・イベント情報</a:t>
            </a:r>
            <a:endParaRPr kumimoji="1" lang="ja-JP" altLang="en-US" sz="1000" dirty="0">
              <a:latin typeface="ＭＳ Ｐゴシック" panose="020B0600070205080204" pitchFamily="50" charset="-128"/>
              <a:ea typeface="ＭＳ Ｐゴシック" panose="020B0600070205080204" pitchFamily="50" charset="-128"/>
            </a:endParaRPr>
          </a:p>
        </p:txBody>
      </p:sp>
      <p:sp>
        <p:nvSpPr>
          <p:cNvPr id="89" name="テキスト ボックス 88">
            <a:extLst>
              <a:ext uri="{FF2B5EF4-FFF2-40B4-BE49-F238E27FC236}">
                <a16:creationId xmlns:a16="http://schemas.microsoft.com/office/drawing/2014/main" id="{5EC74FDD-22DE-09E4-81C2-BB2ECCAE6950}"/>
              </a:ext>
            </a:extLst>
          </p:cNvPr>
          <p:cNvSpPr txBox="1"/>
          <p:nvPr/>
        </p:nvSpPr>
        <p:spPr>
          <a:xfrm>
            <a:off x="2923135" y="3059641"/>
            <a:ext cx="1261155" cy="1061829"/>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パスステップ情報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病日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イベントコード</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イベント名</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許容経過日数条件</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総合評価</a:t>
            </a:r>
          </a:p>
        </p:txBody>
      </p:sp>
      <p:cxnSp>
        <p:nvCxnSpPr>
          <p:cNvPr id="90" name="直線コネクタ 89">
            <a:extLst>
              <a:ext uri="{FF2B5EF4-FFF2-40B4-BE49-F238E27FC236}">
                <a16:creationId xmlns:a16="http://schemas.microsoft.com/office/drawing/2014/main" id="{DC0E11F8-44AC-6EEB-5F51-CE43E82DF9D0}"/>
              </a:ext>
            </a:extLst>
          </p:cNvPr>
          <p:cNvCxnSpPr>
            <a:cxnSpLocks/>
          </p:cNvCxnSpPr>
          <p:nvPr/>
        </p:nvCxnSpPr>
        <p:spPr>
          <a:xfrm>
            <a:off x="2933034" y="3107593"/>
            <a:ext cx="12956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A645EC96-A1F7-721E-A219-C7914EE1B315}"/>
              </a:ext>
            </a:extLst>
          </p:cNvPr>
          <p:cNvCxnSpPr>
            <a:cxnSpLocks/>
            <a:stCxn id="231" idx="1"/>
          </p:cNvCxnSpPr>
          <p:nvPr/>
        </p:nvCxnSpPr>
        <p:spPr>
          <a:xfrm flipH="1">
            <a:off x="2145793" y="1210773"/>
            <a:ext cx="803247" cy="14571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ひし形 91">
            <a:extLst>
              <a:ext uri="{FF2B5EF4-FFF2-40B4-BE49-F238E27FC236}">
                <a16:creationId xmlns:a16="http://schemas.microsoft.com/office/drawing/2014/main" id="{CB9E8E28-E373-20AB-A710-5D20D38151CD}"/>
              </a:ext>
            </a:extLst>
          </p:cNvPr>
          <p:cNvSpPr/>
          <p:nvPr/>
        </p:nvSpPr>
        <p:spPr>
          <a:xfrm>
            <a:off x="3473750" y="256250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93" name="テキスト ボックス 92">
            <a:extLst>
              <a:ext uri="{FF2B5EF4-FFF2-40B4-BE49-F238E27FC236}">
                <a16:creationId xmlns:a16="http://schemas.microsoft.com/office/drawing/2014/main" id="{B6915BA1-4AD1-0CFB-F292-43A5DC009705}"/>
              </a:ext>
            </a:extLst>
          </p:cNvPr>
          <p:cNvSpPr txBox="1"/>
          <p:nvPr/>
        </p:nvSpPr>
        <p:spPr>
          <a:xfrm>
            <a:off x="3494159" y="270608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94" name="テキスト ボックス 93">
            <a:extLst>
              <a:ext uri="{FF2B5EF4-FFF2-40B4-BE49-F238E27FC236}">
                <a16:creationId xmlns:a16="http://schemas.microsoft.com/office/drawing/2014/main" id="{921879A9-2CD3-61BA-8CF6-3F17F4C3DE46}"/>
              </a:ext>
            </a:extLst>
          </p:cNvPr>
          <p:cNvSpPr txBox="1"/>
          <p:nvPr/>
        </p:nvSpPr>
        <p:spPr>
          <a:xfrm>
            <a:off x="3517197" y="1575448"/>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95" name="ひし形 94">
            <a:extLst>
              <a:ext uri="{FF2B5EF4-FFF2-40B4-BE49-F238E27FC236}">
                <a16:creationId xmlns:a16="http://schemas.microsoft.com/office/drawing/2014/main" id="{7BBB0634-1382-C295-7A57-D3A335C9F70B}"/>
              </a:ext>
            </a:extLst>
          </p:cNvPr>
          <p:cNvSpPr/>
          <p:nvPr/>
        </p:nvSpPr>
        <p:spPr>
          <a:xfrm>
            <a:off x="3476345" y="163025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88" name="テキスト ボックス 287">
            <a:extLst>
              <a:ext uri="{FF2B5EF4-FFF2-40B4-BE49-F238E27FC236}">
                <a16:creationId xmlns:a16="http://schemas.microsoft.com/office/drawing/2014/main" id="{1DFDE5F2-BF2A-6611-AFB6-37DAAE7E41FC}"/>
              </a:ext>
            </a:extLst>
          </p:cNvPr>
          <p:cNvSpPr txBox="1"/>
          <p:nvPr/>
        </p:nvSpPr>
        <p:spPr>
          <a:xfrm>
            <a:off x="2108755" y="832804"/>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89" name="テキスト ボックス 288">
            <a:extLst>
              <a:ext uri="{FF2B5EF4-FFF2-40B4-BE49-F238E27FC236}">
                <a16:creationId xmlns:a16="http://schemas.microsoft.com/office/drawing/2014/main" id="{393A2970-7AB2-A6A4-E151-5A174554FAD1}"/>
              </a:ext>
            </a:extLst>
          </p:cNvPr>
          <p:cNvSpPr txBox="1"/>
          <p:nvPr/>
        </p:nvSpPr>
        <p:spPr>
          <a:xfrm>
            <a:off x="2085620" y="1925509"/>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0" name="テキスト ボックス 289">
            <a:extLst>
              <a:ext uri="{FF2B5EF4-FFF2-40B4-BE49-F238E27FC236}">
                <a16:creationId xmlns:a16="http://schemas.microsoft.com/office/drawing/2014/main" id="{682CBCC5-B39F-7976-A7CB-9DF3A827968E}"/>
              </a:ext>
            </a:extLst>
          </p:cNvPr>
          <p:cNvSpPr txBox="1"/>
          <p:nvPr/>
        </p:nvSpPr>
        <p:spPr>
          <a:xfrm>
            <a:off x="2085620" y="2557728"/>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1" name="テキスト ボックス 290">
            <a:extLst>
              <a:ext uri="{FF2B5EF4-FFF2-40B4-BE49-F238E27FC236}">
                <a16:creationId xmlns:a16="http://schemas.microsoft.com/office/drawing/2014/main" id="{B0684C39-74BE-AC9F-CC6D-7D463A257431}"/>
              </a:ext>
            </a:extLst>
          </p:cNvPr>
          <p:cNvSpPr txBox="1"/>
          <p:nvPr/>
        </p:nvSpPr>
        <p:spPr>
          <a:xfrm>
            <a:off x="4413891" y="2043055"/>
            <a:ext cx="25519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p>
        </p:txBody>
      </p:sp>
      <p:sp>
        <p:nvSpPr>
          <p:cNvPr id="292" name="テキスト ボックス 291">
            <a:extLst>
              <a:ext uri="{FF2B5EF4-FFF2-40B4-BE49-F238E27FC236}">
                <a16:creationId xmlns:a16="http://schemas.microsoft.com/office/drawing/2014/main" id="{60ADC2C9-08BB-B603-70CD-7F1A26FA5F71}"/>
              </a:ext>
            </a:extLst>
          </p:cNvPr>
          <p:cNvSpPr txBox="1"/>
          <p:nvPr/>
        </p:nvSpPr>
        <p:spPr>
          <a:xfrm>
            <a:off x="4252263" y="497906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294" name="テキスト ボックス 293">
            <a:extLst>
              <a:ext uri="{FF2B5EF4-FFF2-40B4-BE49-F238E27FC236}">
                <a16:creationId xmlns:a16="http://schemas.microsoft.com/office/drawing/2014/main" id="{0067931E-1C34-0991-3922-C3A575F39AC9}"/>
              </a:ext>
            </a:extLst>
          </p:cNvPr>
          <p:cNvSpPr txBox="1"/>
          <p:nvPr/>
        </p:nvSpPr>
        <p:spPr>
          <a:xfrm>
            <a:off x="2089157" y="3624027"/>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295" name="直線コネクタ 294">
            <a:extLst>
              <a:ext uri="{FF2B5EF4-FFF2-40B4-BE49-F238E27FC236}">
                <a16:creationId xmlns:a16="http://schemas.microsoft.com/office/drawing/2014/main" id="{522D9D80-770F-C6EE-971F-D07E81376ADB}"/>
              </a:ext>
            </a:extLst>
          </p:cNvPr>
          <p:cNvCxnSpPr>
            <a:cxnSpLocks/>
          </p:cNvCxnSpPr>
          <p:nvPr/>
        </p:nvCxnSpPr>
        <p:spPr>
          <a:xfrm flipH="1">
            <a:off x="4370889" y="3085163"/>
            <a:ext cx="2282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6" name="ひし形 295">
            <a:extLst>
              <a:ext uri="{FF2B5EF4-FFF2-40B4-BE49-F238E27FC236}">
                <a16:creationId xmlns:a16="http://schemas.microsoft.com/office/drawing/2014/main" id="{AD38F4EC-11EC-9089-C646-B9BEC8479385}"/>
              </a:ext>
            </a:extLst>
          </p:cNvPr>
          <p:cNvSpPr/>
          <p:nvPr/>
        </p:nvSpPr>
        <p:spPr>
          <a:xfrm rot="5400000">
            <a:off x="4265344" y="2983374"/>
            <a:ext cx="113024"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8" name="正方形/長方形 297">
            <a:extLst>
              <a:ext uri="{FF2B5EF4-FFF2-40B4-BE49-F238E27FC236}">
                <a16:creationId xmlns:a16="http://schemas.microsoft.com/office/drawing/2014/main" id="{5C77BC33-41B6-C700-60F3-91D4A3697CA9}"/>
              </a:ext>
            </a:extLst>
          </p:cNvPr>
          <p:cNvSpPr/>
          <p:nvPr/>
        </p:nvSpPr>
        <p:spPr>
          <a:xfrm>
            <a:off x="4605754" y="2940852"/>
            <a:ext cx="1211174" cy="81674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299" name="テキスト ボックス 298">
            <a:extLst>
              <a:ext uri="{FF2B5EF4-FFF2-40B4-BE49-F238E27FC236}">
                <a16:creationId xmlns:a16="http://schemas.microsoft.com/office/drawing/2014/main" id="{55BF6EA4-F49B-8773-6659-36D0F842184B}"/>
              </a:ext>
            </a:extLst>
          </p:cNvPr>
          <p:cNvSpPr txBox="1"/>
          <p:nvPr/>
        </p:nvSpPr>
        <p:spPr>
          <a:xfrm>
            <a:off x="4635657" y="2913703"/>
            <a:ext cx="1115680"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パスステップ情報</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304" name="直線コネクタ 303">
            <a:extLst>
              <a:ext uri="{FF2B5EF4-FFF2-40B4-BE49-F238E27FC236}">
                <a16:creationId xmlns:a16="http://schemas.microsoft.com/office/drawing/2014/main" id="{E7127A9B-7C2F-FFDA-B309-9B4D6FCC8476}"/>
              </a:ext>
            </a:extLst>
          </p:cNvPr>
          <p:cNvCxnSpPr>
            <a:cxnSpLocks/>
          </p:cNvCxnSpPr>
          <p:nvPr/>
        </p:nvCxnSpPr>
        <p:spPr>
          <a:xfrm flipV="1">
            <a:off x="4612129" y="3124519"/>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5" name="テキスト ボックス 304">
            <a:extLst>
              <a:ext uri="{FF2B5EF4-FFF2-40B4-BE49-F238E27FC236}">
                <a16:creationId xmlns:a16="http://schemas.microsoft.com/office/drawing/2014/main" id="{0976E27F-A2E6-1BC8-B72C-D09A099E914A}"/>
              </a:ext>
            </a:extLst>
          </p:cNvPr>
          <p:cNvSpPr txBox="1"/>
          <p:nvPr/>
        </p:nvSpPr>
        <p:spPr>
          <a:xfrm>
            <a:off x="4576834" y="3124523"/>
            <a:ext cx="1211174" cy="646331"/>
          </a:xfrm>
          <a:prstGeom prst="rect">
            <a:avLst/>
          </a:prstGeom>
          <a:noFill/>
        </p:spPr>
        <p:txBody>
          <a:bodyPr wrap="square" rtlCol="0">
            <a:spAutoFit/>
          </a:bodyPr>
          <a:lstStyle/>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ステップ回数目</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ステップ名</a:t>
            </a: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入外区分</a:t>
            </a:r>
            <a:endParaRPr kumimoji="1"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kumimoji="1" lang="ja-JP" altLang="en-US" sz="900" dirty="0">
                <a:latin typeface="ＭＳ Ｐゴシック" panose="020B0600070205080204" pitchFamily="50" charset="-128"/>
                <a:ea typeface="ＭＳ Ｐゴシック" panose="020B0600070205080204" pitchFamily="50" charset="-128"/>
              </a:rPr>
              <a:t>開始日</a:t>
            </a:r>
          </a:p>
        </p:txBody>
      </p:sp>
      <p:sp>
        <p:nvSpPr>
          <p:cNvPr id="306" name="テキスト ボックス 305">
            <a:extLst>
              <a:ext uri="{FF2B5EF4-FFF2-40B4-BE49-F238E27FC236}">
                <a16:creationId xmlns:a16="http://schemas.microsoft.com/office/drawing/2014/main" id="{5E083AD9-4B56-C7B4-9630-8A673979D5EA}"/>
              </a:ext>
            </a:extLst>
          </p:cNvPr>
          <p:cNvSpPr txBox="1"/>
          <p:nvPr/>
        </p:nvSpPr>
        <p:spPr>
          <a:xfrm>
            <a:off x="4295601" y="3056858"/>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307" name="直線コネクタ 306">
            <a:extLst>
              <a:ext uri="{FF2B5EF4-FFF2-40B4-BE49-F238E27FC236}">
                <a16:creationId xmlns:a16="http://schemas.microsoft.com/office/drawing/2014/main" id="{95527419-938B-C4B3-F798-1F088532F4A1}"/>
              </a:ext>
            </a:extLst>
          </p:cNvPr>
          <p:cNvCxnSpPr>
            <a:cxnSpLocks/>
            <a:endCxn id="308" idx="0"/>
          </p:cNvCxnSpPr>
          <p:nvPr/>
        </p:nvCxnSpPr>
        <p:spPr>
          <a:xfrm flipH="1" flipV="1">
            <a:off x="4392290" y="3801381"/>
            <a:ext cx="223014" cy="80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8" name="ひし形 307">
            <a:extLst>
              <a:ext uri="{FF2B5EF4-FFF2-40B4-BE49-F238E27FC236}">
                <a16:creationId xmlns:a16="http://schemas.microsoft.com/office/drawing/2014/main" id="{3884A281-AE82-0395-3E57-AEF8CC3F2923}"/>
              </a:ext>
            </a:extLst>
          </p:cNvPr>
          <p:cNvSpPr/>
          <p:nvPr/>
        </p:nvSpPr>
        <p:spPr>
          <a:xfrm rot="7161016">
            <a:off x="4247355" y="3659871"/>
            <a:ext cx="124326"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09" name="正方形/長方形 308">
            <a:extLst>
              <a:ext uri="{FF2B5EF4-FFF2-40B4-BE49-F238E27FC236}">
                <a16:creationId xmlns:a16="http://schemas.microsoft.com/office/drawing/2014/main" id="{DAFED9EE-8E28-A701-C158-BB43AE18E33D}"/>
              </a:ext>
            </a:extLst>
          </p:cNvPr>
          <p:cNvSpPr/>
          <p:nvPr/>
        </p:nvSpPr>
        <p:spPr>
          <a:xfrm>
            <a:off x="4612125" y="3817253"/>
            <a:ext cx="1211174" cy="8497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310" name="テキスト ボックス 309">
            <a:extLst>
              <a:ext uri="{FF2B5EF4-FFF2-40B4-BE49-F238E27FC236}">
                <a16:creationId xmlns:a16="http://schemas.microsoft.com/office/drawing/2014/main" id="{800524B3-85C7-4802-14FD-EC6008FF404D}"/>
              </a:ext>
            </a:extLst>
          </p:cNvPr>
          <p:cNvSpPr txBox="1"/>
          <p:nvPr/>
        </p:nvSpPr>
        <p:spPr>
          <a:xfrm>
            <a:off x="4612713" y="3790104"/>
            <a:ext cx="1219087" cy="246221"/>
          </a:xfrm>
          <a:prstGeom prst="rect">
            <a:avLst/>
          </a:prstGeom>
          <a:noFill/>
        </p:spPr>
        <p:txBody>
          <a:bodyPr wrap="square" rtlCol="0">
            <a:spAutoFit/>
          </a:bodyPr>
          <a:lstStyle/>
          <a:p>
            <a:pPr algn="ctr"/>
            <a:r>
              <a:rPr lang="ja-JP" altLang="en-US" sz="1000" dirty="0">
                <a:latin typeface="ＭＳ Ｐゴシック" panose="020B0600070205080204" pitchFamily="50" charset="-128"/>
                <a:ea typeface="ＭＳ Ｐゴシック" panose="020B0600070205080204" pitchFamily="50" charset="-128"/>
              </a:rPr>
              <a:t>許容経過日数条件</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311" name="直線コネクタ 310">
            <a:extLst>
              <a:ext uri="{FF2B5EF4-FFF2-40B4-BE49-F238E27FC236}">
                <a16:creationId xmlns:a16="http://schemas.microsoft.com/office/drawing/2014/main" id="{D203E8DA-04A8-4E62-9D19-81406AEAF4DF}"/>
              </a:ext>
            </a:extLst>
          </p:cNvPr>
          <p:cNvCxnSpPr>
            <a:cxnSpLocks/>
          </p:cNvCxnSpPr>
          <p:nvPr/>
        </p:nvCxnSpPr>
        <p:spPr>
          <a:xfrm flipV="1">
            <a:off x="4618500" y="4000920"/>
            <a:ext cx="12048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テキスト ボックス 95">
            <a:extLst>
              <a:ext uri="{FF2B5EF4-FFF2-40B4-BE49-F238E27FC236}">
                <a16:creationId xmlns:a16="http://schemas.microsoft.com/office/drawing/2014/main" id="{6FBF7F6E-CB8D-CC5A-DFBF-63468FC7D5FC}"/>
              </a:ext>
            </a:extLst>
          </p:cNvPr>
          <p:cNvSpPr txBox="1"/>
          <p:nvPr/>
        </p:nvSpPr>
        <p:spPr>
          <a:xfrm>
            <a:off x="4583205" y="4000920"/>
            <a:ext cx="1139344" cy="646331"/>
          </a:xfrm>
          <a:prstGeom prst="rect">
            <a:avLst/>
          </a:prstGeom>
          <a:noFill/>
        </p:spPr>
        <p:txBody>
          <a:bodyPr wrap="square" rtlCol="0">
            <a:spAutoFit/>
          </a:bodyPr>
          <a:lstStyle/>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起点日種別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指定起点病日</a:t>
            </a:r>
            <a:endParaRPr lang="en-US" altLang="ja-JP" sz="900" dirty="0">
              <a:latin typeface="ＭＳ Ｐゴシック" panose="020B0600070205080204" pitchFamily="50" charset="-128"/>
              <a:ea typeface="ＭＳ Ｐゴシック" panose="020B0600070205080204" pitchFamily="50" charset="-128"/>
            </a:endParaRP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指定起点日</a:t>
            </a:r>
          </a:p>
          <a:p>
            <a:pPr marL="92075" indent="-92075">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許容日数期間</a:t>
            </a:r>
          </a:p>
        </p:txBody>
      </p:sp>
      <p:sp>
        <p:nvSpPr>
          <p:cNvPr id="101" name="テキスト ボックス 100">
            <a:extLst>
              <a:ext uri="{FF2B5EF4-FFF2-40B4-BE49-F238E27FC236}">
                <a16:creationId xmlns:a16="http://schemas.microsoft.com/office/drawing/2014/main" id="{C6E89622-DBE3-5996-A2E9-3F33360A4978}"/>
              </a:ext>
            </a:extLst>
          </p:cNvPr>
          <p:cNvSpPr txBox="1"/>
          <p:nvPr/>
        </p:nvSpPr>
        <p:spPr>
          <a:xfrm>
            <a:off x="4312336" y="384001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102" name="直線コネクタ 101">
            <a:extLst>
              <a:ext uri="{FF2B5EF4-FFF2-40B4-BE49-F238E27FC236}">
                <a16:creationId xmlns:a16="http://schemas.microsoft.com/office/drawing/2014/main" id="{DF65FC7C-D876-9EC9-D6C0-2203EFA0B286}"/>
              </a:ext>
            </a:extLst>
          </p:cNvPr>
          <p:cNvCxnSpPr>
            <a:cxnSpLocks/>
          </p:cNvCxnSpPr>
          <p:nvPr/>
        </p:nvCxnSpPr>
        <p:spPr>
          <a:xfrm>
            <a:off x="3528703" y="4227146"/>
            <a:ext cx="0" cy="442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E57D7849-EBC8-288D-459D-12EB7952D51B}"/>
              </a:ext>
            </a:extLst>
          </p:cNvPr>
          <p:cNvCxnSpPr>
            <a:cxnSpLocks/>
            <a:stCxn id="155" idx="2"/>
          </p:cNvCxnSpPr>
          <p:nvPr/>
        </p:nvCxnSpPr>
        <p:spPr>
          <a:xfrm flipV="1">
            <a:off x="4671796" y="6007646"/>
            <a:ext cx="910817" cy="299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A99515D9-5488-93D5-C0CE-DE4B38241A92}"/>
              </a:ext>
            </a:extLst>
          </p:cNvPr>
          <p:cNvCxnSpPr>
            <a:cxnSpLocks/>
            <a:endCxn id="156" idx="0"/>
          </p:cNvCxnSpPr>
          <p:nvPr/>
        </p:nvCxnSpPr>
        <p:spPr>
          <a:xfrm flipV="1">
            <a:off x="5985297" y="7024925"/>
            <a:ext cx="0" cy="3205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711BA04D-A4D1-D4CC-6077-87DF6136362E}"/>
              </a:ext>
            </a:extLst>
          </p:cNvPr>
          <p:cNvCxnSpPr>
            <a:cxnSpLocks/>
            <a:stCxn id="148" idx="0"/>
            <a:endCxn id="152" idx="0"/>
          </p:cNvCxnSpPr>
          <p:nvPr/>
        </p:nvCxnSpPr>
        <p:spPr>
          <a:xfrm flipH="1" flipV="1">
            <a:off x="3543144" y="7203279"/>
            <a:ext cx="0" cy="1455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6110AA06-5DC1-3462-793F-27991D8DCCE6}"/>
              </a:ext>
            </a:extLst>
          </p:cNvPr>
          <p:cNvSpPr/>
          <p:nvPr/>
        </p:nvSpPr>
        <p:spPr>
          <a:xfrm>
            <a:off x="2924555" y="4594421"/>
            <a:ext cx="1295619" cy="5022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11" name="テキスト ボックス 110">
            <a:extLst>
              <a:ext uri="{FF2B5EF4-FFF2-40B4-BE49-F238E27FC236}">
                <a16:creationId xmlns:a16="http://schemas.microsoft.com/office/drawing/2014/main" id="{4B5D01E8-9109-3FA8-1F70-BF749DB14304}"/>
              </a:ext>
            </a:extLst>
          </p:cNvPr>
          <p:cNvSpPr txBox="1"/>
          <p:nvPr/>
        </p:nvSpPr>
        <p:spPr>
          <a:xfrm>
            <a:off x="3055163" y="4529828"/>
            <a:ext cx="857879" cy="253916"/>
          </a:xfrm>
          <a:prstGeom prst="rect">
            <a:avLst/>
          </a:prstGeom>
          <a:noFill/>
        </p:spPr>
        <p:txBody>
          <a:bodyPr wrap="square" rtlCol="0">
            <a:spAutoFit/>
          </a:bodyPr>
          <a:lstStyle/>
          <a:p>
            <a:pPr algn="ctr"/>
            <a:r>
              <a:rPr lang="en-US" altLang="ja-JP" sz="1000" dirty="0">
                <a:latin typeface="ＭＳ Ｐゴシック" panose="020B0600070205080204" pitchFamily="50" charset="-128"/>
                <a:ea typeface="ＭＳ Ｐゴシック" panose="020B0600070205080204" pitchFamily="50" charset="-128"/>
              </a:rPr>
              <a:t>OAT</a:t>
            </a:r>
            <a:r>
              <a:rPr lang="ja-JP" altLang="en-US" sz="1000" dirty="0">
                <a:latin typeface="ＭＳ Ｐゴシック" panose="020B0600070205080204" pitchFamily="50" charset="-128"/>
                <a:ea typeface="ＭＳ Ｐゴシック" panose="020B0600070205080204" pitchFamily="50" charset="-128"/>
              </a:rPr>
              <a:t>ユニット</a:t>
            </a:r>
            <a:endParaRPr kumimoji="1" lang="ja-JP" altLang="en-US" sz="1000" dirty="0">
              <a:latin typeface="ＭＳ Ｐゴシック" panose="020B0600070205080204" pitchFamily="50" charset="-128"/>
              <a:ea typeface="ＭＳ Ｐゴシック" panose="020B0600070205080204" pitchFamily="50" charset="-128"/>
            </a:endParaRPr>
          </a:p>
        </p:txBody>
      </p:sp>
      <p:cxnSp>
        <p:nvCxnSpPr>
          <p:cNvPr id="112" name="直線コネクタ 111">
            <a:extLst>
              <a:ext uri="{FF2B5EF4-FFF2-40B4-BE49-F238E27FC236}">
                <a16:creationId xmlns:a16="http://schemas.microsoft.com/office/drawing/2014/main" id="{8DE6B24C-9956-CB0D-0497-A30CBA681176}"/>
              </a:ext>
            </a:extLst>
          </p:cNvPr>
          <p:cNvCxnSpPr>
            <a:cxnSpLocks/>
          </p:cNvCxnSpPr>
          <p:nvPr/>
        </p:nvCxnSpPr>
        <p:spPr>
          <a:xfrm>
            <a:off x="2924552" y="4738637"/>
            <a:ext cx="12956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正方形/長方形 115">
            <a:extLst>
              <a:ext uri="{FF2B5EF4-FFF2-40B4-BE49-F238E27FC236}">
                <a16:creationId xmlns:a16="http://schemas.microsoft.com/office/drawing/2014/main" id="{507F8E86-ED3C-5081-3C02-30856884E0A9}"/>
              </a:ext>
            </a:extLst>
          </p:cNvPr>
          <p:cNvSpPr/>
          <p:nvPr/>
        </p:nvSpPr>
        <p:spPr>
          <a:xfrm>
            <a:off x="2891595" y="4704252"/>
            <a:ext cx="1295618" cy="369332"/>
          </a:xfrm>
          <a:prstGeom prst="rect">
            <a:avLst/>
          </a:prstGeom>
        </p:spPr>
        <p:txBody>
          <a:bodyPr wrap="square">
            <a:spAutoFit/>
          </a:bodyPr>
          <a:lstStyle/>
          <a:p>
            <a:pPr marL="88900" indent="-88900">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OAT</a:t>
            </a:r>
            <a:r>
              <a:rPr lang="ja-JP" altLang="en-US" sz="900" dirty="0">
                <a:latin typeface="ＭＳ Ｐゴシック" panose="020B0600070205080204" pitchFamily="50" charset="-128"/>
                <a:ea typeface="ＭＳ Ｐゴシック" panose="020B0600070205080204" pitchFamily="50" charset="-128"/>
              </a:rPr>
              <a:t>ユニット識別</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アウトカム</a:t>
            </a:r>
          </a:p>
        </p:txBody>
      </p:sp>
      <p:sp>
        <p:nvSpPr>
          <p:cNvPr id="118" name="正方形/長方形 117">
            <a:extLst>
              <a:ext uri="{FF2B5EF4-FFF2-40B4-BE49-F238E27FC236}">
                <a16:creationId xmlns:a16="http://schemas.microsoft.com/office/drawing/2014/main" id="{D95FEF52-0544-B669-EC55-93A2862FC78E}"/>
              </a:ext>
            </a:extLst>
          </p:cNvPr>
          <p:cNvSpPr/>
          <p:nvPr/>
        </p:nvSpPr>
        <p:spPr>
          <a:xfrm>
            <a:off x="2657863" y="5414581"/>
            <a:ext cx="1817379" cy="16013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19" name="正方形/長方形 118">
            <a:extLst>
              <a:ext uri="{FF2B5EF4-FFF2-40B4-BE49-F238E27FC236}">
                <a16:creationId xmlns:a16="http://schemas.microsoft.com/office/drawing/2014/main" id="{396DCBF2-2C48-0A63-D2E6-3875C92EF779}"/>
              </a:ext>
            </a:extLst>
          </p:cNvPr>
          <p:cNvSpPr/>
          <p:nvPr/>
        </p:nvSpPr>
        <p:spPr>
          <a:xfrm>
            <a:off x="5135528" y="5410306"/>
            <a:ext cx="1697069" cy="14190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20" name="正方形/長方形 119">
            <a:extLst>
              <a:ext uri="{FF2B5EF4-FFF2-40B4-BE49-F238E27FC236}">
                <a16:creationId xmlns:a16="http://schemas.microsoft.com/office/drawing/2014/main" id="{487DD120-07DA-AF07-2B83-5AC54330D8E3}"/>
              </a:ext>
            </a:extLst>
          </p:cNvPr>
          <p:cNvSpPr/>
          <p:nvPr/>
        </p:nvSpPr>
        <p:spPr>
          <a:xfrm>
            <a:off x="7462696" y="5427891"/>
            <a:ext cx="1240854" cy="12340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121" name="直線コネクタ 120">
            <a:extLst>
              <a:ext uri="{FF2B5EF4-FFF2-40B4-BE49-F238E27FC236}">
                <a16:creationId xmlns:a16="http://schemas.microsoft.com/office/drawing/2014/main" id="{038F9B09-43E6-9FDC-6A7B-46004AFABB23}"/>
              </a:ext>
            </a:extLst>
          </p:cNvPr>
          <p:cNvCxnSpPr>
            <a:cxnSpLocks/>
          </p:cNvCxnSpPr>
          <p:nvPr/>
        </p:nvCxnSpPr>
        <p:spPr>
          <a:xfrm>
            <a:off x="2653284" y="5604656"/>
            <a:ext cx="1831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テキスト ボックス 123">
            <a:extLst>
              <a:ext uri="{FF2B5EF4-FFF2-40B4-BE49-F238E27FC236}">
                <a16:creationId xmlns:a16="http://schemas.microsoft.com/office/drawing/2014/main" id="{DB518C48-3F37-08B1-0081-88BF70AF487F}"/>
              </a:ext>
            </a:extLst>
          </p:cNvPr>
          <p:cNvSpPr txBox="1"/>
          <p:nvPr/>
        </p:nvSpPr>
        <p:spPr>
          <a:xfrm>
            <a:off x="3226804" y="5379519"/>
            <a:ext cx="760144" cy="253916"/>
          </a:xfrm>
          <a:prstGeom prst="rect">
            <a:avLst/>
          </a:prstGeom>
          <a:noFill/>
        </p:spPr>
        <p:txBody>
          <a:bodyPr wrap="none" rtlCol="0">
            <a:spAutoFit/>
          </a:bodyPr>
          <a:lstStyle/>
          <a:p>
            <a:r>
              <a:rPr kumimoji="1" lang="ja-JP" altLang="en-US" sz="1050" dirty="0">
                <a:latin typeface="ＭＳ Ｐゴシック" panose="020B0600070205080204" pitchFamily="50" charset="-128"/>
                <a:ea typeface="ＭＳ Ｐゴシック" panose="020B0600070205080204" pitchFamily="50" charset="-128"/>
              </a:rPr>
              <a:t>アウトカム</a:t>
            </a:r>
          </a:p>
        </p:txBody>
      </p:sp>
      <p:sp>
        <p:nvSpPr>
          <p:cNvPr id="125" name="テキスト ボックス 124">
            <a:extLst>
              <a:ext uri="{FF2B5EF4-FFF2-40B4-BE49-F238E27FC236}">
                <a16:creationId xmlns:a16="http://schemas.microsoft.com/office/drawing/2014/main" id="{733548ED-ABD7-384E-BF3B-83566D91B19C}"/>
              </a:ext>
            </a:extLst>
          </p:cNvPr>
          <p:cNvSpPr txBox="1"/>
          <p:nvPr/>
        </p:nvSpPr>
        <p:spPr>
          <a:xfrm>
            <a:off x="5322091" y="5374881"/>
            <a:ext cx="1030539" cy="253916"/>
          </a:xfrm>
          <a:prstGeom prst="rect">
            <a:avLst/>
          </a:prstGeom>
          <a:noFill/>
        </p:spPr>
        <p:txBody>
          <a:bodyPr wrap="square" rtlCol="0">
            <a:spAutoFit/>
          </a:bodyPr>
          <a:lstStyle/>
          <a:p>
            <a:pPr algn="ctr"/>
            <a:r>
              <a:rPr kumimoji="1" lang="ja-JP" altLang="en-US" sz="1050" dirty="0">
                <a:latin typeface="ＭＳ Ｐゴシック" panose="020B0600070205080204" pitchFamily="50" charset="-128"/>
                <a:ea typeface="ＭＳ Ｐゴシック" panose="020B0600070205080204" pitchFamily="50" charset="-128"/>
              </a:rPr>
              <a:t>観察項目</a:t>
            </a:r>
          </a:p>
        </p:txBody>
      </p:sp>
      <p:sp>
        <p:nvSpPr>
          <p:cNvPr id="127" name="テキスト ボックス 126">
            <a:extLst>
              <a:ext uri="{FF2B5EF4-FFF2-40B4-BE49-F238E27FC236}">
                <a16:creationId xmlns:a16="http://schemas.microsoft.com/office/drawing/2014/main" id="{D0987C82-E6D1-0D2A-E6E3-5C74A2485127}"/>
              </a:ext>
            </a:extLst>
          </p:cNvPr>
          <p:cNvSpPr txBox="1"/>
          <p:nvPr/>
        </p:nvSpPr>
        <p:spPr>
          <a:xfrm>
            <a:off x="7488214" y="5379519"/>
            <a:ext cx="1184139" cy="253916"/>
          </a:xfrm>
          <a:prstGeom prst="rect">
            <a:avLst/>
          </a:prstGeom>
          <a:noFill/>
        </p:spPr>
        <p:txBody>
          <a:bodyPr wrap="square" rtlCol="0">
            <a:spAutoFit/>
          </a:bodyPr>
          <a:lstStyle/>
          <a:p>
            <a:pPr algn="ctr"/>
            <a:r>
              <a:rPr kumimoji="1" lang="ja-JP" altLang="en-US" sz="1050" dirty="0">
                <a:latin typeface="ＭＳ Ｐゴシック" panose="020B0600070205080204" pitchFamily="50" charset="-128"/>
                <a:ea typeface="ＭＳ Ｐゴシック" panose="020B0600070205080204" pitchFamily="50" charset="-128"/>
              </a:rPr>
              <a:t>タスク</a:t>
            </a:r>
          </a:p>
        </p:txBody>
      </p:sp>
      <p:sp>
        <p:nvSpPr>
          <p:cNvPr id="128" name="テキスト ボックス 127">
            <a:extLst>
              <a:ext uri="{FF2B5EF4-FFF2-40B4-BE49-F238E27FC236}">
                <a16:creationId xmlns:a16="http://schemas.microsoft.com/office/drawing/2014/main" id="{A8B7CB08-6829-F846-E9FF-D60FAEC71540}"/>
              </a:ext>
            </a:extLst>
          </p:cNvPr>
          <p:cNvSpPr txBox="1"/>
          <p:nvPr/>
        </p:nvSpPr>
        <p:spPr>
          <a:xfrm>
            <a:off x="2616998" y="5600194"/>
            <a:ext cx="1959733" cy="1379865"/>
          </a:xfrm>
          <a:prstGeom prst="rect">
            <a:avLst/>
          </a:prstGeom>
          <a:noFill/>
        </p:spPr>
        <p:txBody>
          <a:bodyPr wrap="square" rtlCol="0">
            <a:spAutoFit/>
          </a:bodyPr>
          <a:lstStyle/>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アウトカム大分類コード・名称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アウトカム中分類コード・名称</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a:t>
            </a:r>
            <a:r>
              <a:rPr lang="ja-JP" altLang="en-US" sz="900" dirty="0">
                <a:latin typeface="ＭＳ Ｐゴシック" panose="020B0600070205080204" pitchFamily="50" charset="-128"/>
                <a:ea typeface="ＭＳ Ｐゴシック" panose="020B0600070205080204" pitchFamily="50" charset="-128"/>
              </a:rPr>
              <a:t>アウトカムコード・名称</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クリニカルインディケータ</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予定外区分</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リピート番号</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評価</a:t>
            </a:r>
          </a:p>
        </p:txBody>
      </p:sp>
      <p:sp>
        <p:nvSpPr>
          <p:cNvPr id="129" name="正方形/長方形 128">
            <a:extLst>
              <a:ext uri="{FF2B5EF4-FFF2-40B4-BE49-F238E27FC236}">
                <a16:creationId xmlns:a16="http://schemas.microsoft.com/office/drawing/2014/main" id="{F497C5F6-1085-958C-3674-41F6167CB832}"/>
              </a:ext>
            </a:extLst>
          </p:cNvPr>
          <p:cNvSpPr/>
          <p:nvPr/>
        </p:nvSpPr>
        <p:spPr>
          <a:xfrm>
            <a:off x="5090979" y="5577907"/>
            <a:ext cx="1878780" cy="1215717"/>
          </a:xfrm>
          <a:prstGeom prst="rect">
            <a:avLst/>
          </a:prstGeom>
        </p:spPr>
        <p:txBody>
          <a:bodyPr wrap="square">
            <a:spAutoFit/>
          </a:bodyPr>
          <a:lstStyle/>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観察項目識別</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観察項目分類コード・名称 </a:t>
            </a:r>
          </a:p>
          <a:p>
            <a:pPr marL="88900" indent="-88900">
              <a:spcBef>
                <a:spcPts val="200"/>
              </a:spcBef>
              <a:buFont typeface="Arial" panose="020B0604020202020204" pitchFamily="34" charset="0"/>
              <a:buChar char="•"/>
            </a:pPr>
            <a:r>
              <a:rPr lang="en-US" altLang="ja-JP" sz="900" dirty="0">
                <a:latin typeface="ＭＳ Ｐゴシック" panose="020B0600070205080204" pitchFamily="50" charset="-128"/>
                <a:ea typeface="ＭＳ Ｐゴシック" panose="020B0600070205080204" pitchFamily="50" charset="-128"/>
              </a:rPr>
              <a:t>BOM </a:t>
            </a:r>
            <a:r>
              <a:rPr lang="ja-JP" altLang="en-US" sz="900" dirty="0">
                <a:latin typeface="ＭＳ Ｐゴシック" panose="020B0600070205080204" pitchFamily="50" charset="-128"/>
                <a:ea typeface="ＭＳ Ｐゴシック" panose="020B0600070205080204" pitchFamily="50" charset="-128"/>
              </a:rPr>
              <a:t>観察項目コード・名称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適正値</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観察項目結果値定義 </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観察項目実施</a:t>
            </a:r>
          </a:p>
          <a:p>
            <a:pPr marL="88900" indent="-88900">
              <a:spcBef>
                <a:spcPts val="200"/>
              </a:spcBef>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a:t>
            </a:r>
          </a:p>
        </p:txBody>
      </p:sp>
      <p:sp>
        <p:nvSpPr>
          <p:cNvPr id="130" name="テキスト ボックス 129">
            <a:extLst>
              <a:ext uri="{FF2B5EF4-FFF2-40B4-BE49-F238E27FC236}">
                <a16:creationId xmlns:a16="http://schemas.microsoft.com/office/drawing/2014/main" id="{257BCD8C-B800-5728-EB87-AFFB20AE302B}"/>
              </a:ext>
            </a:extLst>
          </p:cNvPr>
          <p:cNvSpPr txBox="1"/>
          <p:nvPr/>
        </p:nvSpPr>
        <p:spPr>
          <a:xfrm>
            <a:off x="7409968" y="5591033"/>
            <a:ext cx="1353032" cy="1061829"/>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タスク分類</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タスクコード・名称 </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予定日時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実施日時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オーダ種別</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タスク実施</a:t>
            </a:r>
            <a:r>
              <a:rPr lang="en-US" altLang="ja-JP" sz="900" dirty="0">
                <a:latin typeface="ＭＳ Ｐゴシック" panose="020B0600070205080204" pitchFamily="50" charset="-128"/>
                <a:ea typeface="ＭＳ Ｐゴシック" panose="020B0600070205080204" pitchFamily="50" charset="-128"/>
              </a:rPr>
              <a:t/>
            </a:r>
            <a:br>
              <a:rPr lang="en-US" altLang="ja-JP" sz="900" dirty="0">
                <a:latin typeface="ＭＳ Ｐゴシック" panose="020B0600070205080204" pitchFamily="50" charset="-128"/>
                <a:ea typeface="ＭＳ Ｐゴシック" panose="020B0600070205080204" pitchFamily="50" charset="-128"/>
              </a:rPr>
            </a:br>
            <a:r>
              <a:rPr lang="ja-JP" altLang="en-US" sz="900" dirty="0">
                <a:latin typeface="ＭＳ Ｐゴシック" panose="020B0600070205080204" pitchFamily="50" charset="-128"/>
                <a:ea typeface="ＭＳ Ｐゴシック" panose="020B0600070205080204" pitchFamily="50" charset="-128"/>
              </a:rPr>
              <a:t>（実施状況・実施者）</a:t>
            </a:r>
          </a:p>
        </p:txBody>
      </p:sp>
      <p:cxnSp>
        <p:nvCxnSpPr>
          <p:cNvPr id="131" name="直線コネクタ 130">
            <a:extLst>
              <a:ext uri="{FF2B5EF4-FFF2-40B4-BE49-F238E27FC236}">
                <a16:creationId xmlns:a16="http://schemas.microsoft.com/office/drawing/2014/main" id="{E2FFF3AD-CDDD-1791-F68A-633E120FD765}"/>
              </a:ext>
            </a:extLst>
          </p:cNvPr>
          <p:cNvCxnSpPr>
            <a:cxnSpLocks/>
          </p:cNvCxnSpPr>
          <p:nvPr/>
        </p:nvCxnSpPr>
        <p:spPr>
          <a:xfrm>
            <a:off x="7463470" y="5609811"/>
            <a:ext cx="12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58A5438D-CA4D-A3B9-E09C-ED672B5643DA}"/>
              </a:ext>
            </a:extLst>
          </p:cNvPr>
          <p:cNvCxnSpPr>
            <a:cxnSpLocks/>
          </p:cNvCxnSpPr>
          <p:nvPr/>
        </p:nvCxnSpPr>
        <p:spPr>
          <a:xfrm>
            <a:off x="5135471" y="5588531"/>
            <a:ext cx="16661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線矢印コネクタ 140">
            <a:extLst>
              <a:ext uri="{FF2B5EF4-FFF2-40B4-BE49-F238E27FC236}">
                <a16:creationId xmlns:a16="http://schemas.microsoft.com/office/drawing/2014/main" id="{B4DA0448-B2FE-6106-3DD0-B29B019CC03C}"/>
              </a:ext>
            </a:extLst>
          </p:cNvPr>
          <p:cNvCxnSpPr>
            <a:cxnSpLocks/>
            <a:stCxn id="157" idx="2"/>
          </p:cNvCxnSpPr>
          <p:nvPr/>
        </p:nvCxnSpPr>
        <p:spPr>
          <a:xfrm>
            <a:off x="7023158" y="5972459"/>
            <a:ext cx="439538" cy="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2" name="テキスト ボックス 141">
            <a:extLst>
              <a:ext uri="{FF2B5EF4-FFF2-40B4-BE49-F238E27FC236}">
                <a16:creationId xmlns:a16="http://schemas.microsoft.com/office/drawing/2014/main" id="{9058A9E0-A37F-6541-A68C-7B60FF3528A4}"/>
              </a:ext>
            </a:extLst>
          </p:cNvPr>
          <p:cNvSpPr txBox="1"/>
          <p:nvPr/>
        </p:nvSpPr>
        <p:spPr>
          <a:xfrm>
            <a:off x="4798983" y="5744284"/>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43" name="テキスト ボックス 142">
            <a:extLst>
              <a:ext uri="{FF2B5EF4-FFF2-40B4-BE49-F238E27FC236}">
                <a16:creationId xmlns:a16="http://schemas.microsoft.com/office/drawing/2014/main" id="{96F3121E-EC27-D96A-05DD-3B31D2074FBA}"/>
              </a:ext>
            </a:extLst>
          </p:cNvPr>
          <p:cNvSpPr txBox="1"/>
          <p:nvPr/>
        </p:nvSpPr>
        <p:spPr>
          <a:xfrm>
            <a:off x="7131433" y="5758083"/>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44" name="正方形/長方形 143">
            <a:extLst>
              <a:ext uri="{FF2B5EF4-FFF2-40B4-BE49-F238E27FC236}">
                <a16:creationId xmlns:a16="http://schemas.microsoft.com/office/drawing/2014/main" id="{8D654A33-909E-5AED-9A0A-844B378A0C3F}"/>
              </a:ext>
            </a:extLst>
          </p:cNvPr>
          <p:cNvSpPr/>
          <p:nvPr/>
        </p:nvSpPr>
        <p:spPr>
          <a:xfrm>
            <a:off x="5322431" y="7277969"/>
            <a:ext cx="1329825" cy="8207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145" name="直線コネクタ 144">
            <a:extLst>
              <a:ext uri="{FF2B5EF4-FFF2-40B4-BE49-F238E27FC236}">
                <a16:creationId xmlns:a16="http://schemas.microsoft.com/office/drawing/2014/main" id="{BA6C0982-B486-ED3E-5ED0-C5648A30B9E9}"/>
              </a:ext>
            </a:extLst>
          </p:cNvPr>
          <p:cNvCxnSpPr>
            <a:cxnSpLocks/>
          </p:cNvCxnSpPr>
          <p:nvPr/>
        </p:nvCxnSpPr>
        <p:spPr>
          <a:xfrm>
            <a:off x="5318760" y="7425302"/>
            <a:ext cx="13335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正方形/長方形 145">
            <a:extLst>
              <a:ext uri="{FF2B5EF4-FFF2-40B4-BE49-F238E27FC236}">
                <a16:creationId xmlns:a16="http://schemas.microsoft.com/office/drawing/2014/main" id="{236EC50E-46B1-FD95-918E-E6D81DFB802C}"/>
              </a:ext>
            </a:extLst>
          </p:cNvPr>
          <p:cNvSpPr/>
          <p:nvPr/>
        </p:nvSpPr>
        <p:spPr>
          <a:xfrm>
            <a:off x="5529811" y="7236020"/>
            <a:ext cx="988429" cy="246221"/>
          </a:xfrm>
          <a:prstGeom prst="rect">
            <a:avLst/>
          </a:prstGeom>
        </p:spPr>
        <p:txBody>
          <a:bodyPr wrap="square">
            <a:spAutoFit/>
          </a:bodyPr>
          <a:lstStyle/>
          <a:p>
            <a:pPr algn="ctr">
              <a:spcBef>
                <a:spcPts val="200"/>
              </a:spcBef>
            </a:pPr>
            <a:r>
              <a:rPr lang="zh-TW" altLang="en-US" sz="1000" dirty="0">
                <a:latin typeface="ＭＳ Ｐゴシック" panose="020B0600070205080204" pitchFamily="50" charset="-128"/>
                <a:ea typeface="ＭＳ Ｐゴシック" panose="020B0600070205080204" pitchFamily="50" charset="-128"/>
              </a:rPr>
              <a:t>観察項目実施</a:t>
            </a:r>
            <a:endParaRPr lang="ja-JP" altLang="en-US" sz="1000" dirty="0">
              <a:latin typeface="ＭＳ Ｐゴシック" panose="020B0600070205080204" pitchFamily="50" charset="-128"/>
              <a:ea typeface="ＭＳ Ｐゴシック" panose="020B0600070205080204" pitchFamily="50" charset="-128"/>
            </a:endParaRPr>
          </a:p>
        </p:txBody>
      </p:sp>
      <p:sp>
        <p:nvSpPr>
          <p:cNvPr id="147" name="テキスト ボックス 146">
            <a:extLst>
              <a:ext uri="{FF2B5EF4-FFF2-40B4-BE49-F238E27FC236}">
                <a16:creationId xmlns:a16="http://schemas.microsoft.com/office/drawing/2014/main" id="{2B3674A0-AA15-1C24-EB36-8E1A8EC22443}"/>
              </a:ext>
            </a:extLst>
          </p:cNvPr>
          <p:cNvSpPr txBox="1"/>
          <p:nvPr/>
        </p:nvSpPr>
        <p:spPr>
          <a:xfrm>
            <a:off x="5282733" y="7391294"/>
            <a:ext cx="1007006" cy="646331"/>
          </a:xfrm>
          <a:prstGeom prst="rect">
            <a:avLst/>
          </a:prstGeom>
          <a:noFill/>
        </p:spPr>
        <p:txBody>
          <a:bodyPr wrap="square" rtlCol="0">
            <a:spAutoFit/>
          </a:bodyPr>
          <a:lstStyle/>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評価状況</a:t>
            </a: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評価者</a:t>
            </a: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観察結果</a:t>
            </a:r>
            <a:endParaRPr lang="en-US" altLang="zh-TW"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zh-TW" altLang="en-US" sz="900" dirty="0">
                <a:latin typeface="ＭＳ Ｐゴシック" panose="020B0600070205080204" pitchFamily="50" charset="-128"/>
                <a:ea typeface="ＭＳ Ｐゴシック" panose="020B0600070205080204" pitchFamily="50" charset="-128"/>
              </a:rPr>
              <a:t>修正情報</a:t>
            </a:r>
          </a:p>
        </p:txBody>
      </p:sp>
      <p:sp>
        <p:nvSpPr>
          <p:cNvPr id="148" name="正方形/長方形 147">
            <a:extLst>
              <a:ext uri="{FF2B5EF4-FFF2-40B4-BE49-F238E27FC236}">
                <a16:creationId xmlns:a16="http://schemas.microsoft.com/office/drawing/2014/main" id="{3B57A282-025A-1FA1-1C66-479B1F6DECAE}"/>
              </a:ext>
            </a:extLst>
          </p:cNvPr>
          <p:cNvSpPr/>
          <p:nvPr/>
        </p:nvSpPr>
        <p:spPr>
          <a:xfrm>
            <a:off x="2857500" y="7348863"/>
            <a:ext cx="1436477" cy="9467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149" name="直線コネクタ 148">
            <a:extLst>
              <a:ext uri="{FF2B5EF4-FFF2-40B4-BE49-F238E27FC236}">
                <a16:creationId xmlns:a16="http://schemas.microsoft.com/office/drawing/2014/main" id="{E9E7CE9A-D97B-3D00-4777-78C2FF600ABE}"/>
              </a:ext>
            </a:extLst>
          </p:cNvPr>
          <p:cNvCxnSpPr>
            <a:cxnSpLocks/>
          </p:cNvCxnSpPr>
          <p:nvPr/>
        </p:nvCxnSpPr>
        <p:spPr>
          <a:xfrm>
            <a:off x="2857500" y="7509440"/>
            <a:ext cx="14520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正方形/長方形 149">
            <a:extLst>
              <a:ext uri="{FF2B5EF4-FFF2-40B4-BE49-F238E27FC236}">
                <a16:creationId xmlns:a16="http://schemas.microsoft.com/office/drawing/2014/main" id="{D5BA300A-1FB1-0728-C24A-1E5FDEB17CD4}"/>
              </a:ext>
            </a:extLst>
          </p:cNvPr>
          <p:cNvSpPr/>
          <p:nvPr/>
        </p:nvSpPr>
        <p:spPr>
          <a:xfrm>
            <a:off x="3032438" y="7310977"/>
            <a:ext cx="992530" cy="246221"/>
          </a:xfrm>
          <a:prstGeom prst="rect">
            <a:avLst/>
          </a:prstGeom>
        </p:spPr>
        <p:txBody>
          <a:bodyPr wrap="square">
            <a:spAutoFit/>
          </a:bodyPr>
          <a:lstStyle/>
          <a:p>
            <a:pPr algn="ctr"/>
            <a:r>
              <a:rPr lang="ja-JP" altLang="en-US" sz="1000" dirty="0">
                <a:latin typeface="ＭＳ Ｐゴシック" panose="020B0600070205080204" pitchFamily="50" charset="-128"/>
                <a:ea typeface="ＭＳ Ｐゴシック" panose="020B0600070205080204" pitchFamily="50" charset="-128"/>
              </a:rPr>
              <a:t>評価</a:t>
            </a:r>
          </a:p>
        </p:txBody>
      </p:sp>
      <p:sp>
        <p:nvSpPr>
          <p:cNvPr id="151" name="テキスト ボックス 150">
            <a:extLst>
              <a:ext uri="{FF2B5EF4-FFF2-40B4-BE49-F238E27FC236}">
                <a16:creationId xmlns:a16="http://schemas.microsoft.com/office/drawing/2014/main" id="{441BBFEA-6D2D-5A4D-B4F0-253A32C6D3E5}"/>
              </a:ext>
            </a:extLst>
          </p:cNvPr>
          <p:cNvSpPr txBox="1"/>
          <p:nvPr/>
        </p:nvSpPr>
        <p:spPr>
          <a:xfrm>
            <a:off x="2857825" y="7480817"/>
            <a:ext cx="1369070" cy="784830"/>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評価状況 </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バリアンス記録</a:t>
            </a:r>
            <a:r>
              <a:rPr lang="en-US" altLang="ja-JP" sz="900" dirty="0">
                <a:latin typeface="ＭＳ Ｐゴシック" panose="020B0600070205080204" pitchFamily="50" charset="-128"/>
                <a:ea typeface="ＭＳ Ｐゴシック" panose="020B0600070205080204" pitchFamily="50" charset="-128"/>
              </a:rPr>
              <a:t/>
            </a:r>
            <a:br>
              <a:rPr lang="en-US" altLang="ja-JP" sz="900" dirty="0">
                <a:latin typeface="ＭＳ Ｐゴシック" panose="020B0600070205080204" pitchFamily="50" charset="-128"/>
                <a:ea typeface="ＭＳ Ｐゴシック" panose="020B0600070205080204" pitchFamily="50" charset="-128"/>
              </a:rPr>
            </a:b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S</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O</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A</a:t>
            </a:r>
            <a:r>
              <a:rPr lang="ja-JP" altLang="en-US" sz="900" dirty="0">
                <a:latin typeface="ＭＳ Ｐゴシック" panose="020B0600070205080204" pitchFamily="50" charset="-128"/>
                <a:ea typeface="ＭＳ Ｐゴシック" panose="020B0600070205080204" pitchFamily="50" charset="-128"/>
              </a:rPr>
              <a:t>・</a:t>
            </a:r>
            <a:r>
              <a:rPr lang="en-US" altLang="ja-JP" sz="900" dirty="0">
                <a:latin typeface="ＭＳ Ｐゴシック" panose="020B0600070205080204" pitchFamily="50" charset="-128"/>
                <a:ea typeface="ＭＳ Ｐゴシック" panose="020B0600070205080204" pitchFamily="50" charset="-128"/>
              </a:rPr>
              <a:t>P</a:t>
            </a:r>
            <a:r>
              <a:rPr lang="ja-JP" altLang="en-US" sz="900" dirty="0">
                <a:latin typeface="ＭＳ Ｐゴシック" panose="020B0600070205080204" pitchFamily="50" charset="-128"/>
                <a:ea typeface="ＭＳ Ｐゴシック" panose="020B0600070205080204" pitchFamily="50" charset="-128"/>
              </a:rPr>
              <a:t>）</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達成記録</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記録者</a:t>
            </a:r>
          </a:p>
        </p:txBody>
      </p:sp>
      <p:sp>
        <p:nvSpPr>
          <p:cNvPr id="152" name="ひし形 151">
            <a:extLst>
              <a:ext uri="{FF2B5EF4-FFF2-40B4-BE49-F238E27FC236}">
                <a16:creationId xmlns:a16="http://schemas.microsoft.com/office/drawing/2014/main" id="{7CDB1192-E225-88C5-019F-BC5B91A36FAE}"/>
              </a:ext>
            </a:extLst>
          </p:cNvPr>
          <p:cNvSpPr/>
          <p:nvPr/>
        </p:nvSpPr>
        <p:spPr>
          <a:xfrm rot="10888329">
            <a:off x="3471650" y="7013388"/>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3" name="ひし形 152">
            <a:extLst>
              <a:ext uri="{FF2B5EF4-FFF2-40B4-BE49-F238E27FC236}">
                <a16:creationId xmlns:a16="http://schemas.microsoft.com/office/drawing/2014/main" id="{2E081139-E9FD-BFB9-6B0C-5519C6F1089D}"/>
              </a:ext>
            </a:extLst>
          </p:cNvPr>
          <p:cNvSpPr/>
          <p:nvPr/>
        </p:nvSpPr>
        <p:spPr>
          <a:xfrm>
            <a:off x="3474256" y="5086907"/>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4" name="テキスト ボックス 153">
            <a:extLst>
              <a:ext uri="{FF2B5EF4-FFF2-40B4-BE49-F238E27FC236}">
                <a16:creationId xmlns:a16="http://schemas.microsoft.com/office/drawing/2014/main" id="{19EB7992-ABE4-4CB2-9EE0-DA19D61DDDA0}"/>
              </a:ext>
            </a:extLst>
          </p:cNvPr>
          <p:cNvSpPr txBox="1"/>
          <p:nvPr/>
        </p:nvSpPr>
        <p:spPr>
          <a:xfrm>
            <a:off x="3499800" y="5192988"/>
            <a:ext cx="230646" cy="261610"/>
          </a:xfrm>
          <a:prstGeom prst="rect">
            <a:avLst/>
          </a:prstGeom>
          <a:noFill/>
        </p:spPr>
        <p:txBody>
          <a:bodyPr wrap="squar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55" name="ひし形 154">
            <a:extLst>
              <a:ext uri="{FF2B5EF4-FFF2-40B4-BE49-F238E27FC236}">
                <a16:creationId xmlns:a16="http://schemas.microsoft.com/office/drawing/2014/main" id="{41CD06F1-449F-7B51-0C27-406CD99029D9}"/>
              </a:ext>
            </a:extLst>
          </p:cNvPr>
          <p:cNvSpPr/>
          <p:nvPr/>
        </p:nvSpPr>
        <p:spPr>
          <a:xfrm rot="16200000">
            <a:off x="4518636" y="5915680"/>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6" name="ひし形 155">
            <a:extLst>
              <a:ext uri="{FF2B5EF4-FFF2-40B4-BE49-F238E27FC236}">
                <a16:creationId xmlns:a16="http://schemas.microsoft.com/office/drawing/2014/main" id="{51F010ED-8592-A18D-56E5-19E71AA5F303}"/>
              </a:ext>
            </a:extLst>
          </p:cNvPr>
          <p:cNvSpPr/>
          <p:nvPr/>
        </p:nvSpPr>
        <p:spPr>
          <a:xfrm rot="10929915">
            <a:off x="5914951" y="6835071"/>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7" name="ひし形 156">
            <a:extLst>
              <a:ext uri="{FF2B5EF4-FFF2-40B4-BE49-F238E27FC236}">
                <a16:creationId xmlns:a16="http://schemas.microsoft.com/office/drawing/2014/main" id="{44406503-81FB-EBC3-30C3-8951AC228AD8}"/>
              </a:ext>
            </a:extLst>
          </p:cNvPr>
          <p:cNvSpPr/>
          <p:nvPr/>
        </p:nvSpPr>
        <p:spPr>
          <a:xfrm rot="16200000">
            <a:off x="6869998" y="5877498"/>
            <a:ext cx="116397"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58" name="テキスト ボックス 157">
            <a:extLst>
              <a:ext uri="{FF2B5EF4-FFF2-40B4-BE49-F238E27FC236}">
                <a16:creationId xmlns:a16="http://schemas.microsoft.com/office/drawing/2014/main" id="{E3ED31E1-654F-FDD3-EEE2-7B41D9FB5E2F}"/>
              </a:ext>
            </a:extLst>
          </p:cNvPr>
          <p:cNvSpPr txBox="1"/>
          <p:nvPr/>
        </p:nvSpPr>
        <p:spPr>
          <a:xfrm>
            <a:off x="5985297" y="7037752"/>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59" name="テキスト ボックス 158">
            <a:extLst>
              <a:ext uri="{FF2B5EF4-FFF2-40B4-BE49-F238E27FC236}">
                <a16:creationId xmlns:a16="http://schemas.microsoft.com/office/drawing/2014/main" id="{EF984251-FA4A-EA5B-0D17-2465A2BEF6C4}"/>
              </a:ext>
            </a:extLst>
          </p:cNvPr>
          <p:cNvSpPr txBox="1"/>
          <p:nvPr/>
        </p:nvSpPr>
        <p:spPr>
          <a:xfrm>
            <a:off x="3644796" y="708391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160" name="ひし形 159">
            <a:extLst>
              <a:ext uri="{FF2B5EF4-FFF2-40B4-BE49-F238E27FC236}">
                <a16:creationId xmlns:a16="http://schemas.microsoft.com/office/drawing/2014/main" id="{765114EF-B545-1F34-6073-9035A9DCFD21}"/>
              </a:ext>
            </a:extLst>
          </p:cNvPr>
          <p:cNvSpPr/>
          <p:nvPr/>
        </p:nvSpPr>
        <p:spPr>
          <a:xfrm>
            <a:off x="3474256" y="4179086"/>
            <a:ext cx="114422" cy="169980"/>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1" name="テキスト ボックス 160">
            <a:extLst>
              <a:ext uri="{FF2B5EF4-FFF2-40B4-BE49-F238E27FC236}">
                <a16:creationId xmlns:a16="http://schemas.microsoft.com/office/drawing/2014/main" id="{66E3F720-D195-CE05-4BAA-D1EB29C4A95F}"/>
              </a:ext>
            </a:extLst>
          </p:cNvPr>
          <p:cNvSpPr txBox="1"/>
          <p:nvPr/>
        </p:nvSpPr>
        <p:spPr>
          <a:xfrm>
            <a:off x="3493684" y="4362545"/>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1..*</a:t>
            </a:r>
            <a:endParaRPr kumimoji="1" lang="ja-JP" altLang="en-US" sz="1100" dirty="0">
              <a:latin typeface="ＭＳ Ｐゴシック" panose="020B0600070205080204" pitchFamily="50" charset="-128"/>
              <a:ea typeface="ＭＳ Ｐゴシック" panose="020B0600070205080204" pitchFamily="50" charset="-128"/>
            </a:endParaRPr>
          </a:p>
        </p:txBody>
      </p:sp>
      <p:cxnSp>
        <p:nvCxnSpPr>
          <p:cNvPr id="162" name="直線コネクタ 161">
            <a:extLst>
              <a:ext uri="{FF2B5EF4-FFF2-40B4-BE49-F238E27FC236}">
                <a16:creationId xmlns:a16="http://schemas.microsoft.com/office/drawing/2014/main" id="{46CA5AFB-738A-E84D-4681-652B6847BB24}"/>
              </a:ext>
            </a:extLst>
          </p:cNvPr>
          <p:cNvCxnSpPr>
            <a:cxnSpLocks/>
            <a:endCxn id="167" idx="2"/>
          </p:cNvCxnSpPr>
          <p:nvPr/>
        </p:nvCxnSpPr>
        <p:spPr>
          <a:xfrm flipH="1">
            <a:off x="6419688" y="5096691"/>
            <a:ext cx="205226" cy="151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ひし形 166">
            <a:extLst>
              <a:ext uri="{FF2B5EF4-FFF2-40B4-BE49-F238E27FC236}">
                <a16:creationId xmlns:a16="http://schemas.microsoft.com/office/drawing/2014/main" id="{B98AB962-68D5-0A55-7A25-82FD5FFBB011}"/>
              </a:ext>
            </a:extLst>
          </p:cNvPr>
          <p:cNvSpPr/>
          <p:nvPr/>
        </p:nvSpPr>
        <p:spPr>
          <a:xfrm rot="13091044">
            <a:off x="6287050" y="5227770"/>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68" name="テキスト ボックス 167">
            <a:extLst>
              <a:ext uri="{FF2B5EF4-FFF2-40B4-BE49-F238E27FC236}">
                <a16:creationId xmlns:a16="http://schemas.microsoft.com/office/drawing/2014/main" id="{29D499BC-75AA-EA5B-4FEA-F23754905DD8}"/>
              </a:ext>
            </a:extLst>
          </p:cNvPr>
          <p:cNvSpPr txBox="1"/>
          <p:nvPr/>
        </p:nvSpPr>
        <p:spPr>
          <a:xfrm>
            <a:off x="5985297" y="5109889"/>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0..1</a:t>
            </a:r>
          </a:p>
        </p:txBody>
      </p:sp>
      <p:cxnSp>
        <p:nvCxnSpPr>
          <p:cNvPr id="180" name="直線コネクタ 179">
            <a:extLst>
              <a:ext uri="{FF2B5EF4-FFF2-40B4-BE49-F238E27FC236}">
                <a16:creationId xmlns:a16="http://schemas.microsoft.com/office/drawing/2014/main" id="{9097F0C1-AE1F-E217-7CB5-6091227A147D}"/>
              </a:ext>
            </a:extLst>
          </p:cNvPr>
          <p:cNvCxnSpPr>
            <a:cxnSpLocks/>
            <a:endCxn id="185" idx="0"/>
          </p:cNvCxnSpPr>
          <p:nvPr/>
        </p:nvCxnSpPr>
        <p:spPr>
          <a:xfrm flipH="1">
            <a:off x="6830109" y="7885135"/>
            <a:ext cx="33523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1" name="正方形/長方形 180">
            <a:extLst>
              <a:ext uri="{FF2B5EF4-FFF2-40B4-BE49-F238E27FC236}">
                <a16:creationId xmlns:a16="http://schemas.microsoft.com/office/drawing/2014/main" id="{45713127-B0B6-87AD-6BE9-C32867142761}"/>
              </a:ext>
            </a:extLst>
          </p:cNvPr>
          <p:cNvSpPr/>
          <p:nvPr/>
        </p:nvSpPr>
        <p:spPr>
          <a:xfrm>
            <a:off x="7175319" y="7339126"/>
            <a:ext cx="1007006" cy="8015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182" name="直線コネクタ 181">
            <a:extLst>
              <a:ext uri="{FF2B5EF4-FFF2-40B4-BE49-F238E27FC236}">
                <a16:creationId xmlns:a16="http://schemas.microsoft.com/office/drawing/2014/main" id="{49CEB20A-8FDA-F1BD-AD6B-8DFF503AE883}"/>
              </a:ext>
            </a:extLst>
          </p:cNvPr>
          <p:cNvCxnSpPr>
            <a:cxnSpLocks/>
          </p:cNvCxnSpPr>
          <p:nvPr/>
        </p:nvCxnSpPr>
        <p:spPr>
          <a:xfrm>
            <a:off x="7168637" y="7510312"/>
            <a:ext cx="10167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正方形/長方形 182">
            <a:extLst>
              <a:ext uri="{FF2B5EF4-FFF2-40B4-BE49-F238E27FC236}">
                <a16:creationId xmlns:a16="http://schemas.microsoft.com/office/drawing/2014/main" id="{9EDD1F64-05E4-B1D7-7808-4CCFB16CBE66}"/>
              </a:ext>
            </a:extLst>
          </p:cNvPr>
          <p:cNvSpPr/>
          <p:nvPr/>
        </p:nvSpPr>
        <p:spPr>
          <a:xfrm>
            <a:off x="7257462" y="7297177"/>
            <a:ext cx="816424"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修正情報</a:t>
            </a:r>
          </a:p>
        </p:txBody>
      </p:sp>
      <p:sp>
        <p:nvSpPr>
          <p:cNvPr id="184" name="テキスト ボックス 183">
            <a:extLst>
              <a:ext uri="{FF2B5EF4-FFF2-40B4-BE49-F238E27FC236}">
                <a16:creationId xmlns:a16="http://schemas.microsoft.com/office/drawing/2014/main" id="{D0C8BF65-E3E3-9E9F-3AD7-BC7FB80D246C}"/>
              </a:ext>
            </a:extLst>
          </p:cNvPr>
          <p:cNvSpPr txBox="1"/>
          <p:nvPr/>
        </p:nvSpPr>
        <p:spPr>
          <a:xfrm>
            <a:off x="7143509" y="7478440"/>
            <a:ext cx="1007006" cy="646331"/>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修正日時</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修正者</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修正事由</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修正前値</a:t>
            </a:r>
          </a:p>
        </p:txBody>
      </p:sp>
      <p:sp>
        <p:nvSpPr>
          <p:cNvPr id="185" name="ひし形 184">
            <a:extLst>
              <a:ext uri="{FF2B5EF4-FFF2-40B4-BE49-F238E27FC236}">
                <a16:creationId xmlns:a16="http://schemas.microsoft.com/office/drawing/2014/main" id="{A36DF262-C1EB-C108-901F-7811F3E07B60}"/>
              </a:ext>
            </a:extLst>
          </p:cNvPr>
          <p:cNvSpPr/>
          <p:nvPr/>
        </p:nvSpPr>
        <p:spPr>
          <a:xfrm rot="5559457">
            <a:off x="6661316" y="7785771"/>
            <a:ext cx="147868" cy="189922"/>
          </a:xfrm>
          <a:prstGeom prst="diamond">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sp>
        <p:nvSpPr>
          <p:cNvPr id="186" name="テキスト ボックス 185">
            <a:extLst>
              <a:ext uri="{FF2B5EF4-FFF2-40B4-BE49-F238E27FC236}">
                <a16:creationId xmlns:a16="http://schemas.microsoft.com/office/drawing/2014/main" id="{2CE12F78-36BC-51CE-6B1F-1D2796F40FCA}"/>
              </a:ext>
            </a:extLst>
          </p:cNvPr>
          <p:cNvSpPr txBox="1"/>
          <p:nvPr/>
        </p:nvSpPr>
        <p:spPr>
          <a:xfrm>
            <a:off x="6837297" y="7668110"/>
            <a:ext cx="383438" cy="261610"/>
          </a:xfrm>
          <a:prstGeom prst="rect">
            <a:avLst/>
          </a:prstGeom>
          <a:noFill/>
        </p:spPr>
        <p:txBody>
          <a:bodyPr wrap="none" rtlCol="0">
            <a:spAutoFit/>
          </a:bodyPr>
          <a:lstStyle/>
          <a:p>
            <a:r>
              <a:rPr kumimoji="1" lang="en-US" altLang="ja-JP" sz="1100" dirty="0">
                <a:latin typeface="ＭＳ Ｐゴシック" panose="020B0600070205080204" pitchFamily="50" charset="-128"/>
                <a:ea typeface="ＭＳ Ｐゴシック" panose="020B0600070205080204" pitchFamily="50" charset="-128"/>
              </a:rPr>
              <a:t>0..*</a:t>
            </a:r>
            <a:endParaRPr kumimoji="1" lang="ja-JP" altLang="en-US" sz="1100" dirty="0">
              <a:latin typeface="ＭＳ Ｐゴシック" panose="020B0600070205080204" pitchFamily="50" charset="-128"/>
              <a:ea typeface="ＭＳ Ｐゴシック" panose="020B0600070205080204" pitchFamily="50" charset="-128"/>
            </a:endParaRPr>
          </a:p>
        </p:txBody>
      </p:sp>
      <p:sp>
        <p:nvSpPr>
          <p:cNvPr id="231" name="テキスト ボックス 230">
            <a:extLst>
              <a:ext uri="{FF2B5EF4-FFF2-40B4-BE49-F238E27FC236}">
                <a16:creationId xmlns:a16="http://schemas.microsoft.com/office/drawing/2014/main" id="{31632E98-1AA2-D3A0-6745-DB8FAE53041E}"/>
              </a:ext>
            </a:extLst>
          </p:cNvPr>
          <p:cNvSpPr txBox="1"/>
          <p:nvPr/>
        </p:nvSpPr>
        <p:spPr>
          <a:xfrm>
            <a:off x="2949040" y="818358"/>
            <a:ext cx="1228271" cy="784830"/>
          </a:xfrm>
          <a:prstGeom prst="rect">
            <a:avLst/>
          </a:prstGeom>
          <a:noFill/>
        </p:spPr>
        <p:txBody>
          <a:bodyPr wrap="square" rtlCol="0">
            <a:spAutoFit/>
          </a:bodyPr>
          <a:lstStyle/>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パス識別情報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医療機関情報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患者基本情報</a:t>
            </a: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入院情報</a:t>
            </a:r>
            <a:endParaRPr lang="en-US" altLang="ja-JP" sz="900" dirty="0">
              <a:latin typeface="ＭＳ Ｐゴシック" panose="020B0600070205080204" pitchFamily="50" charset="-128"/>
              <a:ea typeface="ＭＳ Ｐゴシック" panose="020B0600070205080204" pitchFamily="50" charset="-128"/>
            </a:endParaRPr>
          </a:p>
          <a:p>
            <a:pPr marL="88900" indent="-88900">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パス適用情報</a:t>
            </a:r>
          </a:p>
        </p:txBody>
      </p:sp>
      <p:sp>
        <p:nvSpPr>
          <p:cNvPr id="2" name="正方形/長方形 1">
            <a:extLst>
              <a:ext uri="{FF2B5EF4-FFF2-40B4-BE49-F238E27FC236}">
                <a16:creationId xmlns:a16="http://schemas.microsoft.com/office/drawing/2014/main" id="{C669D7C7-D48E-8FF2-CC4D-BD82B303CE84}"/>
              </a:ext>
            </a:extLst>
          </p:cNvPr>
          <p:cNvSpPr/>
          <p:nvPr/>
        </p:nvSpPr>
        <p:spPr>
          <a:xfrm>
            <a:off x="6631812" y="2732487"/>
            <a:ext cx="1378900" cy="24708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chemeClr val="tx1"/>
              </a:solidFill>
              <a:latin typeface="ＭＳ Ｐゴシック" panose="020B0600070205080204" pitchFamily="50" charset="-128"/>
              <a:ea typeface="ＭＳ Ｐゴシック" panose="020B0600070205080204" pitchFamily="50" charset="-128"/>
            </a:endParaRPr>
          </a:p>
        </p:txBody>
      </p:sp>
      <p:cxnSp>
        <p:nvCxnSpPr>
          <p:cNvPr id="3" name="直線コネクタ 2">
            <a:extLst>
              <a:ext uri="{FF2B5EF4-FFF2-40B4-BE49-F238E27FC236}">
                <a16:creationId xmlns:a16="http://schemas.microsoft.com/office/drawing/2014/main" id="{508A5BD7-F7D0-F296-A7AD-4AA6D6C2226C}"/>
              </a:ext>
            </a:extLst>
          </p:cNvPr>
          <p:cNvCxnSpPr>
            <a:cxnSpLocks/>
          </p:cNvCxnSpPr>
          <p:nvPr/>
        </p:nvCxnSpPr>
        <p:spPr>
          <a:xfrm>
            <a:off x="6631812" y="2927854"/>
            <a:ext cx="13789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536D0285-8105-6272-BF59-A5C25E1EEE5D}"/>
              </a:ext>
            </a:extLst>
          </p:cNvPr>
          <p:cNvSpPr/>
          <p:nvPr/>
        </p:nvSpPr>
        <p:spPr>
          <a:xfrm>
            <a:off x="6575027" y="2704845"/>
            <a:ext cx="1448443" cy="246221"/>
          </a:xfrm>
          <a:prstGeom prst="rect">
            <a:avLst/>
          </a:prstGeom>
        </p:spPr>
        <p:txBody>
          <a:bodyPr wrap="square">
            <a:spAutoFit/>
          </a:bodyPr>
          <a:lstStyle/>
          <a:p>
            <a:pPr algn="ctr">
              <a:spcBef>
                <a:spcPts val="200"/>
              </a:spcBef>
            </a:pPr>
            <a:r>
              <a:rPr lang="ja-JP" altLang="en-US" sz="1000" dirty="0">
                <a:latin typeface="ＭＳ Ｐゴシック" panose="020B0600070205080204" pitchFamily="50" charset="-128"/>
                <a:ea typeface="ＭＳ Ｐゴシック" panose="020B0600070205080204" pitchFamily="50" charset="-128"/>
              </a:rPr>
              <a:t>観察項目結果値定義</a:t>
            </a:r>
          </a:p>
        </p:txBody>
      </p:sp>
      <p:sp>
        <p:nvSpPr>
          <p:cNvPr id="5" name="テキスト ボックス 4">
            <a:extLst>
              <a:ext uri="{FF2B5EF4-FFF2-40B4-BE49-F238E27FC236}">
                <a16:creationId xmlns:a16="http://schemas.microsoft.com/office/drawing/2014/main" id="{A7D3C14E-AC6D-2AD2-CCA2-72A7089E404E}"/>
              </a:ext>
            </a:extLst>
          </p:cNvPr>
          <p:cNvSpPr txBox="1"/>
          <p:nvPr/>
        </p:nvSpPr>
        <p:spPr>
          <a:xfrm>
            <a:off x="6653573" y="2901887"/>
            <a:ext cx="1314493" cy="2308324"/>
          </a:xfrm>
          <a:prstGeom prst="rect">
            <a:avLst/>
          </a:prstGeom>
          <a:noFill/>
        </p:spPr>
        <p:txBody>
          <a:bodyPr wrap="square" rtlCol="0">
            <a:spAutoFit/>
          </a:bodyPr>
          <a:lstStyle/>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値型</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桁数</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入力コントロール</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値書式</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値単位</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値範囲</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選択リスト</a:t>
            </a:r>
            <a:endParaRPr lang="en-US" altLang="ja-JP" sz="900" dirty="0">
              <a:latin typeface="ＭＳ Ｐゴシック" panose="020B0600070205080204" pitchFamily="50" charset="-128"/>
              <a:ea typeface="ＭＳ Ｐゴシック" panose="020B0600070205080204" pitchFamily="50" charset="-128"/>
            </a:endParaRP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必須</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値丸め</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不適切値設定許可</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項目表示条件</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自動計算指示</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計算式</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入力者制限</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承認要否</a:t>
            </a:r>
          </a:p>
          <a:p>
            <a:pPr marL="87313" indent="-87313">
              <a:buFont typeface="Arial" panose="020B0604020202020204" pitchFamily="34" charset="0"/>
              <a:buChar char="•"/>
            </a:pPr>
            <a:r>
              <a:rPr lang="ja-JP" altLang="en-US" sz="900" dirty="0">
                <a:latin typeface="ＭＳ Ｐゴシック" panose="020B0600070205080204" pitchFamily="50" charset="-128"/>
                <a:ea typeface="ＭＳ Ｐゴシック" panose="020B0600070205080204" pitchFamily="50" charset="-128"/>
              </a:rPr>
              <a:t>説明</a:t>
            </a:r>
          </a:p>
        </p:txBody>
      </p:sp>
    </p:spTree>
    <p:extLst>
      <p:ext uri="{BB962C8B-B14F-4D97-AF65-F5344CB8AC3E}">
        <p14:creationId xmlns:p14="http://schemas.microsoft.com/office/powerpoint/2010/main" val="10264190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3771" y="140363"/>
            <a:ext cx="7502953" cy="394662"/>
          </a:xfrm>
        </p:spPr>
        <p:txBody>
          <a:bodyPr>
            <a:normAutofit/>
          </a:bodyPr>
          <a:lstStyle/>
          <a:p>
            <a:r>
              <a:rPr lang="ja-JP" altLang="en-US" sz="1400" b="1" dirty="0">
                <a:latin typeface="メイリオ" panose="020B0604030504040204" pitchFamily="50" charset="-128"/>
                <a:ea typeface="メイリオ" panose="020B0604030504040204" pitchFamily="50" charset="-128"/>
                <a:cs typeface="Calibri" panose="020F0502020204030204" pitchFamily="34" charset="0"/>
              </a:rPr>
              <a:t>診療行為の基本単位　</a:t>
            </a:r>
            <a:r>
              <a:rPr lang="en-US" altLang="ja-JP" sz="1400" b="1" dirty="0">
                <a:latin typeface="メイリオ" panose="020B0604030504040204" pitchFamily="50" charset="-128"/>
                <a:ea typeface="メイリオ" panose="020B0604030504040204" pitchFamily="50" charset="-128"/>
                <a:cs typeface="Calibri" panose="020F0502020204030204" pitchFamily="34" charset="0"/>
              </a:rPr>
              <a:t>OAT Unit</a:t>
            </a:r>
            <a:endParaRPr lang="ja-JP" altLang="en-US" sz="1400" b="1" dirty="0">
              <a:latin typeface="メイリオ" panose="020B0604030504040204" pitchFamily="50" charset="-128"/>
              <a:ea typeface="メイリオ" panose="020B0604030504040204" pitchFamily="50" charset="-128"/>
              <a:cs typeface="Calibri" panose="020F0502020204030204" pitchFamily="34" charset="0"/>
            </a:endParaRPr>
          </a:p>
        </p:txBody>
      </p:sp>
      <p:sp>
        <p:nvSpPr>
          <p:cNvPr id="3" name="角丸四角形 2"/>
          <p:cNvSpPr/>
          <p:nvPr/>
        </p:nvSpPr>
        <p:spPr>
          <a:xfrm>
            <a:off x="5260976" y="987815"/>
            <a:ext cx="3479006" cy="5271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循環動態が安定</a:t>
            </a:r>
          </a:p>
        </p:txBody>
      </p:sp>
      <p:sp>
        <p:nvSpPr>
          <p:cNvPr id="4" name="角丸四角形 3"/>
          <p:cNvSpPr/>
          <p:nvPr/>
        </p:nvSpPr>
        <p:spPr>
          <a:xfrm>
            <a:off x="3796509" y="1883167"/>
            <a:ext cx="1857375" cy="66436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血圧</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(80</a:t>
            </a: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 </a:t>
            </a: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a:t>
            </a: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 </a:t>
            </a: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180 mmHg)</a:t>
            </a:r>
            <a:endPar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5" name="角丸四角形 4"/>
          <p:cNvSpPr/>
          <p:nvPr/>
        </p:nvSpPr>
        <p:spPr>
          <a:xfrm>
            <a:off x="6071793" y="1854590"/>
            <a:ext cx="1857375" cy="66436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脈拍（</a:t>
            </a: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&lt; 90 /m)</a:t>
            </a:r>
            <a:endPar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6" name="角丸四角形 5"/>
          <p:cNvSpPr/>
          <p:nvPr/>
        </p:nvSpPr>
        <p:spPr>
          <a:xfrm>
            <a:off x="8347078" y="1854590"/>
            <a:ext cx="1857375" cy="66436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胸部違和感なし</a:t>
            </a:r>
          </a:p>
        </p:txBody>
      </p:sp>
      <p:sp>
        <p:nvSpPr>
          <p:cNvPr id="7" name="角丸四角形 6"/>
          <p:cNvSpPr/>
          <p:nvPr/>
        </p:nvSpPr>
        <p:spPr>
          <a:xfrm>
            <a:off x="3796508" y="2797958"/>
            <a:ext cx="1857375" cy="664369"/>
          </a:xfrm>
          <a:prstGeom prst="roundRect">
            <a:avLst/>
          </a:prstGeom>
        </p:spPr>
        <p:style>
          <a:lnRef idx="1">
            <a:schemeClr val="accent4"/>
          </a:lnRef>
          <a:fillRef idx="2">
            <a:schemeClr val="accent4"/>
          </a:fillRef>
          <a:effectRef idx="1">
            <a:schemeClr val="accent4"/>
          </a:effectRef>
          <a:fontRef idx="minor">
            <a:schemeClr val="dk1"/>
          </a:fontRef>
        </p:style>
        <p:txBody>
          <a:bodyPr tIns="0" rtlCol="0" anchor="ct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血圧測定</a:t>
            </a:r>
            <a:endParaRPr lang="en-US" altLang="ja-JP"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8" name="角丸四角形 7"/>
          <p:cNvSpPr/>
          <p:nvPr/>
        </p:nvSpPr>
        <p:spPr>
          <a:xfrm>
            <a:off x="6071792" y="2797957"/>
            <a:ext cx="1857375" cy="664369"/>
          </a:xfrm>
          <a:prstGeom prst="roundRect">
            <a:avLst/>
          </a:prstGeom>
        </p:spPr>
        <p:style>
          <a:lnRef idx="1">
            <a:schemeClr val="accent4"/>
          </a:lnRef>
          <a:fillRef idx="2">
            <a:schemeClr val="accent4"/>
          </a:fillRef>
          <a:effectRef idx="1">
            <a:schemeClr val="accent4"/>
          </a:effectRef>
          <a:fontRef idx="minor">
            <a:schemeClr val="dk1"/>
          </a:fontRef>
        </p:style>
        <p:txBody>
          <a:bodyPr tIns="0" rtlCol="0" anchor="ct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脈拍数測定</a:t>
            </a:r>
          </a:p>
        </p:txBody>
      </p:sp>
      <p:sp>
        <p:nvSpPr>
          <p:cNvPr id="9" name="角丸四角形 8"/>
          <p:cNvSpPr/>
          <p:nvPr/>
        </p:nvSpPr>
        <p:spPr>
          <a:xfrm>
            <a:off x="8347076" y="2797957"/>
            <a:ext cx="1857375" cy="664369"/>
          </a:xfrm>
          <a:prstGeom prst="roundRect">
            <a:avLst/>
          </a:prstGeom>
        </p:spPr>
        <p:style>
          <a:lnRef idx="1">
            <a:schemeClr val="accent4"/>
          </a:lnRef>
          <a:fillRef idx="2">
            <a:schemeClr val="accent4"/>
          </a:fillRef>
          <a:effectRef idx="1">
            <a:schemeClr val="accent4"/>
          </a:effectRef>
          <a:fontRef idx="minor">
            <a:schemeClr val="dk1"/>
          </a:fontRef>
        </p:style>
        <p:txBody>
          <a:bodyPr tIns="0" rtlCol="0" anchor="ct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患者訴え聴取</a:t>
            </a:r>
          </a:p>
        </p:txBody>
      </p:sp>
      <p:sp>
        <p:nvSpPr>
          <p:cNvPr id="11" name="テキスト ボックス 10"/>
          <p:cNvSpPr txBox="1"/>
          <p:nvPr/>
        </p:nvSpPr>
        <p:spPr>
          <a:xfrm>
            <a:off x="3960250" y="4750840"/>
            <a:ext cx="338554" cy="857250"/>
          </a:xfrm>
          <a:prstGeom prst="rect">
            <a:avLst/>
          </a:prstGeom>
          <a:solidFill>
            <a:schemeClr val="accent1">
              <a:lumMod val="60000"/>
              <a:lumOff val="40000"/>
            </a:schemeClr>
          </a:solidFill>
          <a:ln>
            <a:solidFill>
              <a:schemeClr val="accent1"/>
            </a:solidFill>
          </a:ln>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範囲内</a:t>
            </a:r>
          </a:p>
        </p:txBody>
      </p:sp>
      <p:sp>
        <p:nvSpPr>
          <p:cNvPr id="12" name="テキスト ボックス 11"/>
          <p:cNvSpPr txBox="1"/>
          <p:nvPr/>
        </p:nvSpPr>
        <p:spPr>
          <a:xfrm>
            <a:off x="5087998" y="4750840"/>
            <a:ext cx="338554" cy="857250"/>
          </a:xfrm>
          <a:prstGeom prst="rect">
            <a:avLst/>
          </a:prstGeom>
          <a:solidFill>
            <a:schemeClr val="accent2"/>
          </a:solidFill>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範囲外</a:t>
            </a:r>
          </a:p>
        </p:txBody>
      </p:sp>
      <p:sp>
        <p:nvSpPr>
          <p:cNvPr id="13" name="テキスト ボックス 12"/>
          <p:cNvSpPr txBox="1"/>
          <p:nvPr/>
        </p:nvSpPr>
        <p:spPr>
          <a:xfrm>
            <a:off x="6431469" y="4750840"/>
            <a:ext cx="338554" cy="857250"/>
          </a:xfrm>
          <a:prstGeom prst="rect">
            <a:avLst/>
          </a:prstGeom>
          <a:solidFill>
            <a:schemeClr val="accent1">
              <a:lumMod val="60000"/>
              <a:lumOff val="40000"/>
            </a:schemeClr>
          </a:solidFill>
          <a:ln>
            <a:solidFill>
              <a:schemeClr val="accent1"/>
            </a:solidFill>
          </a:ln>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範囲内</a:t>
            </a:r>
          </a:p>
        </p:txBody>
      </p:sp>
      <p:sp>
        <p:nvSpPr>
          <p:cNvPr id="14" name="テキスト ボックス 13"/>
          <p:cNvSpPr txBox="1"/>
          <p:nvPr/>
        </p:nvSpPr>
        <p:spPr>
          <a:xfrm>
            <a:off x="7368267" y="4729399"/>
            <a:ext cx="338554" cy="857250"/>
          </a:xfrm>
          <a:prstGeom prst="rect">
            <a:avLst/>
          </a:prstGeom>
          <a:solidFill>
            <a:schemeClr val="accent2"/>
          </a:solidFill>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範囲外</a:t>
            </a:r>
          </a:p>
        </p:txBody>
      </p:sp>
      <p:sp>
        <p:nvSpPr>
          <p:cNvPr id="15" name="テキスト ボックス 14"/>
          <p:cNvSpPr txBox="1"/>
          <p:nvPr/>
        </p:nvSpPr>
        <p:spPr>
          <a:xfrm>
            <a:off x="8620805" y="4750840"/>
            <a:ext cx="338554" cy="857250"/>
          </a:xfrm>
          <a:prstGeom prst="rect">
            <a:avLst/>
          </a:prstGeom>
          <a:solidFill>
            <a:schemeClr val="accent1">
              <a:lumMod val="60000"/>
              <a:lumOff val="40000"/>
            </a:schemeClr>
          </a:solidFill>
          <a:ln>
            <a:solidFill>
              <a:schemeClr val="accent1"/>
            </a:solidFill>
          </a:ln>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範囲内</a:t>
            </a:r>
          </a:p>
        </p:txBody>
      </p:sp>
      <p:sp>
        <p:nvSpPr>
          <p:cNvPr id="16" name="テキスト ボックス 15"/>
          <p:cNvSpPr txBox="1"/>
          <p:nvPr/>
        </p:nvSpPr>
        <p:spPr>
          <a:xfrm>
            <a:off x="9593401" y="4738635"/>
            <a:ext cx="338554" cy="857250"/>
          </a:xfrm>
          <a:prstGeom prst="rect">
            <a:avLst/>
          </a:prstGeom>
          <a:solidFill>
            <a:schemeClr val="accent2"/>
          </a:solidFill>
        </p:spPr>
        <p:txBody>
          <a:bodyPr vert="eaVert" wrap="square" rtlCol="0">
            <a:spAutoFit/>
          </a:bodyPr>
          <a:lstStyle/>
          <a:p>
            <a:pPr algn="ctr">
              <a:defRPr/>
            </a:pPr>
            <a:r>
              <a:rPr lang="ja-JP" altLang="en-US" sz="1000" b="1" dirty="0">
                <a:solidFill>
                  <a:prstClr val="black"/>
                </a:solidFill>
                <a:latin typeface="メイリオ" panose="020B0604030504040204" pitchFamily="50" charset="-128"/>
                <a:ea typeface="メイリオ" panose="020B0604030504040204" pitchFamily="50" charset="-128"/>
                <a:cs typeface="Calibri" panose="020F0502020204030204" pitchFamily="34" charset="0"/>
              </a:rPr>
              <a:t>範囲外</a:t>
            </a:r>
          </a:p>
        </p:txBody>
      </p:sp>
      <p:sp>
        <p:nvSpPr>
          <p:cNvPr id="17" name="角丸四角形 16"/>
          <p:cNvSpPr/>
          <p:nvPr/>
        </p:nvSpPr>
        <p:spPr>
          <a:xfrm>
            <a:off x="3796508" y="3712749"/>
            <a:ext cx="1857375" cy="66436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tIns="0" rtlCol="0" anchor="ctr"/>
          <a:lstStyle/>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86 – 120 mmHg</a:t>
            </a:r>
          </a:p>
        </p:txBody>
      </p:sp>
      <p:sp>
        <p:nvSpPr>
          <p:cNvPr id="18" name="角丸四角形 17"/>
          <p:cNvSpPr/>
          <p:nvPr/>
        </p:nvSpPr>
        <p:spPr>
          <a:xfrm>
            <a:off x="6071792" y="3712748"/>
            <a:ext cx="1857375" cy="664369"/>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tIns="0" rtlCol="0" anchor="ctr"/>
          <a:lstStyle/>
          <a:p>
            <a:pPr algn="ctr">
              <a:defRPr/>
            </a:pPr>
            <a:r>
              <a:rPr lang="en-US" altLang="ja-JP" sz="1000" b="1" dirty="0">
                <a:solidFill>
                  <a:srgbClr val="FF0000"/>
                </a:solidFill>
                <a:latin typeface="メイリオ" panose="020B0604030504040204" pitchFamily="50" charset="-128"/>
                <a:ea typeface="メイリオ" panose="020B0604030504040204" pitchFamily="50" charset="-128"/>
                <a:cs typeface="Calibri" panose="020F0502020204030204" pitchFamily="34" charset="0"/>
              </a:rPr>
              <a:t>92 / m</a:t>
            </a:r>
            <a:endParaRPr lang="ja-JP" altLang="en-US" sz="1000" b="1" dirty="0">
              <a:solidFill>
                <a:srgbClr val="FF0000"/>
              </a:solidFill>
              <a:latin typeface="メイリオ" panose="020B0604030504040204" pitchFamily="50" charset="-128"/>
              <a:ea typeface="メイリオ" panose="020B0604030504040204" pitchFamily="50" charset="-128"/>
              <a:cs typeface="Calibri" panose="020F0502020204030204" pitchFamily="34" charset="0"/>
            </a:endParaRPr>
          </a:p>
        </p:txBody>
      </p:sp>
      <p:sp>
        <p:nvSpPr>
          <p:cNvPr id="19" name="角丸四角形 18"/>
          <p:cNvSpPr/>
          <p:nvPr/>
        </p:nvSpPr>
        <p:spPr>
          <a:xfrm>
            <a:off x="8347076" y="3712748"/>
            <a:ext cx="1857375" cy="664369"/>
          </a:xfrm>
          <a:prstGeom prst="roundRect">
            <a:avLst/>
          </a:prstGeom>
          <a:noFill/>
        </p:spPr>
        <p:style>
          <a:lnRef idx="2">
            <a:schemeClr val="accent6">
              <a:shade val="50000"/>
            </a:schemeClr>
          </a:lnRef>
          <a:fillRef idx="1">
            <a:schemeClr val="accent6"/>
          </a:fillRef>
          <a:effectRef idx="0">
            <a:schemeClr val="accent6"/>
          </a:effectRef>
          <a:fontRef idx="minor">
            <a:schemeClr val="lt1"/>
          </a:fontRef>
        </p:style>
        <p:txBody>
          <a:bodyPr tIns="0" rtlCol="0" anchor="ctr"/>
          <a:lstStyle/>
          <a:p>
            <a:pPr algn="ctr">
              <a:defRPr/>
            </a:pPr>
            <a:r>
              <a:rPr lang="ja-JP" altLang="en-US" sz="1000" b="1" dirty="0">
                <a:solidFill>
                  <a:srgbClr val="FF0000"/>
                </a:solidFill>
                <a:latin typeface="メイリオ" panose="020B0604030504040204" pitchFamily="50" charset="-128"/>
                <a:ea typeface="メイリオ" panose="020B0604030504040204" pitchFamily="50" charset="-128"/>
                <a:cs typeface="Calibri" panose="020F0502020204030204" pitchFamily="34" charset="0"/>
              </a:rPr>
              <a:t>あり</a:t>
            </a:r>
          </a:p>
        </p:txBody>
      </p:sp>
      <p:sp>
        <p:nvSpPr>
          <p:cNvPr id="20" name="角丸四角形 19"/>
          <p:cNvSpPr/>
          <p:nvPr/>
        </p:nvSpPr>
        <p:spPr>
          <a:xfrm>
            <a:off x="1772446" y="987814"/>
            <a:ext cx="1557337" cy="635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defRPr/>
            </a:pPr>
            <a:r>
              <a:rPr lang="ja-JP" altLang="en-US"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アウトカム</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Outcome</a:t>
            </a:r>
          </a:p>
        </p:txBody>
      </p:sp>
      <p:sp>
        <p:nvSpPr>
          <p:cNvPr id="21" name="角丸四角形 20"/>
          <p:cNvSpPr/>
          <p:nvPr/>
        </p:nvSpPr>
        <p:spPr>
          <a:xfrm>
            <a:off x="1772445" y="1905794"/>
            <a:ext cx="1557337" cy="635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defRPr/>
            </a:pPr>
            <a:r>
              <a:rPr lang="ja-JP" altLang="en-US" sz="1000" b="1">
                <a:solidFill>
                  <a:prstClr val="white"/>
                </a:solidFill>
                <a:latin typeface="メイリオ" panose="020B0604030504040204" pitchFamily="50" charset="-128"/>
                <a:ea typeface="メイリオ" panose="020B0604030504040204" pitchFamily="50" charset="-128"/>
                <a:cs typeface="Calibri" panose="020F0502020204030204" pitchFamily="34" charset="0"/>
              </a:rPr>
              <a:t>観察項目</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Assessment</a:t>
            </a:r>
          </a:p>
        </p:txBody>
      </p:sp>
      <p:sp>
        <p:nvSpPr>
          <p:cNvPr id="22" name="角丸四角形 21"/>
          <p:cNvSpPr/>
          <p:nvPr/>
        </p:nvSpPr>
        <p:spPr>
          <a:xfrm>
            <a:off x="1772446" y="3721085"/>
            <a:ext cx="1557337" cy="63579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defRPr/>
            </a:pPr>
            <a:r>
              <a:rPr lang="ja-JP" altLang="en-US"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結果 </a:t>
            </a:r>
            <a:r>
              <a:rPr lang="en-US" altLang="ja-JP"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Result</a:t>
            </a:r>
          </a:p>
        </p:txBody>
      </p:sp>
      <p:sp>
        <p:nvSpPr>
          <p:cNvPr id="23" name="角丸四角形 22"/>
          <p:cNvSpPr/>
          <p:nvPr/>
        </p:nvSpPr>
        <p:spPr>
          <a:xfrm>
            <a:off x="1772444" y="2826533"/>
            <a:ext cx="1557337" cy="635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defRPr/>
            </a:pPr>
            <a:r>
              <a:rPr lang="ja-JP" altLang="en-US" sz="1000" b="1">
                <a:solidFill>
                  <a:prstClr val="white"/>
                </a:solidFill>
                <a:latin typeface="メイリオ" panose="020B0604030504040204" pitchFamily="50" charset="-128"/>
                <a:ea typeface="メイリオ" panose="020B0604030504040204" pitchFamily="50" charset="-128"/>
                <a:cs typeface="Calibri" panose="020F0502020204030204" pitchFamily="34" charset="0"/>
              </a:rPr>
              <a:t>タスク</a:t>
            </a:r>
            <a:endPar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endParaRPr>
          </a:p>
          <a:p>
            <a:pPr algn="ctr">
              <a:defRPr/>
            </a:pPr>
            <a:r>
              <a:rPr lang="en-US" altLang="ja-JP" sz="1000" b="1" dirty="0">
                <a:solidFill>
                  <a:prstClr val="white"/>
                </a:solidFill>
                <a:latin typeface="メイリオ" panose="020B0604030504040204" pitchFamily="50" charset="-128"/>
                <a:ea typeface="メイリオ" panose="020B0604030504040204" pitchFamily="50" charset="-128"/>
                <a:cs typeface="Calibri" panose="020F0502020204030204" pitchFamily="34" charset="0"/>
              </a:rPr>
              <a:t>Task</a:t>
            </a:r>
          </a:p>
        </p:txBody>
      </p:sp>
      <p:sp>
        <p:nvSpPr>
          <p:cNvPr id="24" name="角丸四角形 23"/>
          <p:cNvSpPr/>
          <p:nvPr/>
        </p:nvSpPr>
        <p:spPr>
          <a:xfrm>
            <a:off x="1801615" y="4778763"/>
            <a:ext cx="1557337" cy="63579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defRPr/>
            </a:pPr>
            <a:r>
              <a:rPr lang="ja-JP" altLang="en-US"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判定</a:t>
            </a:r>
            <a:r>
              <a:rPr lang="en-US" altLang="ja-JP" sz="1000" b="1"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 Judge</a:t>
            </a:r>
          </a:p>
        </p:txBody>
      </p:sp>
      <p:sp>
        <p:nvSpPr>
          <p:cNvPr id="28" name="正方形/長方形 27"/>
          <p:cNvSpPr/>
          <p:nvPr/>
        </p:nvSpPr>
        <p:spPr>
          <a:xfrm>
            <a:off x="3615532" y="747990"/>
            <a:ext cx="6719960" cy="28357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000">
              <a:solidFill>
                <a:prstClr val="white"/>
              </a:solidFill>
              <a:latin typeface="Calibri" panose="020F0502020204030204" pitchFamily="34" charset="0"/>
              <a:cs typeface="Calibri" panose="020F0502020204030204" pitchFamily="34" charset="0"/>
            </a:endParaRPr>
          </a:p>
        </p:txBody>
      </p:sp>
      <p:cxnSp>
        <p:nvCxnSpPr>
          <p:cNvPr id="31" name="カギ線コネクタ 30"/>
          <p:cNvCxnSpPr>
            <a:stCxn id="3" idx="2"/>
          </p:cNvCxnSpPr>
          <p:nvPr/>
        </p:nvCxnSpPr>
        <p:spPr>
          <a:xfrm rot="16200000" flipH="1">
            <a:off x="6840865" y="1674589"/>
            <a:ext cx="319666" cy="4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カギ線コネクタ 32"/>
          <p:cNvCxnSpPr>
            <a:stCxn id="3" idx="2"/>
            <a:endCxn id="4" idx="0"/>
          </p:cNvCxnSpPr>
          <p:nvPr/>
        </p:nvCxnSpPr>
        <p:spPr>
          <a:xfrm rot="5400000">
            <a:off x="5678744" y="561430"/>
            <a:ext cx="368191" cy="227528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カギ線コネクタ 34"/>
          <p:cNvCxnSpPr>
            <a:stCxn id="3" idx="2"/>
            <a:endCxn id="6" idx="0"/>
          </p:cNvCxnSpPr>
          <p:nvPr/>
        </p:nvCxnSpPr>
        <p:spPr>
          <a:xfrm rot="16200000" flipH="1">
            <a:off x="7968315" y="547139"/>
            <a:ext cx="339614" cy="22752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a:stCxn id="4" idx="2"/>
            <a:endCxn id="7" idx="0"/>
          </p:cNvCxnSpPr>
          <p:nvPr/>
        </p:nvCxnSpPr>
        <p:spPr>
          <a:xfrm flipH="1">
            <a:off x="4725196" y="2547535"/>
            <a:ext cx="1"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p:cNvCxnSpPr>
            <a:stCxn id="5" idx="2"/>
            <a:endCxn id="8" idx="0"/>
          </p:cNvCxnSpPr>
          <p:nvPr/>
        </p:nvCxnSpPr>
        <p:spPr>
          <a:xfrm flipH="1">
            <a:off x="7000480" y="2518958"/>
            <a:ext cx="1" cy="278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a:stCxn id="6" idx="2"/>
            <a:endCxn id="9" idx="0"/>
          </p:cNvCxnSpPr>
          <p:nvPr/>
        </p:nvCxnSpPr>
        <p:spPr>
          <a:xfrm flipH="1">
            <a:off x="9275763" y="2518958"/>
            <a:ext cx="2" cy="278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p:cNvCxnSpPr>
            <a:stCxn id="7" idx="2"/>
            <a:endCxn id="17" idx="0"/>
          </p:cNvCxnSpPr>
          <p:nvPr/>
        </p:nvCxnSpPr>
        <p:spPr>
          <a:xfrm>
            <a:off x="4725195" y="3462326"/>
            <a:ext cx="0"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a:stCxn id="8" idx="2"/>
            <a:endCxn id="18" idx="0"/>
          </p:cNvCxnSpPr>
          <p:nvPr/>
        </p:nvCxnSpPr>
        <p:spPr>
          <a:xfrm>
            <a:off x="7000479" y="3462325"/>
            <a:ext cx="0"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線矢印コネクタ 50"/>
          <p:cNvCxnSpPr>
            <a:stCxn id="9" idx="2"/>
            <a:endCxn id="19" idx="0"/>
          </p:cNvCxnSpPr>
          <p:nvPr/>
        </p:nvCxnSpPr>
        <p:spPr>
          <a:xfrm>
            <a:off x="9275763" y="3462325"/>
            <a:ext cx="0" cy="250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カギ線コネクタ 52"/>
          <p:cNvCxnSpPr>
            <a:stCxn id="73" idx="2"/>
            <a:endCxn id="11" idx="0"/>
          </p:cNvCxnSpPr>
          <p:nvPr/>
        </p:nvCxnSpPr>
        <p:spPr>
          <a:xfrm rot="5400000">
            <a:off x="4253700" y="4284979"/>
            <a:ext cx="280133" cy="65158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カギ線コネクタ 54"/>
          <p:cNvCxnSpPr>
            <a:stCxn id="74" idx="2"/>
            <a:endCxn id="14" idx="0"/>
          </p:cNvCxnSpPr>
          <p:nvPr/>
        </p:nvCxnSpPr>
        <p:spPr>
          <a:xfrm rot="16200000" flipH="1">
            <a:off x="7107520" y="4360931"/>
            <a:ext cx="273404" cy="463532"/>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カギ線コネクタ 56"/>
          <p:cNvCxnSpPr>
            <a:stCxn id="75" idx="2"/>
            <a:endCxn id="16" idx="0"/>
          </p:cNvCxnSpPr>
          <p:nvPr/>
        </p:nvCxnSpPr>
        <p:spPr>
          <a:xfrm rot="16200000" flipH="1">
            <a:off x="9363286" y="4400798"/>
            <a:ext cx="267929" cy="407745"/>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1582731" y="3583783"/>
            <a:ext cx="1897071" cy="19474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000">
              <a:solidFill>
                <a:prstClr val="white"/>
              </a:solidFill>
              <a:latin typeface="Calibri" panose="020F0502020204030204" pitchFamily="34" charset="0"/>
              <a:cs typeface="Calibri" panose="020F0502020204030204" pitchFamily="34" charset="0"/>
            </a:endParaRPr>
          </a:p>
        </p:txBody>
      </p:sp>
      <p:sp>
        <p:nvSpPr>
          <p:cNvPr id="30" name="テキスト ボックス 29"/>
          <p:cNvSpPr txBox="1"/>
          <p:nvPr/>
        </p:nvSpPr>
        <p:spPr>
          <a:xfrm>
            <a:off x="2307153" y="4395437"/>
            <a:ext cx="441146" cy="246221"/>
          </a:xfrm>
          <a:prstGeom prst="rect">
            <a:avLst/>
          </a:prstGeom>
          <a:noFill/>
        </p:spPr>
        <p:txBody>
          <a:bodyPr wrap="non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記録</a:t>
            </a:r>
          </a:p>
        </p:txBody>
      </p:sp>
      <p:cxnSp>
        <p:nvCxnSpPr>
          <p:cNvPr id="36" name="直線矢印コネクタ 35"/>
          <p:cNvCxnSpPr/>
          <p:nvPr/>
        </p:nvCxnSpPr>
        <p:spPr>
          <a:xfrm flipH="1" flipV="1">
            <a:off x="8194256" y="1521983"/>
            <a:ext cx="36817" cy="430779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爆発 1 37"/>
          <p:cNvSpPr/>
          <p:nvPr/>
        </p:nvSpPr>
        <p:spPr>
          <a:xfrm>
            <a:off x="8050114" y="789765"/>
            <a:ext cx="2275286" cy="759714"/>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b="1">
                <a:latin typeface="メイリオ" panose="020B0604030504040204" pitchFamily="50" charset="-128"/>
                <a:ea typeface="メイリオ" panose="020B0604030504040204" pitchFamily="50" charset="-128"/>
                <a:cs typeface="Calibri" panose="020F0502020204030204" pitchFamily="34" charset="0"/>
              </a:rPr>
              <a:t>バリアンス</a:t>
            </a:r>
            <a:endParaRPr lang="ja-JP" altLang="en-US" sz="1000" b="1" dirty="0">
              <a:latin typeface="メイリオ" panose="020B0604030504040204" pitchFamily="50" charset="-128"/>
              <a:ea typeface="メイリオ" panose="020B0604030504040204" pitchFamily="50" charset="-128"/>
              <a:cs typeface="Calibri" panose="020F0502020204030204" pitchFamily="34" charset="0"/>
            </a:endParaRPr>
          </a:p>
        </p:txBody>
      </p:sp>
      <p:cxnSp>
        <p:nvCxnSpPr>
          <p:cNvPr id="40" name="カギ線コネクタ 39"/>
          <p:cNvCxnSpPr/>
          <p:nvPr/>
        </p:nvCxnSpPr>
        <p:spPr>
          <a:xfrm rot="16200000" flipH="1">
            <a:off x="8583937" y="4478700"/>
            <a:ext cx="9236" cy="2225134"/>
          </a:xfrm>
          <a:prstGeom prst="bentConnector3">
            <a:avLst>
              <a:gd name="adj1" fmla="val 2575097"/>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四角形: 角を丸くする 163">
            <a:extLst>
              <a:ext uri="{FF2B5EF4-FFF2-40B4-BE49-F238E27FC236}">
                <a16:creationId xmlns:a16="http://schemas.microsoft.com/office/drawing/2014/main" id="{8FFBE91B-0A4A-4915-AB09-8347EA66FCC7}"/>
              </a:ext>
            </a:extLst>
          </p:cNvPr>
          <p:cNvSpPr/>
          <p:nvPr/>
        </p:nvSpPr>
        <p:spPr>
          <a:xfrm>
            <a:off x="1776706" y="2435169"/>
            <a:ext cx="75919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46" name="四角形: 角を丸くする 163">
            <a:extLst>
              <a:ext uri="{FF2B5EF4-FFF2-40B4-BE49-F238E27FC236}">
                <a16:creationId xmlns:a16="http://schemas.microsoft.com/office/drawing/2014/main" id="{8FFBE91B-0A4A-4915-AB09-8347EA66FCC7}"/>
              </a:ext>
            </a:extLst>
          </p:cNvPr>
          <p:cNvSpPr/>
          <p:nvPr/>
        </p:nvSpPr>
        <p:spPr>
          <a:xfrm>
            <a:off x="1801614" y="550715"/>
            <a:ext cx="1528166" cy="393062"/>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endParaRPr lang="en-US" altLang="ja-JP" sz="1000" b="1" dirty="0">
              <a:solidFill>
                <a:schemeClr val="tx1"/>
              </a:solidFill>
              <a:latin typeface="Calibri" panose="020F0502020204030204" pitchFamily="34" charset="0"/>
              <a:cs typeface="Calibri" panose="020F0502020204030204" pitchFamily="34" charset="0"/>
            </a:endParaRPr>
          </a:p>
          <a:p>
            <a:pPr algn="ctr"/>
            <a:r>
              <a:rPr lang="en-US" altLang="ja-JP" sz="1000" b="1" dirty="0">
                <a:solidFill>
                  <a:schemeClr val="tx1"/>
                </a:solidFill>
                <a:latin typeface="Calibri" panose="020F0502020204030204" pitchFamily="34" charset="0"/>
                <a:cs typeface="Calibri" panose="020F0502020204030204" pitchFamily="34" charset="0"/>
              </a:rPr>
              <a:t>OAT Unit</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0" name="四角形: 角を丸くする 163">
            <a:extLst>
              <a:ext uri="{FF2B5EF4-FFF2-40B4-BE49-F238E27FC236}">
                <a16:creationId xmlns:a16="http://schemas.microsoft.com/office/drawing/2014/main" id="{8FFBE91B-0A4A-4915-AB09-8347EA66FCC7}"/>
              </a:ext>
            </a:extLst>
          </p:cNvPr>
          <p:cNvSpPr/>
          <p:nvPr/>
        </p:nvSpPr>
        <p:spPr>
          <a:xfrm>
            <a:off x="2025372" y="3368802"/>
            <a:ext cx="108002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2" name="四角形: 角を丸くする 163">
            <a:extLst>
              <a:ext uri="{FF2B5EF4-FFF2-40B4-BE49-F238E27FC236}">
                <a16:creationId xmlns:a16="http://schemas.microsoft.com/office/drawing/2014/main" id="{8FFBE91B-0A4A-4915-AB09-8347EA66FCC7}"/>
              </a:ext>
            </a:extLst>
          </p:cNvPr>
          <p:cNvSpPr/>
          <p:nvPr/>
        </p:nvSpPr>
        <p:spPr>
          <a:xfrm>
            <a:off x="2025372" y="4083954"/>
            <a:ext cx="108002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Observation</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4" name="四角形: 角を丸くする 163">
            <a:extLst>
              <a:ext uri="{FF2B5EF4-FFF2-40B4-BE49-F238E27FC236}">
                <a16:creationId xmlns:a16="http://schemas.microsoft.com/office/drawing/2014/main" id="{8FFBE91B-0A4A-4915-AB09-8347EA66FCC7}"/>
              </a:ext>
            </a:extLst>
          </p:cNvPr>
          <p:cNvSpPr/>
          <p:nvPr/>
        </p:nvSpPr>
        <p:spPr>
          <a:xfrm>
            <a:off x="1855831" y="5141600"/>
            <a:ext cx="139845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smtClean="0">
                <a:solidFill>
                  <a:schemeClr val="tx1"/>
                </a:solidFill>
                <a:latin typeface="Calibri" panose="020F0502020204030204" pitchFamily="34" charset="0"/>
                <a:cs typeface="Calibri" panose="020F0502020204030204" pitchFamily="34" charset="0"/>
              </a:rPr>
              <a:t>Goal / Observation</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56" name="四角形: 角を丸くする 163">
            <a:extLst>
              <a:ext uri="{FF2B5EF4-FFF2-40B4-BE49-F238E27FC236}">
                <a16:creationId xmlns:a16="http://schemas.microsoft.com/office/drawing/2014/main" id="{8FFBE91B-0A4A-4915-AB09-8347EA66FCC7}"/>
              </a:ext>
            </a:extLst>
          </p:cNvPr>
          <p:cNvSpPr/>
          <p:nvPr/>
        </p:nvSpPr>
        <p:spPr>
          <a:xfrm>
            <a:off x="1814340" y="6113457"/>
            <a:ext cx="108002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72000" rtlCol="0" anchor="t" anchorCtr="0"/>
          <a:lstStyle/>
          <a:p>
            <a:pPr algn="ctr"/>
            <a:r>
              <a:rPr lang="ja-JP" altLang="en-US" sz="1000" b="1" dirty="0">
                <a:solidFill>
                  <a:schemeClr val="tx1"/>
                </a:solidFill>
                <a:latin typeface="Calibri" panose="020F0502020204030204" pitchFamily="34" charset="0"/>
                <a:cs typeface="Calibri" panose="020F0502020204030204" pitchFamily="34" charset="0"/>
              </a:rPr>
              <a:t>リソース名</a:t>
            </a:r>
          </a:p>
        </p:txBody>
      </p:sp>
      <p:sp>
        <p:nvSpPr>
          <p:cNvPr id="58" name="四角形: 角を丸くする 163">
            <a:extLst>
              <a:ext uri="{FF2B5EF4-FFF2-40B4-BE49-F238E27FC236}">
                <a16:creationId xmlns:a16="http://schemas.microsoft.com/office/drawing/2014/main" id="{8FFBE91B-0A4A-4915-AB09-8347EA66FCC7}"/>
              </a:ext>
            </a:extLst>
          </p:cNvPr>
          <p:cNvSpPr/>
          <p:nvPr/>
        </p:nvSpPr>
        <p:spPr>
          <a:xfrm>
            <a:off x="2917794" y="6120860"/>
            <a:ext cx="2152857" cy="304303"/>
          </a:xfrm>
          <a:prstGeom prst="roundRect">
            <a:avLst/>
          </a:prstGeom>
          <a:noFill/>
          <a:ln w="12700">
            <a:noFill/>
          </a:ln>
        </p:spPr>
        <p:style>
          <a:lnRef idx="1">
            <a:schemeClr val="accent4"/>
          </a:lnRef>
          <a:fillRef idx="2">
            <a:schemeClr val="accent4"/>
          </a:fillRef>
          <a:effectRef idx="1">
            <a:schemeClr val="accent4"/>
          </a:effectRef>
          <a:fontRef idx="minor">
            <a:schemeClr val="dk1"/>
          </a:fontRef>
        </p:style>
        <p:txBody>
          <a:bodyPr lIns="36000" tIns="72000" rtlCol="0" anchor="t" anchorCtr="0"/>
          <a:lstStyle/>
          <a:p>
            <a:r>
              <a:rPr lang="ja-JP" altLang="en-US" sz="1000" b="1" dirty="0">
                <a:solidFill>
                  <a:schemeClr val="tx1"/>
                </a:solidFill>
                <a:latin typeface="Calibri" panose="020F0502020204030204" pitchFamily="34" charset="0"/>
                <a:cs typeface="Calibri" panose="020F0502020204030204" pitchFamily="34" charset="0"/>
              </a:rPr>
              <a:t>は</a:t>
            </a:r>
            <a:r>
              <a:rPr lang="en-US" altLang="ja-JP" sz="1000" b="1" dirty="0">
                <a:solidFill>
                  <a:schemeClr val="tx1"/>
                </a:solidFill>
                <a:latin typeface="Calibri" panose="020F0502020204030204" pitchFamily="34" charset="0"/>
                <a:cs typeface="Calibri" panose="020F0502020204030204" pitchFamily="34" charset="0"/>
              </a:rPr>
              <a:t>FHIR</a:t>
            </a:r>
            <a:r>
              <a:rPr lang="ja-JP" altLang="en-US" sz="1000" b="1" dirty="0">
                <a:solidFill>
                  <a:schemeClr val="tx1"/>
                </a:solidFill>
                <a:latin typeface="Calibri" panose="020F0502020204030204" pitchFamily="34" charset="0"/>
                <a:cs typeface="Calibri" panose="020F0502020204030204" pitchFamily="34" charset="0"/>
              </a:rPr>
              <a:t>リソースを表す</a:t>
            </a:r>
          </a:p>
        </p:txBody>
      </p:sp>
      <p:sp>
        <p:nvSpPr>
          <p:cNvPr id="63" name="四角形: 角を丸くする 163">
            <a:extLst>
              <a:ext uri="{FF2B5EF4-FFF2-40B4-BE49-F238E27FC236}">
                <a16:creationId xmlns:a16="http://schemas.microsoft.com/office/drawing/2014/main" id="{8FFBE91B-0A4A-4915-AB09-8347EA66FCC7}"/>
              </a:ext>
            </a:extLst>
          </p:cNvPr>
          <p:cNvSpPr/>
          <p:nvPr/>
        </p:nvSpPr>
        <p:spPr>
          <a:xfrm>
            <a:off x="4914409" y="2395576"/>
            <a:ext cx="841679"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Goal.target</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4" name="四角形: 角を丸くする 163">
            <a:extLst>
              <a:ext uri="{FF2B5EF4-FFF2-40B4-BE49-F238E27FC236}">
                <a16:creationId xmlns:a16="http://schemas.microsoft.com/office/drawing/2014/main" id="{8FFBE91B-0A4A-4915-AB09-8347EA66FCC7}"/>
              </a:ext>
            </a:extLst>
          </p:cNvPr>
          <p:cNvSpPr/>
          <p:nvPr/>
        </p:nvSpPr>
        <p:spPr>
          <a:xfrm>
            <a:off x="3737019" y="2398563"/>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5" name="四角形: 角を丸くする 163">
            <a:extLst>
              <a:ext uri="{FF2B5EF4-FFF2-40B4-BE49-F238E27FC236}">
                <a16:creationId xmlns:a16="http://schemas.microsoft.com/office/drawing/2014/main" id="{8FFBE91B-0A4A-4915-AB09-8347EA66FCC7}"/>
              </a:ext>
            </a:extLst>
          </p:cNvPr>
          <p:cNvSpPr/>
          <p:nvPr/>
        </p:nvSpPr>
        <p:spPr>
          <a:xfrm>
            <a:off x="6013880" y="2402118"/>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6" name="四角形: 角を丸くする 163">
            <a:extLst>
              <a:ext uri="{FF2B5EF4-FFF2-40B4-BE49-F238E27FC236}">
                <a16:creationId xmlns:a16="http://schemas.microsoft.com/office/drawing/2014/main" id="{8FFBE91B-0A4A-4915-AB09-8347EA66FCC7}"/>
              </a:ext>
            </a:extLst>
          </p:cNvPr>
          <p:cNvSpPr/>
          <p:nvPr/>
        </p:nvSpPr>
        <p:spPr>
          <a:xfrm>
            <a:off x="8325535" y="2398563"/>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CarePlan</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7" name="四角形: 角を丸くする 163">
            <a:extLst>
              <a:ext uri="{FF2B5EF4-FFF2-40B4-BE49-F238E27FC236}">
                <a16:creationId xmlns:a16="http://schemas.microsoft.com/office/drawing/2014/main" id="{8FFBE91B-0A4A-4915-AB09-8347EA66FCC7}"/>
              </a:ext>
            </a:extLst>
          </p:cNvPr>
          <p:cNvSpPr/>
          <p:nvPr/>
        </p:nvSpPr>
        <p:spPr>
          <a:xfrm>
            <a:off x="5144399" y="1093381"/>
            <a:ext cx="75948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68" name="四角形: 角を丸くする 163">
            <a:extLst>
              <a:ext uri="{FF2B5EF4-FFF2-40B4-BE49-F238E27FC236}">
                <a16:creationId xmlns:a16="http://schemas.microsoft.com/office/drawing/2014/main" id="{8FFBE91B-0A4A-4915-AB09-8347EA66FCC7}"/>
              </a:ext>
            </a:extLst>
          </p:cNvPr>
          <p:cNvSpPr/>
          <p:nvPr/>
        </p:nvSpPr>
        <p:spPr>
          <a:xfrm>
            <a:off x="3728461" y="3213782"/>
            <a:ext cx="76803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1" name="四角形: 角を丸くする 163">
            <a:extLst>
              <a:ext uri="{FF2B5EF4-FFF2-40B4-BE49-F238E27FC236}">
                <a16:creationId xmlns:a16="http://schemas.microsoft.com/office/drawing/2014/main" id="{8FFBE91B-0A4A-4915-AB09-8347EA66FCC7}"/>
              </a:ext>
            </a:extLst>
          </p:cNvPr>
          <p:cNvSpPr/>
          <p:nvPr/>
        </p:nvSpPr>
        <p:spPr>
          <a:xfrm>
            <a:off x="7201709" y="2412830"/>
            <a:ext cx="841679"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Goal.target</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2" name="四角形: 角を丸くする 163">
            <a:extLst>
              <a:ext uri="{FF2B5EF4-FFF2-40B4-BE49-F238E27FC236}">
                <a16:creationId xmlns:a16="http://schemas.microsoft.com/office/drawing/2014/main" id="{8FFBE91B-0A4A-4915-AB09-8347EA66FCC7}"/>
              </a:ext>
            </a:extLst>
          </p:cNvPr>
          <p:cNvSpPr/>
          <p:nvPr/>
        </p:nvSpPr>
        <p:spPr>
          <a:xfrm>
            <a:off x="9457015" y="2412829"/>
            <a:ext cx="841679"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Goal.target</a:t>
            </a:r>
            <a:r>
              <a:rPr lang="en-US" altLang="ja-JP" sz="1000" b="1" dirty="0">
                <a:solidFill>
                  <a:schemeClr val="tx1"/>
                </a:solidFill>
                <a:latin typeface="Calibri" panose="020F0502020204030204" pitchFamily="34" charset="0"/>
                <a:cs typeface="Calibri" panose="020F0502020204030204" pitchFamily="34" charset="0"/>
              </a:rPr>
              <a:t>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3" name="四角形: 角を丸くする 163">
            <a:extLst>
              <a:ext uri="{FF2B5EF4-FFF2-40B4-BE49-F238E27FC236}">
                <a16:creationId xmlns:a16="http://schemas.microsoft.com/office/drawing/2014/main" id="{8FFBE91B-0A4A-4915-AB09-8347EA66FCC7}"/>
              </a:ext>
            </a:extLst>
          </p:cNvPr>
          <p:cNvSpPr/>
          <p:nvPr/>
        </p:nvSpPr>
        <p:spPr>
          <a:xfrm>
            <a:off x="3951053" y="4166405"/>
            <a:ext cx="153701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Observation.value</a:t>
            </a:r>
            <a:r>
              <a:rPr lang="en-US" altLang="ja-JP" sz="1000" b="1" dirty="0">
                <a:solidFill>
                  <a:schemeClr val="tx1"/>
                </a:solidFill>
                <a:latin typeface="Calibri" panose="020F0502020204030204" pitchFamily="34" charset="0"/>
                <a:cs typeface="Calibri" panose="020F0502020204030204" pitchFamily="34" charset="0"/>
              </a:rPr>
              <a:t>[x]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4" name="四角形: 角を丸くする 163">
            <a:extLst>
              <a:ext uri="{FF2B5EF4-FFF2-40B4-BE49-F238E27FC236}">
                <a16:creationId xmlns:a16="http://schemas.microsoft.com/office/drawing/2014/main" id="{8FFBE91B-0A4A-4915-AB09-8347EA66FCC7}"/>
              </a:ext>
            </a:extLst>
          </p:cNvPr>
          <p:cNvSpPr/>
          <p:nvPr/>
        </p:nvSpPr>
        <p:spPr>
          <a:xfrm>
            <a:off x="6243950" y="4151693"/>
            <a:ext cx="153701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Observation.value</a:t>
            </a:r>
            <a:r>
              <a:rPr lang="en-US" altLang="ja-JP" sz="1000" b="1" dirty="0">
                <a:solidFill>
                  <a:schemeClr val="tx1"/>
                </a:solidFill>
                <a:latin typeface="Calibri" panose="020F0502020204030204" pitchFamily="34" charset="0"/>
                <a:cs typeface="Calibri" panose="020F0502020204030204" pitchFamily="34" charset="0"/>
              </a:rPr>
              <a:t>[x]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5" name="四角形: 角を丸くする 163">
            <a:extLst>
              <a:ext uri="{FF2B5EF4-FFF2-40B4-BE49-F238E27FC236}">
                <a16:creationId xmlns:a16="http://schemas.microsoft.com/office/drawing/2014/main" id="{8FFBE91B-0A4A-4915-AB09-8347EA66FCC7}"/>
              </a:ext>
            </a:extLst>
          </p:cNvPr>
          <p:cNvSpPr/>
          <p:nvPr/>
        </p:nvSpPr>
        <p:spPr>
          <a:xfrm>
            <a:off x="8524871" y="4166404"/>
            <a:ext cx="153701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Observation.value</a:t>
            </a:r>
            <a:r>
              <a:rPr lang="en-US" altLang="ja-JP" sz="1000" b="1" dirty="0">
                <a:solidFill>
                  <a:schemeClr val="tx1"/>
                </a:solidFill>
                <a:latin typeface="Calibri" panose="020F0502020204030204" pitchFamily="34" charset="0"/>
                <a:cs typeface="Calibri" panose="020F0502020204030204" pitchFamily="34" charset="0"/>
              </a:rPr>
              <a:t>[x] </a:t>
            </a:r>
            <a:endParaRPr lang="ja-JP" altLang="en-US" sz="1000" b="1" dirty="0">
              <a:solidFill>
                <a:schemeClr val="tx1"/>
              </a:solidFill>
              <a:latin typeface="Calibri" panose="020F0502020204030204" pitchFamily="34" charset="0"/>
              <a:cs typeface="Calibri" panose="020F0502020204030204" pitchFamily="34" charset="0"/>
            </a:endParaRPr>
          </a:p>
        </p:txBody>
      </p:sp>
      <p:cxnSp>
        <p:nvCxnSpPr>
          <p:cNvPr id="82" name="カギ線コネクタ 81"/>
          <p:cNvCxnSpPr>
            <a:stCxn id="63" idx="3"/>
            <a:endCxn id="73" idx="3"/>
          </p:cNvCxnSpPr>
          <p:nvPr/>
        </p:nvCxnSpPr>
        <p:spPr>
          <a:xfrm flipH="1">
            <a:off x="5488065" y="2547728"/>
            <a:ext cx="268022" cy="1770829"/>
          </a:xfrm>
          <a:prstGeom prst="bentConnector3">
            <a:avLst>
              <a:gd name="adj1" fmla="val -26708"/>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カギ線コネクタ 85"/>
          <p:cNvCxnSpPr>
            <a:stCxn id="71" idx="3"/>
            <a:endCxn id="74" idx="3"/>
          </p:cNvCxnSpPr>
          <p:nvPr/>
        </p:nvCxnSpPr>
        <p:spPr>
          <a:xfrm flipH="1">
            <a:off x="7780963" y="2564982"/>
            <a:ext cx="262425" cy="1738863"/>
          </a:xfrm>
          <a:prstGeom prst="bentConnector3">
            <a:avLst>
              <a:gd name="adj1" fmla="val -23758"/>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1" name="カギ線コネクタ 90"/>
          <p:cNvCxnSpPr>
            <a:stCxn id="72" idx="3"/>
            <a:endCxn id="75" idx="3"/>
          </p:cNvCxnSpPr>
          <p:nvPr/>
        </p:nvCxnSpPr>
        <p:spPr>
          <a:xfrm flipH="1">
            <a:off x="10061883" y="2564981"/>
            <a:ext cx="236810" cy="1753575"/>
          </a:xfrm>
          <a:prstGeom prst="bentConnector3">
            <a:avLst>
              <a:gd name="adj1" fmla="val -53629"/>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0" name="四角形: 角を丸くする 163">
            <a:extLst>
              <a:ext uri="{FF2B5EF4-FFF2-40B4-BE49-F238E27FC236}">
                <a16:creationId xmlns:a16="http://schemas.microsoft.com/office/drawing/2014/main" id="{8FFBE91B-0A4A-4915-AB09-8347EA66FCC7}"/>
              </a:ext>
            </a:extLst>
          </p:cNvPr>
          <p:cNvSpPr/>
          <p:nvPr/>
        </p:nvSpPr>
        <p:spPr>
          <a:xfrm>
            <a:off x="8050118" y="1228352"/>
            <a:ext cx="2275283" cy="252118"/>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rgbClr val="FF0000"/>
                </a:solidFill>
                <a:latin typeface="Calibri" panose="020F0502020204030204" pitchFamily="34" charset="0"/>
                <a:cs typeface="Calibri" panose="020F0502020204030204" pitchFamily="34" charset="0"/>
              </a:rPr>
              <a:t>Goal.achievementStatus</a:t>
            </a:r>
            <a:r>
              <a:rPr lang="en-US" altLang="ja-JP" sz="1000" b="1" dirty="0">
                <a:solidFill>
                  <a:srgbClr val="FF0000"/>
                </a:solidFill>
                <a:latin typeface="Calibri" panose="020F0502020204030204" pitchFamily="34" charset="0"/>
                <a:cs typeface="Calibri" panose="020F0502020204030204" pitchFamily="34" charset="0"/>
              </a:rPr>
              <a:t>=not-achieved </a:t>
            </a:r>
            <a:endParaRPr lang="ja-JP" altLang="en-US" sz="1000" b="1" dirty="0">
              <a:solidFill>
                <a:srgbClr val="FF0000"/>
              </a:solidFill>
              <a:latin typeface="Calibri" panose="020F0502020204030204" pitchFamily="34" charset="0"/>
              <a:cs typeface="Calibri" panose="020F0502020204030204" pitchFamily="34" charset="0"/>
            </a:endParaRPr>
          </a:p>
        </p:txBody>
      </p:sp>
      <p:sp>
        <p:nvSpPr>
          <p:cNvPr id="104" name="四角形: 角を丸くする 163">
            <a:extLst>
              <a:ext uri="{FF2B5EF4-FFF2-40B4-BE49-F238E27FC236}">
                <a16:creationId xmlns:a16="http://schemas.microsoft.com/office/drawing/2014/main" id="{8FFBE91B-0A4A-4915-AB09-8347EA66FCC7}"/>
              </a:ext>
            </a:extLst>
          </p:cNvPr>
          <p:cNvSpPr/>
          <p:nvPr/>
        </p:nvSpPr>
        <p:spPr>
          <a:xfrm>
            <a:off x="6566744" y="5923507"/>
            <a:ext cx="1483371" cy="456478"/>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rgbClr val="FF0000"/>
                </a:solidFill>
                <a:latin typeface="Calibri" panose="020F0502020204030204" pitchFamily="34" charset="0"/>
                <a:cs typeface="Calibri" panose="020F0502020204030204" pitchFamily="34" charset="0"/>
              </a:rPr>
              <a:t>Goal.achievementStatus</a:t>
            </a:r>
            <a:r>
              <a:rPr lang="en-US" altLang="ja-JP" sz="1000" b="1" dirty="0">
                <a:solidFill>
                  <a:srgbClr val="FF0000"/>
                </a:solidFill>
                <a:latin typeface="Calibri" panose="020F0502020204030204" pitchFamily="34" charset="0"/>
                <a:cs typeface="Calibri" panose="020F0502020204030204" pitchFamily="34" charset="0"/>
              </a:rPr>
              <a:t>=not-achieved </a:t>
            </a:r>
            <a:endParaRPr lang="ja-JP" altLang="en-US" sz="1000" b="1" dirty="0">
              <a:solidFill>
                <a:srgbClr val="FF0000"/>
              </a:solidFill>
              <a:latin typeface="Calibri" panose="020F0502020204030204" pitchFamily="34" charset="0"/>
              <a:cs typeface="Calibri" panose="020F0502020204030204" pitchFamily="34" charset="0"/>
            </a:endParaRPr>
          </a:p>
        </p:txBody>
      </p:sp>
      <p:cxnSp>
        <p:nvCxnSpPr>
          <p:cNvPr id="108" name="カギ線コネクタ 107"/>
          <p:cNvCxnSpPr>
            <a:stCxn id="46" idx="1"/>
            <a:endCxn id="44" idx="1"/>
          </p:cNvCxnSpPr>
          <p:nvPr/>
        </p:nvCxnSpPr>
        <p:spPr>
          <a:xfrm rot="10800000" flipV="1">
            <a:off x="1776707" y="747246"/>
            <a:ext cx="24909" cy="1840074"/>
          </a:xfrm>
          <a:prstGeom prst="bentConnector3">
            <a:avLst>
              <a:gd name="adj1" fmla="val 795259"/>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17" name="四角形: 角を丸くする 163">
            <a:extLst>
              <a:ext uri="{FF2B5EF4-FFF2-40B4-BE49-F238E27FC236}">
                <a16:creationId xmlns:a16="http://schemas.microsoft.com/office/drawing/2014/main" id="{8FFBE91B-0A4A-4915-AB09-8347EA66FCC7}"/>
              </a:ext>
            </a:extLst>
          </p:cNvPr>
          <p:cNvSpPr/>
          <p:nvPr/>
        </p:nvSpPr>
        <p:spPr>
          <a:xfrm>
            <a:off x="1582731" y="1557647"/>
            <a:ext cx="503559" cy="240613"/>
          </a:xfrm>
          <a:prstGeom prst="roundRect">
            <a:avLst/>
          </a:prstGeom>
          <a:solidFill>
            <a:schemeClr val="bg1"/>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36000" rtlCol="0" anchor="t" anchorCtr="0"/>
          <a:lstStyle/>
          <a:p>
            <a:pPr algn="ctr"/>
            <a:r>
              <a:rPr lang="en-US" altLang="ja-JP" sz="1000" b="1" dirty="0" err="1">
                <a:solidFill>
                  <a:schemeClr val="tx1"/>
                </a:solidFill>
                <a:latin typeface="Calibri" panose="020F0502020204030204" pitchFamily="34" charset="0"/>
                <a:cs typeface="Calibri" panose="020F0502020204030204" pitchFamily="34" charset="0"/>
              </a:rPr>
              <a:t>partOf</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118" name="四角形: 角を丸くする 163">
            <a:extLst>
              <a:ext uri="{FF2B5EF4-FFF2-40B4-BE49-F238E27FC236}">
                <a16:creationId xmlns:a16="http://schemas.microsoft.com/office/drawing/2014/main" id="{8FFBE91B-0A4A-4915-AB09-8347EA66FCC7}"/>
              </a:ext>
            </a:extLst>
          </p:cNvPr>
          <p:cNvSpPr/>
          <p:nvPr/>
        </p:nvSpPr>
        <p:spPr>
          <a:xfrm>
            <a:off x="2574935" y="2443503"/>
            <a:ext cx="780135"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130" name="四角形: 角を丸くする 163">
            <a:extLst>
              <a:ext uri="{FF2B5EF4-FFF2-40B4-BE49-F238E27FC236}">
                <a16:creationId xmlns:a16="http://schemas.microsoft.com/office/drawing/2014/main" id="{8FFBE91B-0A4A-4915-AB09-8347EA66FCC7}"/>
              </a:ext>
            </a:extLst>
          </p:cNvPr>
          <p:cNvSpPr/>
          <p:nvPr/>
        </p:nvSpPr>
        <p:spPr>
          <a:xfrm>
            <a:off x="2137659" y="1522657"/>
            <a:ext cx="780135"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Goal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6" name="四角形: 角を丸くする 163">
            <a:extLst>
              <a:ext uri="{FF2B5EF4-FFF2-40B4-BE49-F238E27FC236}">
                <a16:creationId xmlns:a16="http://schemas.microsoft.com/office/drawing/2014/main" id="{8FFBE91B-0A4A-4915-AB09-8347EA66FCC7}"/>
              </a:ext>
            </a:extLst>
          </p:cNvPr>
          <p:cNvSpPr/>
          <p:nvPr/>
        </p:nvSpPr>
        <p:spPr>
          <a:xfrm>
            <a:off x="8959359" y="5923455"/>
            <a:ext cx="1483371" cy="456530"/>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err="1">
                <a:solidFill>
                  <a:srgbClr val="FF0000"/>
                </a:solidFill>
                <a:latin typeface="Calibri" panose="020F0502020204030204" pitchFamily="34" charset="0"/>
                <a:cs typeface="Calibri" panose="020F0502020204030204" pitchFamily="34" charset="0"/>
              </a:rPr>
              <a:t>Goal.achievementStatus</a:t>
            </a:r>
            <a:r>
              <a:rPr lang="en-US" altLang="ja-JP" sz="1000" b="1" dirty="0">
                <a:solidFill>
                  <a:srgbClr val="FF0000"/>
                </a:solidFill>
                <a:latin typeface="Calibri" panose="020F0502020204030204" pitchFamily="34" charset="0"/>
                <a:cs typeface="Calibri" panose="020F0502020204030204" pitchFamily="34" charset="0"/>
              </a:rPr>
              <a:t>=not-achieved </a:t>
            </a:r>
            <a:endParaRPr lang="ja-JP" altLang="en-US" sz="1000" b="1" dirty="0">
              <a:solidFill>
                <a:srgbClr val="FF0000"/>
              </a:solidFill>
              <a:latin typeface="Calibri" panose="020F0502020204030204" pitchFamily="34" charset="0"/>
              <a:cs typeface="Calibri" panose="020F0502020204030204" pitchFamily="34" charset="0"/>
            </a:endParaRPr>
          </a:p>
        </p:txBody>
      </p:sp>
      <p:sp>
        <p:nvSpPr>
          <p:cNvPr id="77" name="四角形: 角を丸くする 163">
            <a:extLst>
              <a:ext uri="{FF2B5EF4-FFF2-40B4-BE49-F238E27FC236}">
                <a16:creationId xmlns:a16="http://schemas.microsoft.com/office/drawing/2014/main" id="{8FFBE91B-0A4A-4915-AB09-8347EA66FCC7}"/>
              </a:ext>
            </a:extLst>
          </p:cNvPr>
          <p:cNvSpPr/>
          <p:nvPr/>
        </p:nvSpPr>
        <p:spPr>
          <a:xfrm>
            <a:off x="5994264" y="3197461"/>
            <a:ext cx="76803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8" name="四角形: 角を丸くする 163">
            <a:extLst>
              <a:ext uri="{FF2B5EF4-FFF2-40B4-BE49-F238E27FC236}">
                <a16:creationId xmlns:a16="http://schemas.microsoft.com/office/drawing/2014/main" id="{8FFBE91B-0A4A-4915-AB09-8347EA66FCC7}"/>
              </a:ext>
            </a:extLst>
          </p:cNvPr>
          <p:cNvSpPr/>
          <p:nvPr/>
        </p:nvSpPr>
        <p:spPr>
          <a:xfrm>
            <a:off x="8312432" y="3197460"/>
            <a:ext cx="76803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46800" rtlCol="0" anchor="t" anchorCtr="0"/>
          <a:lstStyle/>
          <a:p>
            <a:pPr algn="ctr"/>
            <a:r>
              <a:rPr lang="en-US" altLang="ja-JP" sz="1000" b="1" dirty="0">
                <a:solidFill>
                  <a:schemeClr val="tx1"/>
                </a:solidFill>
                <a:latin typeface="Calibri" panose="020F0502020204030204" pitchFamily="34" charset="0"/>
                <a:cs typeface="Calibri" panose="020F0502020204030204" pitchFamily="34" charset="0"/>
              </a:rPr>
              <a:t>Procedure </a:t>
            </a:r>
            <a:endParaRPr lang="ja-JP" altLang="en-US" sz="1000" b="1" dirty="0">
              <a:solidFill>
                <a:schemeClr val="tx1"/>
              </a:solidFill>
              <a:latin typeface="Calibri" panose="020F0502020204030204" pitchFamily="34" charset="0"/>
              <a:cs typeface="Calibri" panose="020F0502020204030204" pitchFamily="34" charset="0"/>
            </a:endParaRPr>
          </a:p>
        </p:txBody>
      </p:sp>
      <p:sp>
        <p:nvSpPr>
          <p:cNvPr id="79" name="テキスト ボックス 78"/>
          <p:cNvSpPr txBox="1"/>
          <p:nvPr/>
        </p:nvSpPr>
        <p:spPr>
          <a:xfrm>
            <a:off x="2996228" y="2564408"/>
            <a:ext cx="441146" cy="246221"/>
          </a:xfrm>
          <a:prstGeom prst="rect">
            <a:avLst/>
          </a:prstGeom>
          <a:noFill/>
        </p:spPr>
        <p:txBody>
          <a:bodyPr wrap="non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実施</a:t>
            </a:r>
          </a:p>
        </p:txBody>
      </p:sp>
      <p:sp>
        <p:nvSpPr>
          <p:cNvPr id="80" name="テキスト ボックス 79"/>
          <p:cNvSpPr txBox="1"/>
          <p:nvPr/>
        </p:nvSpPr>
        <p:spPr>
          <a:xfrm>
            <a:off x="6706491" y="6379984"/>
            <a:ext cx="1281087" cy="246221"/>
          </a:xfrm>
          <a:prstGeom prst="rect">
            <a:avLst/>
          </a:prstGeom>
          <a:noFill/>
        </p:spPr>
        <p:txBody>
          <a:bodyPr wrap="squar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観察項目実施単位</a:t>
            </a:r>
          </a:p>
        </p:txBody>
      </p:sp>
      <p:sp>
        <p:nvSpPr>
          <p:cNvPr id="81" name="テキスト ボックス 80"/>
          <p:cNvSpPr txBox="1"/>
          <p:nvPr/>
        </p:nvSpPr>
        <p:spPr>
          <a:xfrm>
            <a:off x="9122134" y="6365737"/>
            <a:ext cx="1281087" cy="246221"/>
          </a:xfrm>
          <a:prstGeom prst="rect">
            <a:avLst/>
          </a:prstGeom>
          <a:noFill/>
        </p:spPr>
        <p:txBody>
          <a:bodyPr wrap="squar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観察項目実施単位</a:t>
            </a:r>
          </a:p>
        </p:txBody>
      </p:sp>
      <p:sp>
        <p:nvSpPr>
          <p:cNvPr id="83" name="テキスト ボックス 82"/>
          <p:cNvSpPr txBox="1"/>
          <p:nvPr/>
        </p:nvSpPr>
        <p:spPr>
          <a:xfrm>
            <a:off x="9112406" y="1474786"/>
            <a:ext cx="1281087" cy="246221"/>
          </a:xfrm>
          <a:prstGeom prst="rect">
            <a:avLst/>
          </a:prstGeom>
          <a:noFill/>
        </p:spPr>
        <p:txBody>
          <a:bodyPr wrap="square" rtlCol="0">
            <a:spAutoFit/>
          </a:bodyPr>
          <a:lstStyle/>
          <a:p>
            <a:pPr>
              <a:defRPr/>
            </a:pPr>
            <a:r>
              <a:rPr lang="ja-JP" altLang="en-US" sz="1000" dirty="0">
                <a:solidFill>
                  <a:srgbClr val="C00000"/>
                </a:solidFill>
                <a:latin typeface="メイリオ" panose="020B0604030504040204" pitchFamily="50" charset="-128"/>
                <a:ea typeface="メイリオ" panose="020B0604030504040204" pitchFamily="50" charset="-128"/>
                <a:cs typeface="Calibri" panose="020F0502020204030204" pitchFamily="34" charset="0"/>
              </a:rPr>
              <a:t>アセスメント単位</a:t>
            </a:r>
          </a:p>
        </p:txBody>
      </p:sp>
    </p:spTree>
    <p:extLst>
      <p:ext uri="{BB962C8B-B14F-4D97-AF65-F5344CB8AC3E}">
        <p14:creationId xmlns:p14="http://schemas.microsoft.com/office/powerpoint/2010/main" val="186489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0" grpId="0" animBg="1"/>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7" name="直線コネクタ 156">
            <a:extLst>
              <a:ext uri="{FF2B5EF4-FFF2-40B4-BE49-F238E27FC236}">
                <a16:creationId xmlns:a16="http://schemas.microsoft.com/office/drawing/2014/main" id="{21212DCA-0C71-4232-9328-995B021D47AD}"/>
              </a:ext>
            </a:extLst>
          </p:cNvPr>
          <p:cNvCxnSpPr>
            <a:cxnSpLocks/>
          </p:cNvCxnSpPr>
          <p:nvPr/>
        </p:nvCxnSpPr>
        <p:spPr>
          <a:xfrm flipH="1">
            <a:off x="8283923" y="779456"/>
            <a:ext cx="5231" cy="5335594"/>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30AC6D50-29D3-41F1-B93B-1644099DC5B7}"/>
              </a:ext>
            </a:extLst>
          </p:cNvPr>
          <p:cNvSpPr txBox="1"/>
          <p:nvPr/>
        </p:nvSpPr>
        <p:spPr>
          <a:xfrm>
            <a:off x="2045740" y="502458"/>
            <a:ext cx="2035874" cy="276999"/>
          </a:xfrm>
          <a:prstGeom prst="rect">
            <a:avLst/>
          </a:prstGeom>
          <a:noFill/>
          <a:ln>
            <a:solidFill>
              <a:schemeClr val="tx1"/>
            </a:solidFill>
          </a:ln>
        </p:spPr>
        <p:txBody>
          <a:bodyPr wrap="square" rtlCol="0">
            <a:spAutoFit/>
          </a:bodyPr>
          <a:lstStyle/>
          <a:p>
            <a:pPr algn="ctr"/>
            <a:r>
              <a:rPr lang="ja-JP" altLang="en-US" sz="1200" b="1" dirty="0"/>
              <a:t>ひな型パス</a:t>
            </a:r>
          </a:p>
        </p:txBody>
      </p:sp>
      <p:sp>
        <p:nvSpPr>
          <p:cNvPr id="48" name="テキスト ボックス 47">
            <a:extLst>
              <a:ext uri="{FF2B5EF4-FFF2-40B4-BE49-F238E27FC236}">
                <a16:creationId xmlns:a16="http://schemas.microsoft.com/office/drawing/2014/main" id="{6D52A87A-367D-437F-BF8E-7032797BBB2A}"/>
              </a:ext>
            </a:extLst>
          </p:cNvPr>
          <p:cNvSpPr txBox="1"/>
          <p:nvPr/>
        </p:nvSpPr>
        <p:spPr>
          <a:xfrm>
            <a:off x="4081613" y="502458"/>
            <a:ext cx="2014385" cy="276999"/>
          </a:xfrm>
          <a:prstGeom prst="rect">
            <a:avLst/>
          </a:prstGeom>
          <a:noFill/>
          <a:ln>
            <a:solidFill>
              <a:schemeClr val="tx1"/>
            </a:solidFill>
          </a:ln>
        </p:spPr>
        <p:txBody>
          <a:bodyPr wrap="square" rtlCol="0">
            <a:spAutoFit/>
          </a:bodyPr>
          <a:lstStyle/>
          <a:p>
            <a:pPr algn="ctr"/>
            <a:r>
              <a:rPr lang="ja-JP" altLang="en-US" sz="1200" b="1" dirty="0"/>
              <a:t>施設パス</a:t>
            </a:r>
          </a:p>
        </p:txBody>
      </p:sp>
      <p:cxnSp>
        <p:nvCxnSpPr>
          <p:cNvPr id="5" name="直線コネクタ 4">
            <a:extLst>
              <a:ext uri="{FF2B5EF4-FFF2-40B4-BE49-F238E27FC236}">
                <a16:creationId xmlns:a16="http://schemas.microsoft.com/office/drawing/2014/main" id="{A37E61C1-0086-461C-93AE-A3B5B28DDC7A}"/>
              </a:ext>
            </a:extLst>
          </p:cNvPr>
          <p:cNvCxnSpPr>
            <a:cxnSpLocks/>
          </p:cNvCxnSpPr>
          <p:nvPr/>
        </p:nvCxnSpPr>
        <p:spPr>
          <a:xfrm flipH="1">
            <a:off x="4072829" y="492927"/>
            <a:ext cx="8784" cy="5616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964AFF9A-F15B-45FD-A589-A7FB98766D02}"/>
              </a:ext>
            </a:extLst>
          </p:cNvPr>
          <p:cNvCxnSpPr>
            <a:cxnSpLocks/>
          </p:cNvCxnSpPr>
          <p:nvPr/>
        </p:nvCxnSpPr>
        <p:spPr>
          <a:xfrm>
            <a:off x="2046851" y="501548"/>
            <a:ext cx="0" cy="561350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CC9EBEA9-27C1-43B8-82E6-9AF1A5BDC6B7}"/>
              </a:ext>
            </a:extLst>
          </p:cNvPr>
          <p:cNvCxnSpPr>
            <a:cxnSpLocks/>
          </p:cNvCxnSpPr>
          <p:nvPr/>
        </p:nvCxnSpPr>
        <p:spPr>
          <a:xfrm flipH="1">
            <a:off x="6095998" y="496790"/>
            <a:ext cx="3" cy="561826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A3CA090A-F339-4636-9B13-37B6B3E7BA5B}"/>
              </a:ext>
            </a:extLst>
          </p:cNvPr>
          <p:cNvCxnSpPr>
            <a:cxnSpLocks/>
          </p:cNvCxnSpPr>
          <p:nvPr/>
        </p:nvCxnSpPr>
        <p:spPr>
          <a:xfrm>
            <a:off x="10486606" y="502458"/>
            <a:ext cx="18318" cy="561259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A288B311-5618-4CB0-9326-18A56C9ADC62}"/>
              </a:ext>
            </a:extLst>
          </p:cNvPr>
          <p:cNvCxnSpPr/>
          <p:nvPr/>
        </p:nvCxnSpPr>
        <p:spPr>
          <a:xfrm>
            <a:off x="2045739" y="4910619"/>
            <a:ext cx="844086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テキスト ボックス 89">
            <a:extLst>
              <a:ext uri="{FF2B5EF4-FFF2-40B4-BE49-F238E27FC236}">
                <a16:creationId xmlns:a16="http://schemas.microsoft.com/office/drawing/2014/main" id="{A9C46D6A-87A9-4177-881D-1181B6F820CE}"/>
              </a:ext>
            </a:extLst>
          </p:cNvPr>
          <p:cNvSpPr txBox="1"/>
          <p:nvPr/>
        </p:nvSpPr>
        <p:spPr>
          <a:xfrm>
            <a:off x="6095997" y="502457"/>
            <a:ext cx="2192683" cy="276999"/>
          </a:xfrm>
          <a:prstGeom prst="rect">
            <a:avLst/>
          </a:prstGeom>
          <a:noFill/>
          <a:ln>
            <a:solidFill>
              <a:schemeClr val="tx1"/>
            </a:solidFill>
          </a:ln>
        </p:spPr>
        <p:txBody>
          <a:bodyPr wrap="square" rtlCol="0">
            <a:spAutoFit/>
          </a:bodyPr>
          <a:lstStyle/>
          <a:p>
            <a:pPr algn="ctr"/>
            <a:r>
              <a:rPr lang="ja-JP" altLang="en-US" sz="1200" dirty="0"/>
              <a:t>適用後パス</a:t>
            </a:r>
            <a:r>
              <a:rPr lang="ja-JP" altLang="en-US" sz="1050" dirty="0"/>
              <a:t>（患者適用時）</a:t>
            </a:r>
            <a:endParaRPr lang="ja-JP" altLang="en-US" sz="1200" dirty="0"/>
          </a:p>
        </p:txBody>
      </p:sp>
      <p:sp>
        <p:nvSpPr>
          <p:cNvPr id="91" name="テキスト ボックス 90">
            <a:extLst>
              <a:ext uri="{FF2B5EF4-FFF2-40B4-BE49-F238E27FC236}">
                <a16:creationId xmlns:a16="http://schemas.microsoft.com/office/drawing/2014/main" id="{B90DDF6D-F992-489B-9FD0-49A274E779BA}"/>
              </a:ext>
            </a:extLst>
          </p:cNvPr>
          <p:cNvSpPr txBox="1"/>
          <p:nvPr/>
        </p:nvSpPr>
        <p:spPr>
          <a:xfrm>
            <a:off x="8288685" y="501390"/>
            <a:ext cx="2197916" cy="276999"/>
          </a:xfrm>
          <a:prstGeom prst="rect">
            <a:avLst/>
          </a:prstGeom>
          <a:noFill/>
          <a:ln>
            <a:solidFill>
              <a:schemeClr val="tx1"/>
            </a:solidFill>
          </a:ln>
        </p:spPr>
        <p:txBody>
          <a:bodyPr wrap="square" rtlCol="0">
            <a:spAutoFit/>
          </a:bodyPr>
          <a:lstStyle/>
          <a:p>
            <a:pPr algn="ctr"/>
            <a:r>
              <a:rPr lang="ja-JP" altLang="en-US" sz="1200" b="1" dirty="0"/>
              <a:t>適用後パスデータ</a:t>
            </a:r>
            <a:endParaRPr lang="en-US" altLang="ja-JP" sz="1200" b="1" dirty="0"/>
          </a:p>
        </p:txBody>
      </p:sp>
      <p:pic>
        <p:nvPicPr>
          <p:cNvPr id="129" name="図 128">
            <a:extLst>
              <a:ext uri="{FF2B5EF4-FFF2-40B4-BE49-F238E27FC236}">
                <a16:creationId xmlns:a16="http://schemas.microsoft.com/office/drawing/2014/main" id="{47A744CF-EA7D-428D-91E9-799537A54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2271" y="851234"/>
            <a:ext cx="630559" cy="630559"/>
          </a:xfrm>
          <a:prstGeom prst="rect">
            <a:avLst/>
          </a:prstGeom>
        </p:spPr>
      </p:pic>
      <p:pic>
        <p:nvPicPr>
          <p:cNvPr id="131" name="図 130">
            <a:extLst>
              <a:ext uri="{FF2B5EF4-FFF2-40B4-BE49-F238E27FC236}">
                <a16:creationId xmlns:a16="http://schemas.microsoft.com/office/drawing/2014/main" id="{AD1ACAE1-CD00-45E5-9E97-DADE4A8C0A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1437" y="1282813"/>
            <a:ext cx="525109" cy="525109"/>
          </a:xfrm>
          <a:prstGeom prst="rect">
            <a:avLst/>
          </a:prstGeom>
        </p:spPr>
      </p:pic>
      <p:pic>
        <p:nvPicPr>
          <p:cNvPr id="132" name="図 131">
            <a:extLst>
              <a:ext uri="{FF2B5EF4-FFF2-40B4-BE49-F238E27FC236}">
                <a16:creationId xmlns:a16="http://schemas.microsoft.com/office/drawing/2014/main" id="{55095724-34E6-46F4-A220-FE1D0989F8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6327090" y="1677379"/>
            <a:ext cx="564212" cy="564212"/>
          </a:xfrm>
          <a:prstGeom prst="rect">
            <a:avLst/>
          </a:prstGeom>
        </p:spPr>
      </p:pic>
      <p:pic>
        <p:nvPicPr>
          <p:cNvPr id="137" name="図 136">
            <a:extLst>
              <a:ext uri="{FF2B5EF4-FFF2-40B4-BE49-F238E27FC236}">
                <a16:creationId xmlns:a16="http://schemas.microsoft.com/office/drawing/2014/main" id="{6E57525E-FC14-4872-9DA9-6624725973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8288684" y="1469545"/>
            <a:ext cx="564212" cy="564212"/>
          </a:xfrm>
          <a:prstGeom prst="rect">
            <a:avLst/>
          </a:prstGeom>
        </p:spPr>
      </p:pic>
      <p:sp>
        <p:nvSpPr>
          <p:cNvPr id="140" name="正方形/長方形 139">
            <a:extLst>
              <a:ext uri="{FF2B5EF4-FFF2-40B4-BE49-F238E27FC236}">
                <a16:creationId xmlns:a16="http://schemas.microsoft.com/office/drawing/2014/main" id="{5F737E06-6DD5-4FC0-BC4D-37D7B3F7126A}"/>
              </a:ext>
            </a:extLst>
          </p:cNvPr>
          <p:cNvSpPr/>
          <p:nvPr/>
        </p:nvSpPr>
        <p:spPr>
          <a:xfrm>
            <a:off x="2316970" y="825362"/>
            <a:ext cx="1236653" cy="202287"/>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ひな型パス管理者</a:t>
            </a:r>
          </a:p>
        </p:txBody>
      </p:sp>
      <p:sp>
        <p:nvSpPr>
          <p:cNvPr id="142" name="正方形/長方形 141">
            <a:extLst>
              <a:ext uri="{FF2B5EF4-FFF2-40B4-BE49-F238E27FC236}">
                <a16:creationId xmlns:a16="http://schemas.microsoft.com/office/drawing/2014/main" id="{84A0F4B8-39D3-4B93-B74A-EC0E887E2DD1}"/>
              </a:ext>
            </a:extLst>
          </p:cNvPr>
          <p:cNvSpPr/>
          <p:nvPr/>
        </p:nvSpPr>
        <p:spPr>
          <a:xfrm>
            <a:off x="4348440" y="826284"/>
            <a:ext cx="1394579" cy="202287"/>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施設パス管理者</a:t>
            </a:r>
          </a:p>
        </p:txBody>
      </p:sp>
      <p:sp>
        <p:nvSpPr>
          <p:cNvPr id="143" name="正方形/長方形 142">
            <a:extLst>
              <a:ext uri="{FF2B5EF4-FFF2-40B4-BE49-F238E27FC236}">
                <a16:creationId xmlns:a16="http://schemas.microsoft.com/office/drawing/2014/main" id="{C58C2E74-9721-446D-89D0-BA9411C0D94C}"/>
              </a:ext>
            </a:extLst>
          </p:cNvPr>
          <p:cNvSpPr/>
          <p:nvPr/>
        </p:nvSpPr>
        <p:spPr>
          <a:xfrm>
            <a:off x="6710926" y="826905"/>
            <a:ext cx="934441" cy="202287"/>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担当医</a:t>
            </a:r>
          </a:p>
        </p:txBody>
      </p:sp>
      <p:pic>
        <p:nvPicPr>
          <p:cNvPr id="144" name="図 143">
            <a:extLst>
              <a:ext uri="{FF2B5EF4-FFF2-40B4-BE49-F238E27FC236}">
                <a16:creationId xmlns:a16="http://schemas.microsoft.com/office/drawing/2014/main" id="{A1AC4ED4-85EF-4017-9430-0C1AF88E03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8304239" y="2079089"/>
            <a:ext cx="564212" cy="564212"/>
          </a:xfrm>
          <a:prstGeom prst="rect">
            <a:avLst/>
          </a:prstGeom>
        </p:spPr>
      </p:pic>
      <p:sp>
        <p:nvSpPr>
          <p:cNvPr id="145" name="正方形/長方形 144">
            <a:extLst>
              <a:ext uri="{FF2B5EF4-FFF2-40B4-BE49-F238E27FC236}">
                <a16:creationId xmlns:a16="http://schemas.microsoft.com/office/drawing/2014/main" id="{FB4D85AE-189E-490A-8AE8-BCF46C820239}"/>
              </a:ext>
            </a:extLst>
          </p:cNvPr>
          <p:cNvSpPr/>
          <p:nvPr/>
        </p:nvSpPr>
        <p:spPr>
          <a:xfrm>
            <a:off x="8209840" y="852094"/>
            <a:ext cx="1109246"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担当医・看護師</a:t>
            </a:r>
            <a:r>
              <a:rPr lang="en-US" altLang="ja-JP" sz="800" dirty="0"/>
              <a:t/>
            </a:r>
            <a:br>
              <a:rPr lang="en-US" altLang="ja-JP" sz="800" dirty="0"/>
            </a:br>
            <a:r>
              <a:rPr lang="ja-JP" altLang="en-US" sz="800" dirty="0"/>
              <a:t>（最終評価は医師）</a:t>
            </a:r>
          </a:p>
        </p:txBody>
      </p:sp>
      <p:grpSp>
        <p:nvGrpSpPr>
          <p:cNvPr id="146" name="グループ化 145">
            <a:extLst>
              <a:ext uri="{FF2B5EF4-FFF2-40B4-BE49-F238E27FC236}">
                <a16:creationId xmlns:a16="http://schemas.microsoft.com/office/drawing/2014/main" id="{DB046616-0606-4D4F-AB4C-2C00F86A9E79}"/>
              </a:ext>
            </a:extLst>
          </p:cNvPr>
          <p:cNvGrpSpPr/>
          <p:nvPr/>
        </p:nvGrpSpPr>
        <p:grpSpPr>
          <a:xfrm>
            <a:off x="2359073" y="1660595"/>
            <a:ext cx="1027750" cy="400523"/>
            <a:chOff x="816159" y="1632317"/>
            <a:chExt cx="1027750" cy="400523"/>
          </a:xfrm>
        </p:grpSpPr>
        <p:sp>
          <p:nvSpPr>
            <p:cNvPr id="147" name="四角形: 角を丸くする 146">
              <a:extLst>
                <a:ext uri="{FF2B5EF4-FFF2-40B4-BE49-F238E27FC236}">
                  <a16:creationId xmlns:a16="http://schemas.microsoft.com/office/drawing/2014/main" id="{17FE8859-47AE-4396-AC27-43B0F12BE3D8}"/>
                </a:ext>
              </a:extLst>
            </p:cNvPr>
            <p:cNvSpPr/>
            <p:nvPr/>
          </p:nvSpPr>
          <p:spPr>
            <a:xfrm>
              <a:off x="816159" y="1632317"/>
              <a:ext cx="1027750" cy="400523"/>
            </a:xfrm>
            <a:prstGeom prst="roundRect">
              <a:avLst/>
            </a:prstGeom>
            <a:ln w="12700">
              <a:solidFill>
                <a:schemeClr val="tx1"/>
              </a:solidFill>
            </a:ln>
          </p:spPr>
          <p:style>
            <a:lnRef idx="1">
              <a:schemeClr val="accent1"/>
            </a:lnRef>
            <a:fillRef idx="2">
              <a:schemeClr val="accent1"/>
            </a:fillRef>
            <a:effectRef idx="1">
              <a:schemeClr val="accent1"/>
            </a:effectRef>
            <a:fontRef idx="minor">
              <a:schemeClr val="dk1"/>
            </a:fontRef>
          </p:style>
          <p:txBody>
            <a:bodyPr lIns="36000" rtlCol="0" anchor="t" anchorCtr="0"/>
            <a:lstStyle/>
            <a:p>
              <a:r>
                <a:rPr lang="en-US" altLang="ja-JP" sz="1000" dirty="0" err="1">
                  <a:solidFill>
                    <a:schemeClr val="tx1"/>
                  </a:solidFill>
                </a:rPr>
                <a:t>ePath</a:t>
              </a:r>
              <a:endParaRPr lang="ja-JP" altLang="en-US" sz="1050" dirty="0">
                <a:solidFill>
                  <a:schemeClr val="tx1"/>
                </a:solidFill>
              </a:endParaRPr>
            </a:p>
          </p:txBody>
        </p:sp>
        <p:sp>
          <p:nvSpPr>
            <p:cNvPr id="148" name="四角形: 角を丸くする 147">
              <a:extLst>
                <a:ext uri="{FF2B5EF4-FFF2-40B4-BE49-F238E27FC236}">
                  <a16:creationId xmlns:a16="http://schemas.microsoft.com/office/drawing/2014/main" id="{4469AF0B-F616-4A73-BF23-F90DBF59D87E}"/>
                </a:ext>
              </a:extLst>
            </p:cNvPr>
            <p:cNvSpPr/>
            <p:nvPr/>
          </p:nvSpPr>
          <p:spPr>
            <a:xfrm>
              <a:off x="1279545" y="1787524"/>
              <a:ext cx="528984" cy="203955"/>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t" anchorCtr="0"/>
            <a:lstStyle/>
            <a:p>
              <a:pPr algn="ctr"/>
              <a:r>
                <a:rPr lang="en-US" altLang="ja-JP" sz="800" dirty="0">
                  <a:solidFill>
                    <a:schemeClr val="tx1"/>
                  </a:solidFill>
                </a:rPr>
                <a:t>OAT…</a:t>
              </a:r>
              <a:endParaRPr lang="ja-JP" altLang="en-US" sz="800" dirty="0">
                <a:solidFill>
                  <a:schemeClr val="tx1"/>
                </a:solidFill>
              </a:endParaRPr>
            </a:p>
          </p:txBody>
        </p:sp>
      </p:grpSp>
      <p:sp>
        <p:nvSpPr>
          <p:cNvPr id="4" name="矢印: 折線 3">
            <a:extLst>
              <a:ext uri="{FF2B5EF4-FFF2-40B4-BE49-F238E27FC236}">
                <a16:creationId xmlns:a16="http://schemas.microsoft.com/office/drawing/2014/main" id="{59AA521C-25C9-4782-9960-168E1CACE4D1}"/>
              </a:ext>
            </a:extLst>
          </p:cNvPr>
          <p:cNvSpPr/>
          <p:nvPr/>
        </p:nvSpPr>
        <p:spPr>
          <a:xfrm rot="16200000" flipH="1">
            <a:off x="2899251" y="1170768"/>
            <a:ext cx="375529" cy="599619"/>
          </a:xfrm>
          <a:prstGeom prst="ben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53" name="矢印: 折線 152">
            <a:extLst>
              <a:ext uri="{FF2B5EF4-FFF2-40B4-BE49-F238E27FC236}">
                <a16:creationId xmlns:a16="http://schemas.microsoft.com/office/drawing/2014/main" id="{FD5F0C24-7013-4C0F-986E-0734FA3E1AE2}"/>
              </a:ext>
            </a:extLst>
          </p:cNvPr>
          <p:cNvSpPr/>
          <p:nvPr/>
        </p:nvSpPr>
        <p:spPr>
          <a:xfrm rot="16200000" flipH="1">
            <a:off x="4738471" y="1516516"/>
            <a:ext cx="763014" cy="710438"/>
          </a:xfrm>
          <a:prstGeom prst="bentArrow">
            <a:avLst>
              <a:gd name="adj1" fmla="val 15993"/>
              <a:gd name="adj2" fmla="val 15201"/>
              <a:gd name="adj3" fmla="val 25000"/>
              <a:gd name="adj4" fmla="val 43750"/>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56" name="矢印: 折線 155">
            <a:extLst>
              <a:ext uri="{FF2B5EF4-FFF2-40B4-BE49-F238E27FC236}">
                <a16:creationId xmlns:a16="http://schemas.microsoft.com/office/drawing/2014/main" id="{C0B3E870-AD58-45DB-86BC-785B221E6B6F}"/>
              </a:ext>
            </a:extLst>
          </p:cNvPr>
          <p:cNvSpPr/>
          <p:nvPr/>
        </p:nvSpPr>
        <p:spPr>
          <a:xfrm rot="5400000">
            <a:off x="6679817" y="2231033"/>
            <a:ext cx="883052" cy="543220"/>
          </a:xfrm>
          <a:prstGeom prst="bentArrow">
            <a:avLst>
              <a:gd name="adj1" fmla="val 23599"/>
              <a:gd name="adj2" fmla="val 24382"/>
              <a:gd name="adj3" fmla="val 33954"/>
              <a:gd name="adj4" fmla="val 43750"/>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58" name="矢印: 右 157">
            <a:extLst>
              <a:ext uri="{FF2B5EF4-FFF2-40B4-BE49-F238E27FC236}">
                <a16:creationId xmlns:a16="http://schemas.microsoft.com/office/drawing/2014/main" id="{23BD10C5-1FD1-44F6-B64B-76BF15FDE191}"/>
              </a:ext>
            </a:extLst>
          </p:cNvPr>
          <p:cNvSpPr/>
          <p:nvPr/>
        </p:nvSpPr>
        <p:spPr>
          <a:xfrm>
            <a:off x="5190990" y="2378093"/>
            <a:ext cx="1987369" cy="245295"/>
          </a:xfrm>
          <a:prstGeom prst="rightArrow">
            <a:avLst/>
          </a:prstGeom>
          <a:solidFill>
            <a:schemeClr val="bg1"/>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63" name="グループ化 162">
            <a:extLst>
              <a:ext uri="{FF2B5EF4-FFF2-40B4-BE49-F238E27FC236}">
                <a16:creationId xmlns:a16="http://schemas.microsoft.com/office/drawing/2014/main" id="{6FF94B7F-57CF-4633-A1B9-5CBAAE6953DF}"/>
              </a:ext>
            </a:extLst>
          </p:cNvPr>
          <p:cNvGrpSpPr/>
          <p:nvPr/>
        </p:nvGrpSpPr>
        <p:grpSpPr>
          <a:xfrm>
            <a:off x="6710925" y="2961437"/>
            <a:ext cx="1027750" cy="400523"/>
            <a:chOff x="816159" y="1632317"/>
            <a:chExt cx="1027750" cy="400523"/>
          </a:xfrm>
        </p:grpSpPr>
        <p:sp>
          <p:nvSpPr>
            <p:cNvPr id="164" name="四角形: 角を丸くする 163">
              <a:extLst>
                <a:ext uri="{FF2B5EF4-FFF2-40B4-BE49-F238E27FC236}">
                  <a16:creationId xmlns:a16="http://schemas.microsoft.com/office/drawing/2014/main" id="{8FFBE91B-0A4A-4915-AB09-8347EA66FCC7}"/>
                </a:ext>
              </a:extLst>
            </p:cNvPr>
            <p:cNvSpPr/>
            <p:nvPr/>
          </p:nvSpPr>
          <p:spPr>
            <a:xfrm>
              <a:off x="816159" y="1632317"/>
              <a:ext cx="1027750" cy="400523"/>
            </a:xfrm>
            <a:prstGeom prst="round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rtlCol="0" anchor="t" anchorCtr="0"/>
            <a:lstStyle/>
            <a:p>
              <a:r>
                <a:rPr lang="en-US" altLang="ja-JP" sz="1000" dirty="0" err="1">
                  <a:solidFill>
                    <a:schemeClr val="tx1"/>
                  </a:solidFill>
                </a:rPr>
                <a:t>ePath</a:t>
              </a:r>
              <a:r>
                <a:rPr lang="en-US" altLang="ja-JP" sz="1000" dirty="0">
                  <a:solidFill>
                    <a:schemeClr val="tx1"/>
                  </a:solidFill>
                </a:rPr>
                <a:t/>
              </a:r>
              <a:br>
                <a:rPr lang="en-US" altLang="ja-JP" sz="1000" dirty="0">
                  <a:solidFill>
                    <a:schemeClr val="tx1"/>
                  </a:solidFill>
                </a:rPr>
              </a:br>
              <a:r>
                <a:rPr lang="en-US" altLang="ja-JP" sz="1000" dirty="0">
                  <a:solidFill>
                    <a:schemeClr val="tx1"/>
                  </a:solidFill>
                </a:rPr>
                <a:t>data</a:t>
              </a:r>
              <a:endParaRPr lang="ja-JP" altLang="en-US" sz="1000" dirty="0">
                <a:solidFill>
                  <a:schemeClr val="tx1"/>
                </a:solidFill>
              </a:endParaRPr>
            </a:p>
          </p:txBody>
        </p:sp>
        <p:sp>
          <p:nvSpPr>
            <p:cNvPr id="165" name="四角形: 角を丸くする 164">
              <a:extLst>
                <a:ext uri="{FF2B5EF4-FFF2-40B4-BE49-F238E27FC236}">
                  <a16:creationId xmlns:a16="http://schemas.microsoft.com/office/drawing/2014/main" id="{E70B3B61-6932-45F2-9C3B-04F4D54344AB}"/>
                </a:ext>
              </a:extLst>
            </p:cNvPr>
            <p:cNvSpPr/>
            <p:nvPr/>
          </p:nvSpPr>
          <p:spPr>
            <a:xfrm>
              <a:off x="1283592" y="1787524"/>
              <a:ext cx="524936" cy="203955"/>
            </a:xfrm>
            <a:prstGeom prst="roundRect">
              <a:avLst/>
            </a:prstGeom>
            <a:ln/>
          </p:spPr>
          <p:style>
            <a:lnRef idx="1">
              <a:schemeClr val="accent4"/>
            </a:lnRef>
            <a:fillRef idx="2">
              <a:schemeClr val="accent4"/>
            </a:fillRef>
            <a:effectRef idx="1">
              <a:schemeClr val="accent4"/>
            </a:effectRef>
            <a:fontRef idx="minor">
              <a:schemeClr val="dk1"/>
            </a:fontRef>
          </p:style>
          <p:txBody>
            <a:bodyPr rIns="0" rtlCol="0" anchor="t" anchorCtr="0"/>
            <a:lstStyle/>
            <a:p>
              <a:pPr algn="ctr"/>
              <a:r>
                <a:rPr lang="en-US" altLang="ja-JP" sz="800" dirty="0">
                  <a:solidFill>
                    <a:schemeClr val="tx1"/>
                  </a:solidFill>
                </a:rPr>
                <a:t>OAT</a:t>
              </a:r>
              <a:r>
                <a:rPr lang="ja-JP" altLang="en-US" sz="800" dirty="0">
                  <a:solidFill>
                    <a:schemeClr val="tx1"/>
                  </a:solidFill>
                </a:rPr>
                <a:t>‘‘</a:t>
              </a:r>
              <a:r>
                <a:rPr lang="en-US" altLang="ja-JP" sz="800" dirty="0">
                  <a:solidFill>
                    <a:schemeClr val="tx1"/>
                  </a:solidFill>
                </a:rPr>
                <a:t>…</a:t>
              </a:r>
              <a:endParaRPr lang="ja-JP" altLang="en-US" sz="800" dirty="0">
                <a:solidFill>
                  <a:schemeClr val="tx1"/>
                </a:solidFill>
              </a:endParaRPr>
            </a:p>
          </p:txBody>
        </p:sp>
      </p:grpSp>
      <p:grpSp>
        <p:nvGrpSpPr>
          <p:cNvPr id="166" name="グループ化 165">
            <a:extLst>
              <a:ext uri="{FF2B5EF4-FFF2-40B4-BE49-F238E27FC236}">
                <a16:creationId xmlns:a16="http://schemas.microsoft.com/office/drawing/2014/main" id="{056E11DF-4E62-4977-AA8A-DE0EF35A9A7C}"/>
              </a:ext>
            </a:extLst>
          </p:cNvPr>
          <p:cNvGrpSpPr/>
          <p:nvPr/>
        </p:nvGrpSpPr>
        <p:grpSpPr>
          <a:xfrm>
            <a:off x="8312386" y="3266519"/>
            <a:ext cx="1027750" cy="400523"/>
            <a:chOff x="816159" y="1632317"/>
            <a:chExt cx="1027750" cy="400523"/>
          </a:xfrm>
        </p:grpSpPr>
        <p:sp>
          <p:nvSpPr>
            <p:cNvPr id="167" name="四角形: 角を丸くする 166">
              <a:extLst>
                <a:ext uri="{FF2B5EF4-FFF2-40B4-BE49-F238E27FC236}">
                  <a16:creationId xmlns:a16="http://schemas.microsoft.com/office/drawing/2014/main" id="{1DFC338B-5EED-4588-ABBA-F3A59B5663F4}"/>
                </a:ext>
              </a:extLst>
            </p:cNvPr>
            <p:cNvSpPr/>
            <p:nvPr/>
          </p:nvSpPr>
          <p:spPr>
            <a:xfrm>
              <a:off x="816159" y="1632317"/>
              <a:ext cx="1027750" cy="400523"/>
            </a:xfrm>
            <a:prstGeom prst="round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rtlCol="0" anchor="t" anchorCtr="0"/>
            <a:lstStyle/>
            <a:p>
              <a:r>
                <a:rPr lang="en-US" altLang="ja-JP" sz="1000" dirty="0" err="1">
                  <a:solidFill>
                    <a:schemeClr val="tx1"/>
                  </a:solidFill>
                </a:rPr>
                <a:t>ePath</a:t>
              </a:r>
              <a:r>
                <a:rPr lang="en-US" altLang="ja-JP" sz="1000" dirty="0">
                  <a:solidFill>
                    <a:schemeClr val="tx1"/>
                  </a:solidFill>
                </a:rPr>
                <a:t/>
              </a:r>
              <a:br>
                <a:rPr lang="en-US" altLang="ja-JP" sz="1000" dirty="0">
                  <a:solidFill>
                    <a:schemeClr val="tx1"/>
                  </a:solidFill>
                </a:rPr>
              </a:br>
              <a:r>
                <a:rPr lang="en-US" altLang="ja-JP" sz="1000" dirty="0">
                  <a:solidFill>
                    <a:schemeClr val="tx1"/>
                  </a:solidFill>
                </a:rPr>
                <a:t>data</a:t>
              </a:r>
              <a:endParaRPr lang="ja-JP" altLang="en-US" sz="1000" dirty="0">
                <a:solidFill>
                  <a:schemeClr val="tx1"/>
                </a:solidFill>
              </a:endParaRPr>
            </a:p>
          </p:txBody>
        </p:sp>
        <p:sp>
          <p:nvSpPr>
            <p:cNvPr id="168" name="四角形: 角を丸くする 167">
              <a:extLst>
                <a:ext uri="{FF2B5EF4-FFF2-40B4-BE49-F238E27FC236}">
                  <a16:creationId xmlns:a16="http://schemas.microsoft.com/office/drawing/2014/main" id="{D25F51F5-37D7-4C02-8629-F9FA02EEE6F2}"/>
                </a:ext>
              </a:extLst>
            </p:cNvPr>
            <p:cNvSpPr/>
            <p:nvPr/>
          </p:nvSpPr>
          <p:spPr>
            <a:xfrm>
              <a:off x="1261285" y="1787524"/>
              <a:ext cx="547243" cy="203955"/>
            </a:xfrm>
            <a:prstGeom prst="roundRect">
              <a:avLst/>
            </a:prstGeom>
            <a:ln/>
          </p:spPr>
          <p:style>
            <a:lnRef idx="1">
              <a:schemeClr val="accent4"/>
            </a:lnRef>
            <a:fillRef idx="2">
              <a:schemeClr val="accent4"/>
            </a:fillRef>
            <a:effectRef idx="1">
              <a:schemeClr val="accent4"/>
            </a:effectRef>
            <a:fontRef idx="minor">
              <a:schemeClr val="dk1"/>
            </a:fontRef>
          </p:style>
          <p:txBody>
            <a:bodyPr rIns="0" rtlCol="0" anchor="t" anchorCtr="0"/>
            <a:lstStyle/>
            <a:p>
              <a:pPr algn="ctr"/>
              <a:r>
                <a:rPr lang="en-US" altLang="ja-JP" sz="800" dirty="0">
                  <a:solidFill>
                    <a:schemeClr val="tx1"/>
                  </a:solidFill>
                </a:rPr>
                <a:t>OAT</a:t>
              </a:r>
              <a:r>
                <a:rPr lang="ja-JP" altLang="en-US" sz="800" dirty="0">
                  <a:solidFill>
                    <a:schemeClr val="tx1"/>
                  </a:solidFill>
                </a:rPr>
                <a:t>‘‘‘</a:t>
              </a:r>
              <a:r>
                <a:rPr lang="en-US" altLang="ja-JP" sz="800" dirty="0">
                  <a:solidFill>
                    <a:schemeClr val="tx1"/>
                  </a:solidFill>
                </a:rPr>
                <a:t>…</a:t>
              </a:r>
              <a:endParaRPr lang="ja-JP" altLang="en-US" sz="800" dirty="0">
                <a:solidFill>
                  <a:schemeClr val="tx1"/>
                </a:solidFill>
              </a:endParaRPr>
            </a:p>
          </p:txBody>
        </p:sp>
      </p:grpSp>
      <p:sp>
        <p:nvSpPr>
          <p:cNvPr id="170" name="矢印: 右 169">
            <a:extLst>
              <a:ext uri="{FF2B5EF4-FFF2-40B4-BE49-F238E27FC236}">
                <a16:creationId xmlns:a16="http://schemas.microsoft.com/office/drawing/2014/main" id="{C04D90A9-5288-4C85-8882-58E907008686}"/>
              </a:ext>
            </a:extLst>
          </p:cNvPr>
          <p:cNvSpPr/>
          <p:nvPr/>
        </p:nvSpPr>
        <p:spPr>
          <a:xfrm>
            <a:off x="7744113" y="3043051"/>
            <a:ext cx="1133720" cy="245295"/>
          </a:xfrm>
          <a:prstGeom prst="rightArrow">
            <a:avLst/>
          </a:prstGeom>
          <a:solidFill>
            <a:schemeClr val="bg1"/>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72" name="矢印: 折線 171">
            <a:extLst>
              <a:ext uri="{FF2B5EF4-FFF2-40B4-BE49-F238E27FC236}">
                <a16:creationId xmlns:a16="http://schemas.microsoft.com/office/drawing/2014/main" id="{D6C494E0-4DA9-4DD5-B91C-C095403DB1C6}"/>
              </a:ext>
            </a:extLst>
          </p:cNvPr>
          <p:cNvSpPr/>
          <p:nvPr/>
        </p:nvSpPr>
        <p:spPr>
          <a:xfrm rot="5400000">
            <a:off x="8498056" y="2532212"/>
            <a:ext cx="905535" cy="506420"/>
          </a:xfrm>
          <a:prstGeom prst="bentArrow">
            <a:avLst>
              <a:gd name="adj1" fmla="val 23599"/>
              <a:gd name="adj2" fmla="val 23393"/>
              <a:gd name="adj3" fmla="val 33954"/>
              <a:gd name="adj4" fmla="val 43750"/>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cxnSp>
        <p:nvCxnSpPr>
          <p:cNvPr id="196" name="直線矢印コネクタ 195">
            <a:extLst>
              <a:ext uri="{FF2B5EF4-FFF2-40B4-BE49-F238E27FC236}">
                <a16:creationId xmlns:a16="http://schemas.microsoft.com/office/drawing/2014/main" id="{07445321-8FB7-48FD-AC56-8CC663B7DDD4}"/>
              </a:ext>
            </a:extLst>
          </p:cNvPr>
          <p:cNvCxnSpPr>
            <a:cxnSpLocks/>
            <a:stCxn id="135" idx="1"/>
          </p:cNvCxnSpPr>
          <p:nvPr/>
        </p:nvCxnSpPr>
        <p:spPr>
          <a:xfrm>
            <a:off x="8754846" y="4805018"/>
            <a:ext cx="0" cy="557096"/>
          </a:xfrm>
          <a:prstGeom prst="straightConnector1">
            <a:avLst/>
          </a:prstGeom>
          <a:ln w="34925">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46" name="四角形: 上の 2 つの角を切り取る 245">
            <a:extLst>
              <a:ext uri="{FF2B5EF4-FFF2-40B4-BE49-F238E27FC236}">
                <a16:creationId xmlns:a16="http://schemas.microsoft.com/office/drawing/2014/main" id="{03F44079-CE94-4783-BD48-A9B8B121B011}"/>
              </a:ext>
            </a:extLst>
          </p:cNvPr>
          <p:cNvSpPr/>
          <p:nvPr/>
        </p:nvSpPr>
        <p:spPr>
          <a:xfrm>
            <a:off x="6967604" y="1921731"/>
            <a:ext cx="974224" cy="224182"/>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HIS/CPS</a:t>
            </a:r>
            <a:endParaRPr lang="ja-JP" altLang="en-US" sz="1000" dirty="0"/>
          </a:p>
        </p:txBody>
      </p:sp>
      <p:sp>
        <p:nvSpPr>
          <p:cNvPr id="276" name="四角形: 対角を切り取る 275">
            <a:extLst>
              <a:ext uri="{FF2B5EF4-FFF2-40B4-BE49-F238E27FC236}">
                <a16:creationId xmlns:a16="http://schemas.microsoft.com/office/drawing/2014/main" id="{8A7FD5F8-D0B7-4930-8EDC-7F79EE0F9B40}"/>
              </a:ext>
            </a:extLst>
          </p:cNvPr>
          <p:cNvSpPr/>
          <p:nvPr/>
        </p:nvSpPr>
        <p:spPr>
          <a:xfrm>
            <a:off x="5622534" y="2347934"/>
            <a:ext cx="1221788" cy="146515"/>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システム内部</a:t>
            </a:r>
          </a:p>
        </p:txBody>
      </p:sp>
      <p:sp>
        <p:nvSpPr>
          <p:cNvPr id="277" name="四角形: 上の 2 つの角を切り取る 276">
            <a:extLst>
              <a:ext uri="{FF2B5EF4-FFF2-40B4-BE49-F238E27FC236}">
                <a16:creationId xmlns:a16="http://schemas.microsoft.com/office/drawing/2014/main" id="{DD3DE717-0918-452E-90E7-B00E804C3F74}"/>
              </a:ext>
            </a:extLst>
          </p:cNvPr>
          <p:cNvSpPr/>
          <p:nvPr/>
        </p:nvSpPr>
        <p:spPr>
          <a:xfrm>
            <a:off x="8326839" y="1201927"/>
            <a:ext cx="974224" cy="224182"/>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HIS/CPS</a:t>
            </a:r>
            <a:endParaRPr lang="ja-JP" altLang="en-US" sz="1000" dirty="0"/>
          </a:p>
        </p:txBody>
      </p:sp>
      <p:sp>
        <p:nvSpPr>
          <p:cNvPr id="278" name="四角形: 対角を切り取る 277">
            <a:extLst>
              <a:ext uri="{FF2B5EF4-FFF2-40B4-BE49-F238E27FC236}">
                <a16:creationId xmlns:a16="http://schemas.microsoft.com/office/drawing/2014/main" id="{5CE2D502-693C-4FEF-8080-E1B20D12AD36}"/>
              </a:ext>
            </a:extLst>
          </p:cNvPr>
          <p:cNvSpPr/>
          <p:nvPr/>
        </p:nvSpPr>
        <p:spPr>
          <a:xfrm>
            <a:off x="7538787" y="2880253"/>
            <a:ext cx="1054573" cy="154164"/>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システム内部</a:t>
            </a:r>
          </a:p>
        </p:txBody>
      </p:sp>
      <p:sp>
        <p:nvSpPr>
          <p:cNvPr id="280" name="四角形: 上の 2 つの角を切り取る 279">
            <a:extLst>
              <a:ext uri="{FF2B5EF4-FFF2-40B4-BE49-F238E27FC236}">
                <a16:creationId xmlns:a16="http://schemas.microsoft.com/office/drawing/2014/main" id="{EFC53C09-0F0B-49E9-BCF0-C4AA991613EA}"/>
              </a:ext>
            </a:extLst>
          </p:cNvPr>
          <p:cNvSpPr/>
          <p:nvPr/>
        </p:nvSpPr>
        <p:spPr>
          <a:xfrm>
            <a:off x="2204098" y="1254213"/>
            <a:ext cx="1033004" cy="202287"/>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何等かのツール</a:t>
            </a:r>
          </a:p>
        </p:txBody>
      </p:sp>
      <p:sp>
        <p:nvSpPr>
          <p:cNvPr id="281" name="四角形: 上の 2 つの角を切り取る 280">
            <a:extLst>
              <a:ext uri="{FF2B5EF4-FFF2-40B4-BE49-F238E27FC236}">
                <a16:creationId xmlns:a16="http://schemas.microsoft.com/office/drawing/2014/main" id="{CA09C4B0-6620-46BB-8BDD-D515D81EBAB8}"/>
              </a:ext>
            </a:extLst>
          </p:cNvPr>
          <p:cNvSpPr/>
          <p:nvPr/>
        </p:nvSpPr>
        <p:spPr>
          <a:xfrm>
            <a:off x="4347546" y="1282813"/>
            <a:ext cx="1033004" cy="289003"/>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何等かのツール</a:t>
            </a:r>
            <a:r>
              <a:rPr lang="en-US" altLang="ja-JP" sz="800" dirty="0"/>
              <a:t/>
            </a:r>
            <a:br>
              <a:rPr lang="en-US" altLang="ja-JP" sz="800" dirty="0"/>
            </a:br>
            <a:r>
              <a:rPr lang="ja-JP" altLang="en-US" sz="800" dirty="0"/>
              <a:t>または</a:t>
            </a:r>
            <a:r>
              <a:rPr lang="en-US" altLang="ja-JP" sz="800" dirty="0"/>
              <a:t>HIS/CPS</a:t>
            </a:r>
            <a:endParaRPr lang="ja-JP" altLang="en-US" sz="800" dirty="0"/>
          </a:p>
        </p:txBody>
      </p:sp>
      <p:sp>
        <p:nvSpPr>
          <p:cNvPr id="149" name="大かっこ 148">
            <a:extLst>
              <a:ext uri="{FF2B5EF4-FFF2-40B4-BE49-F238E27FC236}">
                <a16:creationId xmlns:a16="http://schemas.microsoft.com/office/drawing/2014/main" id="{F4341C65-F862-4503-8AC4-915A03BD054E}"/>
              </a:ext>
            </a:extLst>
          </p:cNvPr>
          <p:cNvSpPr/>
          <p:nvPr/>
        </p:nvSpPr>
        <p:spPr>
          <a:xfrm>
            <a:off x="2156102" y="2139350"/>
            <a:ext cx="1831531" cy="546873"/>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900" dirty="0"/>
              <a:t>ひな型パスのコードを定め、</a:t>
            </a:r>
            <a:r>
              <a:rPr lang="en-US" altLang="ja-JP" sz="900" dirty="0"/>
              <a:t>OAT</a:t>
            </a:r>
            <a:r>
              <a:rPr lang="ja-JP" altLang="en-US" sz="900" dirty="0"/>
              <a:t>ユニット構成とそれらに識別子を設定した内容のひな型を作成。</a:t>
            </a:r>
          </a:p>
        </p:txBody>
      </p:sp>
      <p:sp>
        <p:nvSpPr>
          <p:cNvPr id="159" name="大かっこ 158">
            <a:extLst>
              <a:ext uri="{FF2B5EF4-FFF2-40B4-BE49-F238E27FC236}">
                <a16:creationId xmlns:a16="http://schemas.microsoft.com/office/drawing/2014/main" id="{DE28A797-030A-44D3-8F6D-8D1062CB92E3}"/>
              </a:ext>
            </a:extLst>
          </p:cNvPr>
          <p:cNvSpPr/>
          <p:nvPr/>
        </p:nvSpPr>
        <p:spPr>
          <a:xfrm>
            <a:off x="6232028" y="3422202"/>
            <a:ext cx="1977813" cy="828846"/>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900" dirty="0"/>
              <a:t>施設パスを取得し、その内容を元に患者に適用して病日のスライド等展開した状態を記録する。その際、</a:t>
            </a:r>
            <a:r>
              <a:rPr lang="en-US" altLang="ja-JP" sz="900" dirty="0"/>
              <a:t> OAT</a:t>
            </a:r>
            <a:r>
              <a:rPr lang="ja-JP" altLang="en-US" sz="900" dirty="0"/>
              <a:t>ユニット内の項目値変更は構成に影響しないレベルで行ってよい。</a:t>
            </a:r>
          </a:p>
        </p:txBody>
      </p:sp>
      <p:sp>
        <p:nvSpPr>
          <p:cNvPr id="154" name="大かっこ 153">
            <a:extLst>
              <a:ext uri="{FF2B5EF4-FFF2-40B4-BE49-F238E27FC236}">
                <a16:creationId xmlns:a16="http://schemas.microsoft.com/office/drawing/2014/main" id="{A172B404-C9E9-4381-A82F-EEC3753FFA8F}"/>
              </a:ext>
            </a:extLst>
          </p:cNvPr>
          <p:cNvSpPr/>
          <p:nvPr/>
        </p:nvSpPr>
        <p:spPr>
          <a:xfrm>
            <a:off x="4138125" y="2725433"/>
            <a:ext cx="915744" cy="1495341"/>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ひな型パスを取得し、その内容を元に自施設向けに調整した施設パスを作成。</a:t>
            </a:r>
            <a:r>
              <a:rPr lang="en-US" altLang="ja-JP" sz="800" dirty="0"/>
              <a:t>OAT</a:t>
            </a:r>
            <a:r>
              <a:rPr lang="ja-JP" altLang="en-US" sz="800" dirty="0"/>
              <a:t>ユニット構成に追加があればそれらに識別子を設定する。</a:t>
            </a:r>
            <a:r>
              <a:rPr lang="en-US" altLang="ja-JP" sz="800" dirty="0"/>
              <a:t>OAT</a:t>
            </a:r>
            <a:r>
              <a:rPr lang="ja-JP" altLang="en-US" sz="800" dirty="0"/>
              <a:t>ユニット内の項目値変更は構成に影響しないレベルで行ってよい。</a:t>
            </a:r>
          </a:p>
        </p:txBody>
      </p:sp>
      <p:grpSp>
        <p:nvGrpSpPr>
          <p:cNvPr id="150" name="グループ化 149">
            <a:extLst>
              <a:ext uri="{FF2B5EF4-FFF2-40B4-BE49-F238E27FC236}">
                <a16:creationId xmlns:a16="http://schemas.microsoft.com/office/drawing/2014/main" id="{70DE4DEE-D63E-49CA-BF63-38485B158B9B}"/>
              </a:ext>
            </a:extLst>
          </p:cNvPr>
          <p:cNvGrpSpPr/>
          <p:nvPr/>
        </p:nvGrpSpPr>
        <p:grpSpPr>
          <a:xfrm>
            <a:off x="4141557" y="2275294"/>
            <a:ext cx="1027750" cy="400523"/>
            <a:chOff x="816159" y="1632317"/>
            <a:chExt cx="1027750" cy="400523"/>
          </a:xfrm>
        </p:grpSpPr>
        <p:sp>
          <p:nvSpPr>
            <p:cNvPr id="151" name="四角形: 角を丸くする 150">
              <a:extLst>
                <a:ext uri="{FF2B5EF4-FFF2-40B4-BE49-F238E27FC236}">
                  <a16:creationId xmlns:a16="http://schemas.microsoft.com/office/drawing/2014/main" id="{8D6D8EC5-FB08-4D13-BD6F-AE6C2F83324D}"/>
                </a:ext>
              </a:extLst>
            </p:cNvPr>
            <p:cNvSpPr/>
            <p:nvPr/>
          </p:nvSpPr>
          <p:spPr>
            <a:xfrm>
              <a:off x="816159" y="1632317"/>
              <a:ext cx="1027750" cy="400523"/>
            </a:xfrm>
            <a:prstGeom prst="roundRect">
              <a:avLst/>
            </a:prstGeom>
            <a:ln w="12700">
              <a:solidFill>
                <a:schemeClr val="tx1"/>
              </a:solidFill>
            </a:ln>
          </p:spPr>
          <p:style>
            <a:lnRef idx="1">
              <a:schemeClr val="accent1"/>
            </a:lnRef>
            <a:fillRef idx="2">
              <a:schemeClr val="accent1"/>
            </a:fillRef>
            <a:effectRef idx="1">
              <a:schemeClr val="accent1"/>
            </a:effectRef>
            <a:fontRef idx="minor">
              <a:schemeClr val="dk1"/>
            </a:fontRef>
          </p:style>
          <p:txBody>
            <a:bodyPr lIns="36000" rtlCol="0" anchor="t" anchorCtr="0"/>
            <a:lstStyle/>
            <a:p>
              <a:r>
                <a:rPr lang="en-US" altLang="ja-JP" sz="1000" dirty="0" err="1">
                  <a:solidFill>
                    <a:schemeClr val="tx1"/>
                  </a:solidFill>
                </a:rPr>
                <a:t>ePath</a:t>
              </a:r>
              <a:endParaRPr lang="ja-JP" altLang="en-US" sz="1000" dirty="0">
                <a:solidFill>
                  <a:schemeClr val="tx1"/>
                </a:solidFill>
              </a:endParaRPr>
            </a:p>
          </p:txBody>
        </p:sp>
        <p:sp>
          <p:nvSpPr>
            <p:cNvPr id="152" name="四角形: 角を丸くする 151">
              <a:extLst>
                <a:ext uri="{FF2B5EF4-FFF2-40B4-BE49-F238E27FC236}">
                  <a16:creationId xmlns:a16="http://schemas.microsoft.com/office/drawing/2014/main" id="{92267F23-93FF-4A90-816A-EB7B58EB6F8C}"/>
                </a:ext>
              </a:extLst>
            </p:cNvPr>
            <p:cNvSpPr/>
            <p:nvPr/>
          </p:nvSpPr>
          <p:spPr>
            <a:xfrm>
              <a:off x="1269969" y="1787524"/>
              <a:ext cx="538559" cy="203955"/>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t" anchorCtr="0"/>
            <a:lstStyle/>
            <a:p>
              <a:pPr algn="ctr"/>
              <a:r>
                <a:rPr lang="en-US" altLang="ja-JP" sz="800" dirty="0">
                  <a:solidFill>
                    <a:schemeClr val="tx1"/>
                  </a:solidFill>
                </a:rPr>
                <a:t>OAT</a:t>
              </a:r>
              <a:r>
                <a:rPr lang="ja-JP" altLang="en-US" sz="800" dirty="0">
                  <a:solidFill>
                    <a:schemeClr val="tx1"/>
                  </a:solidFill>
                </a:rPr>
                <a:t>‘</a:t>
              </a:r>
              <a:r>
                <a:rPr lang="en-US" altLang="ja-JP" sz="800" dirty="0">
                  <a:solidFill>
                    <a:schemeClr val="tx1"/>
                  </a:solidFill>
                </a:rPr>
                <a:t>…</a:t>
              </a:r>
              <a:endParaRPr lang="ja-JP" altLang="en-US" sz="800" dirty="0">
                <a:solidFill>
                  <a:schemeClr val="tx1"/>
                </a:solidFill>
              </a:endParaRPr>
            </a:p>
          </p:txBody>
        </p:sp>
      </p:grpSp>
      <p:sp>
        <p:nvSpPr>
          <p:cNvPr id="173" name="大かっこ 172">
            <a:extLst>
              <a:ext uri="{FF2B5EF4-FFF2-40B4-BE49-F238E27FC236}">
                <a16:creationId xmlns:a16="http://schemas.microsoft.com/office/drawing/2014/main" id="{A6C0615A-B941-43E2-BC74-0EBEF4D89BE1}"/>
              </a:ext>
            </a:extLst>
          </p:cNvPr>
          <p:cNvSpPr/>
          <p:nvPr/>
        </p:nvSpPr>
        <p:spPr>
          <a:xfrm>
            <a:off x="8338515" y="3693123"/>
            <a:ext cx="990566" cy="866300"/>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適用後パス（患者適用時）に対し、日々の観察結果・実施結果・タスク実施状況を記入し、評価・バリアンスを記述する。</a:t>
            </a:r>
          </a:p>
        </p:txBody>
      </p:sp>
      <p:sp>
        <p:nvSpPr>
          <p:cNvPr id="7" name="矢印: 右 6">
            <a:extLst>
              <a:ext uri="{FF2B5EF4-FFF2-40B4-BE49-F238E27FC236}">
                <a16:creationId xmlns:a16="http://schemas.microsoft.com/office/drawing/2014/main" id="{B8F128C5-FF45-428A-A49F-828EA1E3037E}"/>
              </a:ext>
            </a:extLst>
          </p:cNvPr>
          <p:cNvSpPr/>
          <p:nvPr/>
        </p:nvSpPr>
        <p:spPr>
          <a:xfrm>
            <a:off x="3392053" y="1725597"/>
            <a:ext cx="1394579" cy="245295"/>
          </a:xfrm>
          <a:prstGeom prst="rightArrow">
            <a:avLst/>
          </a:prstGeom>
          <a:solidFill>
            <a:schemeClr val="bg1"/>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74" name="四角形: 対角を切り取る 273">
            <a:extLst>
              <a:ext uri="{FF2B5EF4-FFF2-40B4-BE49-F238E27FC236}">
                <a16:creationId xmlns:a16="http://schemas.microsoft.com/office/drawing/2014/main" id="{D81DA97B-9D13-47C0-A588-310954B2E49A}"/>
              </a:ext>
            </a:extLst>
          </p:cNvPr>
          <p:cNvSpPr/>
          <p:nvPr/>
        </p:nvSpPr>
        <p:spPr>
          <a:xfrm>
            <a:off x="3459078" y="1696665"/>
            <a:ext cx="1169654" cy="154164"/>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手渡し等何等かの手段</a:t>
            </a:r>
          </a:p>
        </p:txBody>
      </p:sp>
      <p:grpSp>
        <p:nvGrpSpPr>
          <p:cNvPr id="30" name="グループ化 29">
            <a:extLst>
              <a:ext uri="{FF2B5EF4-FFF2-40B4-BE49-F238E27FC236}">
                <a16:creationId xmlns:a16="http://schemas.microsoft.com/office/drawing/2014/main" id="{FAE5F41C-AAEB-4FC9-BA59-A44901B050AA}"/>
              </a:ext>
            </a:extLst>
          </p:cNvPr>
          <p:cNvGrpSpPr/>
          <p:nvPr/>
        </p:nvGrpSpPr>
        <p:grpSpPr>
          <a:xfrm>
            <a:off x="2422526" y="5141909"/>
            <a:ext cx="928688" cy="874712"/>
            <a:chOff x="898525" y="5884863"/>
            <a:chExt cx="928688" cy="874712"/>
          </a:xfrm>
        </p:grpSpPr>
        <p:sp>
          <p:nvSpPr>
            <p:cNvPr id="20" name="AutoShape 16">
              <a:extLst>
                <a:ext uri="{FF2B5EF4-FFF2-40B4-BE49-F238E27FC236}">
                  <a16:creationId xmlns:a16="http://schemas.microsoft.com/office/drawing/2014/main" id="{B9C2A731-7602-4689-90B7-9F83E6CB3EBA}"/>
                </a:ext>
              </a:extLst>
            </p:cNvPr>
            <p:cNvSpPr>
              <a:spLocks noChangeAspect="1" noChangeArrowheads="1" noTextEdit="1"/>
            </p:cNvSpPr>
            <p:nvPr/>
          </p:nvSpPr>
          <p:spPr bwMode="auto">
            <a:xfrm>
              <a:off x="898525" y="5884863"/>
              <a:ext cx="928688" cy="8747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042" name="Picture 18">
              <a:extLst>
                <a:ext uri="{FF2B5EF4-FFF2-40B4-BE49-F238E27FC236}">
                  <a16:creationId xmlns:a16="http://schemas.microsoft.com/office/drawing/2014/main" id="{34A67515-D053-49CC-8976-D1130C9200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Freeform 20">
              <a:extLst>
                <a:ext uri="{FF2B5EF4-FFF2-40B4-BE49-F238E27FC236}">
                  <a16:creationId xmlns:a16="http://schemas.microsoft.com/office/drawing/2014/main" id="{4EE37EF0-1E4A-47B2-A42D-A1FFD780ABC9}"/>
                </a:ext>
              </a:extLst>
            </p:cNvPr>
            <p:cNvSpPr>
              <a:spLocks noEditPoints="1"/>
            </p:cNvSpPr>
            <p:nvPr/>
          </p:nvSpPr>
          <p:spPr bwMode="auto">
            <a:xfrm>
              <a:off x="901700" y="5888038"/>
              <a:ext cx="922338" cy="868362"/>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noFill/>
            <a:ln w="12700" cap="flat">
              <a:solidFill>
                <a:srgbClr val="44546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7" name="Freeform 25">
              <a:extLst>
                <a:ext uri="{FF2B5EF4-FFF2-40B4-BE49-F238E27FC236}">
                  <a16:creationId xmlns:a16="http://schemas.microsoft.com/office/drawing/2014/main" id="{5F3C61B7-0FED-4420-AF8E-EEEAED9BF43C}"/>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100" name="グループ化 99">
            <a:extLst>
              <a:ext uri="{FF2B5EF4-FFF2-40B4-BE49-F238E27FC236}">
                <a16:creationId xmlns:a16="http://schemas.microsoft.com/office/drawing/2014/main" id="{7E377F8F-6F32-4E29-80AB-3FE13887A4E9}"/>
              </a:ext>
            </a:extLst>
          </p:cNvPr>
          <p:cNvGrpSpPr/>
          <p:nvPr/>
        </p:nvGrpSpPr>
        <p:grpSpPr>
          <a:xfrm>
            <a:off x="4584000" y="5147774"/>
            <a:ext cx="928688" cy="874712"/>
            <a:chOff x="898525" y="5884863"/>
            <a:chExt cx="928688" cy="874712"/>
          </a:xfrm>
          <a:solidFill>
            <a:schemeClr val="bg1"/>
          </a:solidFill>
        </p:grpSpPr>
        <p:sp>
          <p:nvSpPr>
            <p:cNvPr id="101" name="AutoShape 16">
              <a:extLst>
                <a:ext uri="{FF2B5EF4-FFF2-40B4-BE49-F238E27FC236}">
                  <a16:creationId xmlns:a16="http://schemas.microsoft.com/office/drawing/2014/main" id="{95BBA7BE-BA7E-4022-9BBD-18ED75FE6408}"/>
                </a:ext>
              </a:extLst>
            </p:cNvPr>
            <p:cNvSpPr>
              <a:spLocks noChangeAspect="1" noChangeArrowheads="1" noTextEdit="1"/>
            </p:cNvSpPr>
            <p:nvPr/>
          </p:nvSpPr>
          <p:spPr bwMode="auto">
            <a:xfrm>
              <a:off x="898525" y="5884863"/>
              <a:ext cx="928688" cy="874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02" name="Picture 18">
              <a:extLst>
                <a:ext uri="{FF2B5EF4-FFF2-40B4-BE49-F238E27FC236}">
                  <a16:creationId xmlns:a16="http://schemas.microsoft.com/office/drawing/2014/main" id="{89546BF3-B1EA-43DE-9D13-498A426CBF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4" name="Freeform 20">
              <a:extLst>
                <a:ext uri="{FF2B5EF4-FFF2-40B4-BE49-F238E27FC236}">
                  <a16:creationId xmlns:a16="http://schemas.microsoft.com/office/drawing/2014/main" id="{E1CAE262-FDA7-4E7B-92FF-74DC0BC361BC}"/>
                </a:ext>
              </a:extLst>
            </p:cNvPr>
            <p:cNvSpPr>
              <a:spLocks noEditPoints="1"/>
            </p:cNvSpPr>
            <p:nvPr/>
          </p:nvSpPr>
          <p:spPr bwMode="auto">
            <a:xfrm>
              <a:off x="901700" y="5888038"/>
              <a:ext cx="922338" cy="868362"/>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grpFill/>
            <a:ln w="12700" cap="flat">
              <a:solidFill>
                <a:srgbClr val="44546A"/>
              </a:solidFill>
              <a:prstDash val="solid"/>
              <a:miter lim="800000"/>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106" name="Freeform 24">
              <a:extLst>
                <a:ext uri="{FF2B5EF4-FFF2-40B4-BE49-F238E27FC236}">
                  <a16:creationId xmlns:a16="http://schemas.microsoft.com/office/drawing/2014/main" id="{E548F8FE-193B-4ACE-8CAC-040A9D24520A}"/>
                </a:ext>
              </a:extLst>
            </p:cNvPr>
            <p:cNvSpPr>
              <a:spLocks/>
            </p:cNvSpPr>
            <p:nvPr/>
          </p:nvSpPr>
          <p:spPr bwMode="auto">
            <a:xfrm>
              <a:off x="1395413" y="6364288"/>
              <a:ext cx="371475" cy="341312"/>
            </a:xfrm>
            <a:custGeom>
              <a:avLst/>
              <a:gdLst>
                <a:gd name="T0" fmla="*/ 0 w 234"/>
                <a:gd name="T1" fmla="*/ 0 h 215"/>
                <a:gd name="T2" fmla="*/ 234 w 234"/>
                <a:gd name="T3" fmla="*/ 0 h 215"/>
                <a:gd name="T4" fmla="*/ 234 w 234"/>
                <a:gd name="T5" fmla="*/ 179 h 215"/>
                <a:gd name="T6" fmla="*/ 198 w 234"/>
                <a:gd name="T7" fmla="*/ 215 h 215"/>
                <a:gd name="T8" fmla="*/ 0 w 234"/>
                <a:gd name="T9" fmla="*/ 215 h 215"/>
                <a:gd name="T10" fmla="*/ 0 w 234"/>
                <a:gd name="T11" fmla="*/ 0 h 215"/>
              </a:gdLst>
              <a:ahLst/>
              <a:cxnLst>
                <a:cxn ang="0">
                  <a:pos x="T0" y="T1"/>
                </a:cxn>
                <a:cxn ang="0">
                  <a:pos x="T2" y="T3"/>
                </a:cxn>
                <a:cxn ang="0">
                  <a:pos x="T4" y="T5"/>
                </a:cxn>
                <a:cxn ang="0">
                  <a:pos x="T6" y="T7"/>
                </a:cxn>
                <a:cxn ang="0">
                  <a:pos x="T8" y="T9"/>
                </a:cxn>
                <a:cxn ang="0">
                  <a:pos x="T10" y="T11"/>
                </a:cxn>
              </a:cxnLst>
              <a:rect l="0" t="0" r="r" b="b"/>
              <a:pathLst>
                <a:path w="234" h="215">
                  <a:moveTo>
                    <a:pt x="0" y="0"/>
                  </a:moveTo>
                  <a:lnTo>
                    <a:pt x="234" y="0"/>
                  </a:lnTo>
                  <a:lnTo>
                    <a:pt x="234" y="179"/>
                  </a:lnTo>
                  <a:lnTo>
                    <a:pt x="198" y="215"/>
                  </a:lnTo>
                  <a:lnTo>
                    <a:pt x="0" y="21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07" name="Freeform 25">
              <a:extLst>
                <a:ext uri="{FF2B5EF4-FFF2-40B4-BE49-F238E27FC236}">
                  <a16:creationId xmlns:a16="http://schemas.microsoft.com/office/drawing/2014/main" id="{2E36E93B-DED1-48B7-B905-3CEEB58E4F46}"/>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grpSp>
        <p:nvGrpSpPr>
          <p:cNvPr id="110" name="グループ化 109">
            <a:extLst>
              <a:ext uri="{FF2B5EF4-FFF2-40B4-BE49-F238E27FC236}">
                <a16:creationId xmlns:a16="http://schemas.microsoft.com/office/drawing/2014/main" id="{ECB0F35D-CD0D-40C6-9657-6ED99BC6327E}"/>
              </a:ext>
            </a:extLst>
          </p:cNvPr>
          <p:cNvGrpSpPr/>
          <p:nvPr/>
        </p:nvGrpSpPr>
        <p:grpSpPr>
          <a:xfrm>
            <a:off x="8879906" y="5141909"/>
            <a:ext cx="928688" cy="874712"/>
            <a:chOff x="898525" y="5884863"/>
            <a:chExt cx="928688" cy="874712"/>
          </a:xfrm>
        </p:grpSpPr>
        <p:sp>
          <p:nvSpPr>
            <p:cNvPr id="111" name="AutoShape 16">
              <a:extLst>
                <a:ext uri="{FF2B5EF4-FFF2-40B4-BE49-F238E27FC236}">
                  <a16:creationId xmlns:a16="http://schemas.microsoft.com/office/drawing/2014/main" id="{9A1FD3D4-3566-4046-A1BF-8F3B1F315F75}"/>
                </a:ext>
              </a:extLst>
            </p:cNvPr>
            <p:cNvSpPr>
              <a:spLocks noChangeAspect="1" noChangeArrowheads="1" noTextEdit="1"/>
            </p:cNvSpPr>
            <p:nvPr/>
          </p:nvSpPr>
          <p:spPr bwMode="auto">
            <a:xfrm>
              <a:off x="898525" y="5884863"/>
              <a:ext cx="928688" cy="8747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12" name="Picture 18">
              <a:extLst>
                <a:ext uri="{FF2B5EF4-FFF2-40B4-BE49-F238E27FC236}">
                  <a16:creationId xmlns:a16="http://schemas.microsoft.com/office/drawing/2014/main" id="{E2F682FB-AAE4-49F9-A6B7-3B10A79160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 name="Freeform 20">
              <a:extLst>
                <a:ext uri="{FF2B5EF4-FFF2-40B4-BE49-F238E27FC236}">
                  <a16:creationId xmlns:a16="http://schemas.microsoft.com/office/drawing/2014/main" id="{E87A7CFE-F4B7-4318-B5FE-A31E06027AD0}"/>
                </a:ext>
              </a:extLst>
            </p:cNvPr>
            <p:cNvSpPr>
              <a:spLocks noEditPoints="1"/>
            </p:cNvSpPr>
            <p:nvPr/>
          </p:nvSpPr>
          <p:spPr bwMode="auto">
            <a:xfrm>
              <a:off x="901700" y="5888038"/>
              <a:ext cx="922338" cy="868362"/>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noFill/>
            <a:ln w="12700" cap="flat">
              <a:solidFill>
                <a:srgbClr val="44546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6" name="Freeform 24">
              <a:extLst>
                <a:ext uri="{FF2B5EF4-FFF2-40B4-BE49-F238E27FC236}">
                  <a16:creationId xmlns:a16="http://schemas.microsoft.com/office/drawing/2014/main" id="{4BF3AD0D-660A-481D-BAE2-92F50F7EC649}"/>
                </a:ext>
              </a:extLst>
            </p:cNvPr>
            <p:cNvSpPr>
              <a:spLocks/>
            </p:cNvSpPr>
            <p:nvPr/>
          </p:nvSpPr>
          <p:spPr bwMode="auto">
            <a:xfrm>
              <a:off x="1395413" y="6364288"/>
              <a:ext cx="371475" cy="341312"/>
            </a:xfrm>
            <a:custGeom>
              <a:avLst/>
              <a:gdLst>
                <a:gd name="T0" fmla="*/ 0 w 234"/>
                <a:gd name="T1" fmla="*/ 0 h 215"/>
                <a:gd name="T2" fmla="*/ 234 w 234"/>
                <a:gd name="T3" fmla="*/ 0 h 215"/>
                <a:gd name="T4" fmla="*/ 234 w 234"/>
                <a:gd name="T5" fmla="*/ 179 h 215"/>
                <a:gd name="T6" fmla="*/ 198 w 234"/>
                <a:gd name="T7" fmla="*/ 215 h 215"/>
                <a:gd name="T8" fmla="*/ 0 w 234"/>
                <a:gd name="T9" fmla="*/ 215 h 215"/>
                <a:gd name="T10" fmla="*/ 0 w 234"/>
                <a:gd name="T11" fmla="*/ 0 h 215"/>
              </a:gdLst>
              <a:ahLst/>
              <a:cxnLst>
                <a:cxn ang="0">
                  <a:pos x="T0" y="T1"/>
                </a:cxn>
                <a:cxn ang="0">
                  <a:pos x="T2" y="T3"/>
                </a:cxn>
                <a:cxn ang="0">
                  <a:pos x="T4" y="T5"/>
                </a:cxn>
                <a:cxn ang="0">
                  <a:pos x="T6" y="T7"/>
                </a:cxn>
                <a:cxn ang="0">
                  <a:pos x="T8" y="T9"/>
                </a:cxn>
                <a:cxn ang="0">
                  <a:pos x="T10" y="T11"/>
                </a:cxn>
              </a:cxnLst>
              <a:rect l="0" t="0" r="r" b="b"/>
              <a:pathLst>
                <a:path w="234" h="215">
                  <a:moveTo>
                    <a:pt x="0" y="0"/>
                  </a:moveTo>
                  <a:lnTo>
                    <a:pt x="234" y="0"/>
                  </a:lnTo>
                  <a:lnTo>
                    <a:pt x="234" y="179"/>
                  </a:lnTo>
                  <a:lnTo>
                    <a:pt x="198" y="215"/>
                  </a:lnTo>
                  <a:lnTo>
                    <a:pt x="0" y="21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17" name="Freeform 25">
              <a:extLst>
                <a:ext uri="{FF2B5EF4-FFF2-40B4-BE49-F238E27FC236}">
                  <a16:creationId xmlns:a16="http://schemas.microsoft.com/office/drawing/2014/main" id="{F22C985F-F033-431F-92FB-0FF3AB0A29DA}"/>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solidFill>
              <a:srgbClr val="CDCDC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cxnSp>
        <p:nvCxnSpPr>
          <p:cNvPr id="120" name="直線コネクタ 119">
            <a:extLst>
              <a:ext uri="{FF2B5EF4-FFF2-40B4-BE49-F238E27FC236}">
                <a16:creationId xmlns:a16="http://schemas.microsoft.com/office/drawing/2014/main" id="{5020DF0A-3BAE-4C75-8703-D2442CEA7905}"/>
              </a:ext>
            </a:extLst>
          </p:cNvPr>
          <p:cNvCxnSpPr/>
          <p:nvPr/>
        </p:nvCxnSpPr>
        <p:spPr>
          <a:xfrm>
            <a:off x="2055788" y="6115050"/>
            <a:ext cx="844086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正方形/長方形 132">
            <a:extLst>
              <a:ext uri="{FF2B5EF4-FFF2-40B4-BE49-F238E27FC236}">
                <a16:creationId xmlns:a16="http://schemas.microsoft.com/office/drawing/2014/main" id="{6334F43E-57A7-4041-A75D-2D1AF5BE240D}"/>
              </a:ext>
            </a:extLst>
          </p:cNvPr>
          <p:cNvSpPr/>
          <p:nvPr/>
        </p:nvSpPr>
        <p:spPr>
          <a:xfrm>
            <a:off x="2635538" y="4948869"/>
            <a:ext cx="789576" cy="202287"/>
          </a:xfrm>
          <a:prstGeom prst="rect">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700" dirty="0"/>
              <a:t>ひな型パス</a:t>
            </a:r>
            <a:r>
              <a:rPr lang="en-US" altLang="ja-JP" sz="700" dirty="0"/>
              <a:t> </a:t>
            </a:r>
            <a:r>
              <a:rPr lang="en-US" altLang="ja-JP" sz="700" dirty="0" err="1"/>
              <a:t>ePath</a:t>
            </a:r>
            <a:endParaRPr lang="ja-JP" altLang="en-US" sz="700" dirty="0"/>
          </a:p>
        </p:txBody>
      </p:sp>
      <p:sp>
        <p:nvSpPr>
          <p:cNvPr id="135" name="四角形: 対角を切り取る 134">
            <a:extLst>
              <a:ext uri="{FF2B5EF4-FFF2-40B4-BE49-F238E27FC236}">
                <a16:creationId xmlns:a16="http://schemas.microsoft.com/office/drawing/2014/main" id="{7E0D75AE-ED8A-47D2-B074-DE6720988299}"/>
              </a:ext>
            </a:extLst>
          </p:cNvPr>
          <p:cNvSpPr/>
          <p:nvPr/>
        </p:nvSpPr>
        <p:spPr>
          <a:xfrm>
            <a:off x="8320045" y="4580836"/>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36" name="正方形/長方形 135">
            <a:extLst>
              <a:ext uri="{FF2B5EF4-FFF2-40B4-BE49-F238E27FC236}">
                <a16:creationId xmlns:a16="http://schemas.microsoft.com/office/drawing/2014/main" id="{A7FD8E9C-1222-478A-85C8-0417A3D39F26}"/>
              </a:ext>
            </a:extLst>
          </p:cNvPr>
          <p:cNvSpPr/>
          <p:nvPr/>
        </p:nvSpPr>
        <p:spPr>
          <a:xfrm>
            <a:off x="4562226" y="4962247"/>
            <a:ext cx="892154" cy="202287"/>
          </a:xfrm>
          <a:prstGeom prst="rect">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700" dirty="0"/>
              <a:t>施設パス</a:t>
            </a:r>
            <a:r>
              <a:rPr lang="en-US" altLang="ja-JP" sz="700" dirty="0"/>
              <a:t> </a:t>
            </a:r>
            <a:r>
              <a:rPr lang="en-US" altLang="ja-JP" sz="700" dirty="0" err="1"/>
              <a:t>ePath</a:t>
            </a:r>
            <a:endParaRPr lang="ja-JP" altLang="en-US" sz="700" dirty="0"/>
          </a:p>
        </p:txBody>
      </p:sp>
      <p:sp>
        <p:nvSpPr>
          <p:cNvPr id="138" name="正方形/長方形 137">
            <a:extLst>
              <a:ext uri="{FF2B5EF4-FFF2-40B4-BE49-F238E27FC236}">
                <a16:creationId xmlns:a16="http://schemas.microsoft.com/office/drawing/2014/main" id="{84473F2B-0D18-40E5-B57E-D2E0A547C923}"/>
              </a:ext>
            </a:extLst>
          </p:cNvPr>
          <p:cNvSpPr/>
          <p:nvPr/>
        </p:nvSpPr>
        <p:spPr>
          <a:xfrm>
            <a:off x="8821150" y="4966981"/>
            <a:ext cx="1054782" cy="185957"/>
          </a:xfrm>
          <a:prstGeom prst="rect">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700" dirty="0"/>
              <a:t>適用後パス</a:t>
            </a:r>
            <a:r>
              <a:rPr lang="en-US" altLang="ja-JP" sz="700" dirty="0"/>
              <a:t/>
            </a:r>
            <a:br>
              <a:rPr lang="en-US" altLang="ja-JP" sz="700" dirty="0"/>
            </a:br>
            <a:r>
              <a:rPr lang="en-US" altLang="ja-JP" sz="700" dirty="0" err="1"/>
              <a:t>ePath</a:t>
            </a:r>
            <a:r>
              <a:rPr lang="ja-JP" altLang="en-US" sz="700" dirty="0"/>
              <a:t>データ</a:t>
            </a:r>
          </a:p>
        </p:txBody>
      </p:sp>
      <p:sp>
        <p:nvSpPr>
          <p:cNvPr id="238" name="四角形: 上の 2 つの角を切り取る 237">
            <a:extLst>
              <a:ext uri="{FF2B5EF4-FFF2-40B4-BE49-F238E27FC236}">
                <a16:creationId xmlns:a16="http://schemas.microsoft.com/office/drawing/2014/main" id="{49A176AC-4329-4A01-A3CB-2D60CD507FFA}"/>
              </a:ext>
            </a:extLst>
          </p:cNvPr>
          <p:cNvSpPr/>
          <p:nvPr/>
        </p:nvSpPr>
        <p:spPr>
          <a:xfrm>
            <a:off x="4066156" y="6177522"/>
            <a:ext cx="346258" cy="202287"/>
          </a:xfrm>
          <a:prstGeom prst="snip2SameRect">
            <a:avLst>
              <a:gd name="adj1" fmla="val 31499"/>
              <a:gd name="adj2" fmla="val 3337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endParaRPr lang="ja-JP" altLang="en-US" sz="800" dirty="0"/>
          </a:p>
        </p:txBody>
      </p:sp>
      <p:sp>
        <p:nvSpPr>
          <p:cNvPr id="239" name="正方形/長方形 238">
            <a:extLst>
              <a:ext uri="{FF2B5EF4-FFF2-40B4-BE49-F238E27FC236}">
                <a16:creationId xmlns:a16="http://schemas.microsoft.com/office/drawing/2014/main" id="{728A616C-043C-488A-9B5D-0304F6FC4CFB}"/>
              </a:ext>
            </a:extLst>
          </p:cNvPr>
          <p:cNvSpPr/>
          <p:nvPr/>
        </p:nvSpPr>
        <p:spPr>
          <a:xfrm>
            <a:off x="4456205" y="6167006"/>
            <a:ext cx="1988482" cy="202287"/>
          </a:xfrm>
          <a:prstGeom prst="rect">
            <a:avLst/>
          </a:prstGeom>
          <a:solidFill>
            <a:schemeClr val="bg1"/>
          </a:solidFill>
          <a:ln>
            <a:noFill/>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r>
              <a:rPr lang="en-US" altLang="ja-JP" sz="800" dirty="0" err="1"/>
              <a:t>ePath</a:t>
            </a:r>
            <a:r>
              <a:rPr lang="ja-JP" altLang="en-US" sz="800" dirty="0"/>
              <a:t>データを発生させる手段・システム</a:t>
            </a:r>
          </a:p>
        </p:txBody>
      </p:sp>
      <p:sp>
        <p:nvSpPr>
          <p:cNvPr id="240" name="正方形/長方形 239">
            <a:extLst>
              <a:ext uri="{FF2B5EF4-FFF2-40B4-BE49-F238E27FC236}">
                <a16:creationId xmlns:a16="http://schemas.microsoft.com/office/drawing/2014/main" id="{3F4D8BF6-8C2E-4A83-9DE2-2CCCE315C5B7}"/>
              </a:ext>
            </a:extLst>
          </p:cNvPr>
          <p:cNvSpPr/>
          <p:nvPr/>
        </p:nvSpPr>
        <p:spPr>
          <a:xfrm>
            <a:off x="2097171" y="6180248"/>
            <a:ext cx="353265" cy="192895"/>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endParaRPr lang="ja-JP" altLang="en-US" sz="800" dirty="0"/>
          </a:p>
        </p:txBody>
      </p:sp>
      <p:sp>
        <p:nvSpPr>
          <p:cNvPr id="241" name="正方形/長方形 240">
            <a:extLst>
              <a:ext uri="{FF2B5EF4-FFF2-40B4-BE49-F238E27FC236}">
                <a16:creationId xmlns:a16="http://schemas.microsoft.com/office/drawing/2014/main" id="{D6E368E5-070A-4D52-B74D-666305F2EF85}"/>
              </a:ext>
            </a:extLst>
          </p:cNvPr>
          <p:cNvSpPr/>
          <p:nvPr/>
        </p:nvSpPr>
        <p:spPr>
          <a:xfrm>
            <a:off x="2475375" y="6188341"/>
            <a:ext cx="1497648" cy="202287"/>
          </a:xfrm>
          <a:prstGeom prst="rect">
            <a:avLst/>
          </a:prstGeom>
          <a:solidFill>
            <a:schemeClr val="bg1"/>
          </a:solidFill>
          <a:ln>
            <a:noFill/>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nchorCtr="0">
            <a:noAutofit/>
          </a:bodyPr>
          <a:lstStyle/>
          <a:p>
            <a:r>
              <a:rPr lang="en-US" altLang="ja-JP" sz="800" dirty="0" err="1"/>
              <a:t>ePath</a:t>
            </a:r>
            <a:r>
              <a:rPr lang="ja-JP" altLang="en-US" sz="800" dirty="0"/>
              <a:t>データの作成者・管理者</a:t>
            </a:r>
          </a:p>
        </p:txBody>
      </p:sp>
      <p:sp>
        <p:nvSpPr>
          <p:cNvPr id="242" name="四角形: 対角を切り取る 241">
            <a:extLst>
              <a:ext uri="{FF2B5EF4-FFF2-40B4-BE49-F238E27FC236}">
                <a16:creationId xmlns:a16="http://schemas.microsoft.com/office/drawing/2014/main" id="{A219CD30-2CF8-496F-9EEC-92E1C6C5A912}"/>
              </a:ext>
            </a:extLst>
          </p:cNvPr>
          <p:cNvSpPr/>
          <p:nvPr/>
        </p:nvSpPr>
        <p:spPr>
          <a:xfrm>
            <a:off x="6488479" y="6179116"/>
            <a:ext cx="395598" cy="156945"/>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endParaRPr lang="ja-JP" altLang="en-US" sz="1000" dirty="0"/>
          </a:p>
        </p:txBody>
      </p:sp>
      <p:sp>
        <p:nvSpPr>
          <p:cNvPr id="243" name="正方形/長方形 242">
            <a:extLst>
              <a:ext uri="{FF2B5EF4-FFF2-40B4-BE49-F238E27FC236}">
                <a16:creationId xmlns:a16="http://schemas.microsoft.com/office/drawing/2014/main" id="{2B8699DF-B26E-4601-B8E0-B8338BF36E0D}"/>
              </a:ext>
            </a:extLst>
          </p:cNvPr>
          <p:cNvSpPr/>
          <p:nvPr/>
        </p:nvSpPr>
        <p:spPr>
          <a:xfrm>
            <a:off x="6927870" y="6167942"/>
            <a:ext cx="1360815" cy="202287"/>
          </a:xfrm>
          <a:prstGeom prst="rect">
            <a:avLst/>
          </a:prstGeom>
          <a:solidFill>
            <a:schemeClr val="bg1"/>
          </a:solidFill>
          <a:ln>
            <a:noFill/>
            <a:tailEnd type="none"/>
          </a:ln>
        </p:spPr>
        <p:style>
          <a:lnRef idx="1">
            <a:schemeClr val="accent1"/>
          </a:lnRef>
          <a:fillRef idx="0">
            <a:schemeClr val="accent1"/>
          </a:fillRef>
          <a:effectRef idx="0">
            <a:schemeClr val="accent1"/>
          </a:effectRef>
          <a:fontRef idx="minor">
            <a:schemeClr val="tx1"/>
          </a:fontRef>
        </p:style>
        <p:txBody>
          <a:bodyPr lIns="0" tIns="0" rIns="0" bIns="0" rtlCol="0" anchor="ctr" anchorCtr="0"/>
          <a:lstStyle/>
          <a:p>
            <a:r>
              <a:rPr lang="en-US" altLang="ja-JP" sz="800" dirty="0" err="1"/>
              <a:t>ePath</a:t>
            </a:r>
            <a:r>
              <a:rPr lang="ja-JP" altLang="en-US" sz="800" dirty="0"/>
              <a:t>データの受け渡し手段</a:t>
            </a:r>
          </a:p>
        </p:txBody>
      </p:sp>
      <p:sp>
        <p:nvSpPr>
          <p:cNvPr id="97" name="四角形: 角を丸くする 163">
            <a:extLst>
              <a:ext uri="{FF2B5EF4-FFF2-40B4-BE49-F238E27FC236}">
                <a16:creationId xmlns:a16="http://schemas.microsoft.com/office/drawing/2014/main" id="{8FFBE91B-0A4A-4915-AB09-8347EA66FCC7}"/>
              </a:ext>
            </a:extLst>
          </p:cNvPr>
          <p:cNvSpPr/>
          <p:nvPr/>
        </p:nvSpPr>
        <p:spPr>
          <a:xfrm>
            <a:off x="8358011" y="5318034"/>
            <a:ext cx="102775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1000" dirty="0">
                <a:solidFill>
                  <a:schemeClr val="tx1"/>
                </a:solidFill>
              </a:rPr>
              <a:t>Bundle</a:t>
            </a:r>
            <a:endParaRPr lang="ja-JP" altLang="en-US" sz="1000" dirty="0">
              <a:solidFill>
                <a:schemeClr val="tx1"/>
              </a:solidFill>
            </a:endParaRPr>
          </a:p>
        </p:txBody>
      </p:sp>
      <p:sp>
        <p:nvSpPr>
          <p:cNvPr id="123" name="四角形: 角を丸くする 163">
            <a:extLst>
              <a:ext uri="{FF2B5EF4-FFF2-40B4-BE49-F238E27FC236}">
                <a16:creationId xmlns:a16="http://schemas.microsoft.com/office/drawing/2014/main" id="{8FFBE91B-0A4A-4915-AB09-8347EA66FCC7}"/>
              </a:ext>
            </a:extLst>
          </p:cNvPr>
          <p:cNvSpPr/>
          <p:nvPr/>
        </p:nvSpPr>
        <p:spPr>
          <a:xfrm>
            <a:off x="4117665" y="5677295"/>
            <a:ext cx="981527"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PlanDefinition</a:t>
            </a:r>
            <a:endParaRPr lang="ja-JP" altLang="en-US" sz="900" dirty="0">
              <a:solidFill>
                <a:schemeClr val="tx1"/>
              </a:solidFill>
            </a:endParaRPr>
          </a:p>
        </p:txBody>
      </p:sp>
      <p:sp>
        <p:nvSpPr>
          <p:cNvPr id="124" name="四角形: 角を丸くする 163">
            <a:extLst>
              <a:ext uri="{FF2B5EF4-FFF2-40B4-BE49-F238E27FC236}">
                <a16:creationId xmlns:a16="http://schemas.microsoft.com/office/drawing/2014/main" id="{8FFBE91B-0A4A-4915-AB09-8347EA66FCC7}"/>
              </a:ext>
            </a:extLst>
          </p:cNvPr>
          <p:cNvSpPr/>
          <p:nvPr/>
        </p:nvSpPr>
        <p:spPr>
          <a:xfrm>
            <a:off x="4122506" y="5354360"/>
            <a:ext cx="966073"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Questionnaire</a:t>
            </a:r>
          </a:p>
          <a:p>
            <a:endParaRPr lang="ja-JP" altLang="en-US" sz="1000" dirty="0">
              <a:solidFill>
                <a:schemeClr val="tx1"/>
              </a:solidFill>
            </a:endParaRPr>
          </a:p>
        </p:txBody>
      </p:sp>
      <p:sp>
        <p:nvSpPr>
          <p:cNvPr id="125" name="Rectangle 23">
            <a:extLst>
              <a:ext uri="{FF2B5EF4-FFF2-40B4-BE49-F238E27FC236}">
                <a16:creationId xmlns:a16="http://schemas.microsoft.com/office/drawing/2014/main" id="{20F439D3-1C69-4015-9A84-7BE9A368DCA8}"/>
              </a:ext>
            </a:extLst>
          </p:cNvPr>
          <p:cNvSpPr>
            <a:spLocks noChangeArrowheads="1"/>
          </p:cNvSpPr>
          <p:nvPr/>
        </p:nvSpPr>
        <p:spPr bwMode="auto">
          <a:xfrm>
            <a:off x="9495601" y="5606507"/>
            <a:ext cx="8431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solidFill>
                  <a:srgbClr val="000000"/>
                </a:solidFill>
                <a:latin typeface="游ゴシック" panose="020B0400000000000000" pitchFamily="50" charset="-128"/>
                <a:ea typeface="游ゴシック" panose="020B0400000000000000" pitchFamily="50" charset="-128"/>
              </a:rPr>
              <a:t>FHIR</a:t>
            </a:r>
          </a:p>
          <a:p>
            <a:r>
              <a:rPr kumimoji="0" lang="ja-JP" altLang="ja-JP" sz="900" b="1" dirty="0">
                <a:solidFill>
                  <a:srgbClr val="000000"/>
                </a:solidFill>
                <a:latin typeface="游ゴシック" panose="020B0400000000000000" pitchFamily="50" charset="-128"/>
                <a:ea typeface="游ゴシック" panose="020B0400000000000000" pitchFamily="50" charset="-128"/>
              </a:rPr>
              <a:t>リポジトリ</a:t>
            </a:r>
            <a:r>
              <a:rPr kumimoji="0" lang="en-US" altLang="ja-JP" sz="900" b="1" dirty="0">
                <a:solidFill>
                  <a:srgbClr val="000000"/>
                </a:solidFill>
                <a:latin typeface="游ゴシック" panose="020B0400000000000000" pitchFamily="50" charset="-128"/>
                <a:ea typeface="游ゴシック" panose="020B0400000000000000" pitchFamily="50" charset="-128"/>
              </a:rPr>
              <a:t>:</a:t>
            </a:r>
            <a:r>
              <a:rPr kumimoji="0" lang="ja-JP" altLang="en-US" sz="900" b="1" dirty="0">
                <a:solidFill>
                  <a:srgbClr val="000000"/>
                </a:solidFill>
                <a:latin typeface="游ゴシック" panose="020B0400000000000000" pitchFamily="50" charset="-128"/>
                <a:ea typeface="游ゴシック" panose="020B0400000000000000" pitchFamily="50" charset="-128"/>
              </a:rPr>
              <a:t>施設</a:t>
            </a:r>
            <a:endParaRPr kumimoji="0" lang="ja-JP" altLang="ja-JP" sz="900" b="1" dirty="0"/>
          </a:p>
        </p:txBody>
      </p:sp>
      <p:sp>
        <p:nvSpPr>
          <p:cNvPr id="126" name="四角形: 角を丸くする 163">
            <a:extLst>
              <a:ext uri="{FF2B5EF4-FFF2-40B4-BE49-F238E27FC236}">
                <a16:creationId xmlns:a16="http://schemas.microsoft.com/office/drawing/2014/main" id="{8FFBE91B-0A4A-4915-AB09-8347EA66FCC7}"/>
              </a:ext>
            </a:extLst>
          </p:cNvPr>
          <p:cNvSpPr/>
          <p:nvPr/>
        </p:nvSpPr>
        <p:spPr>
          <a:xfrm>
            <a:off x="8360297" y="5638026"/>
            <a:ext cx="1027750" cy="304303"/>
          </a:xfrm>
          <a:prstGeom prst="roundRect">
            <a:avLst/>
          </a:prstGeom>
          <a:gradFill>
            <a:gsLst>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1000" dirty="0">
                <a:solidFill>
                  <a:schemeClr val="tx1"/>
                </a:solidFill>
              </a:rPr>
              <a:t>List</a:t>
            </a:r>
            <a:endParaRPr lang="ja-JP" altLang="en-US" sz="1000" dirty="0">
              <a:solidFill>
                <a:schemeClr val="tx1"/>
              </a:solidFill>
            </a:endParaRPr>
          </a:p>
        </p:txBody>
      </p:sp>
      <p:sp>
        <p:nvSpPr>
          <p:cNvPr id="127" name="四角形: 上の 2 つの角を切り取る 276">
            <a:extLst>
              <a:ext uri="{FF2B5EF4-FFF2-40B4-BE49-F238E27FC236}">
                <a16:creationId xmlns:a16="http://schemas.microsoft.com/office/drawing/2014/main" id="{DD3DE717-0918-452E-90E7-B00E804C3F74}"/>
              </a:ext>
            </a:extLst>
          </p:cNvPr>
          <p:cNvSpPr/>
          <p:nvPr/>
        </p:nvSpPr>
        <p:spPr>
          <a:xfrm>
            <a:off x="9455315" y="1215191"/>
            <a:ext cx="974224" cy="224182"/>
          </a:xfrm>
          <a:prstGeom prst="snip2SameRect">
            <a:avLst>
              <a:gd name="adj1" fmla="val 31499"/>
              <a:gd name="adj2" fmla="val 33372"/>
            </a:avLst>
          </a:prstGeom>
          <a:solidFill>
            <a:schemeClr val="accent2">
              <a:lumMod val="20000"/>
              <a:lumOff val="80000"/>
            </a:schemeClr>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PHR</a:t>
            </a:r>
            <a:endParaRPr lang="ja-JP" altLang="en-US" sz="1000" dirty="0"/>
          </a:p>
        </p:txBody>
      </p:sp>
      <p:sp>
        <p:nvSpPr>
          <p:cNvPr id="128" name="正方形/長方形 127">
            <a:extLst>
              <a:ext uri="{FF2B5EF4-FFF2-40B4-BE49-F238E27FC236}">
                <a16:creationId xmlns:a16="http://schemas.microsoft.com/office/drawing/2014/main" id="{FB4D85AE-189E-490A-8AE8-BCF46C820239}"/>
              </a:ext>
            </a:extLst>
          </p:cNvPr>
          <p:cNvSpPr/>
          <p:nvPr/>
        </p:nvSpPr>
        <p:spPr>
          <a:xfrm>
            <a:off x="9414545" y="847657"/>
            <a:ext cx="1072055"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患者</a:t>
            </a:r>
          </a:p>
        </p:txBody>
      </p:sp>
      <p:sp>
        <p:nvSpPr>
          <p:cNvPr id="141" name="四角形: 角を丸くする 166">
            <a:extLst>
              <a:ext uri="{FF2B5EF4-FFF2-40B4-BE49-F238E27FC236}">
                <a16:creationId xmlns:a16="http://schemas.microsoft.com/office/drawing/2014/main" id="{1DFC338B-5EED-4588-ABBA-F3A59B5663F4}"/>
              </a:ext>
            </a:extLst>
          </p:cNvPr>
          <p:cNvSpPr/>
          <p:nvPr/>
        </p:nvSpPr>
        <p:spPr>
          <a:xfrm>
            <a:off x="9446079" y="1504028"/>
            <a:ext cx="1027750" cy="400523"/>
          </a:xfrm>
          <a:prstGeom prst="roundRect">
            <a:avLst/>
          </a:prstGeom>
          <a:gradFill>
            <a:gsLst>
              <a:gs pos="0">
                <a:schemeClr val="accent2">
                  <a:lumMod val="20000"/>
                  <a:lumOff val="80000"/>
                </a:schemeClr>
              </a:gs>
              <a:gs pos="50000">
                <a:schemeClr val="accent2">
                  <a:lumMod val="40000"/>
                  <a:lumOff val="60000"/>
                </a:schemeClr>
              </a:gs>
              <a:gs pos="100000">
                <a:schemeClr val="accent2">
                  <a:lumMod val="40000"/>
                  <a:lumOff val="6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smtClean="0">
                <a:solidFill>
                  <a:schemeClr val="tx1"/>
                </a:solidFill>
              </a:rPr>
              <a:t>Questionnaire</a:t>
            </a:r>
            <a:br>
              <a:rPr lang="en-US" altLang="ja-JP" sz="900" dirty="0" smtClean="0">
                <a:solidFill>
                  <a:schemeClr val="tx1"/>
                </a:solidFill>
              </a:rPr>
            </a:br>
            <a:r>
              <a:rPr lang="en-US" altLang="ja-JP" sz="900" dirty="0" smtClean="0">
                <a:solidFill>
                  <a:schemeClr val="tx1"/>
                </a:solidFill>
              </a:rPr>
              <a:t>Response</a:t>
            </a:r>
            <a:endParaRPr lang="ja-JP" altLang="en-US" sz="900" dirty="0">
              <a:solidFill>
                <a:schemeClr val="tx1"/>
              </a:solidFill>
            </a:endParaRPr>
          </a:p>
        </p:txBody>
      </p:sp>
      <p:cxnSp>
        <p:nvCxnSpPr>
          <p:cNvPr id="8" name="カギ線コネクタ 7"/>
          <p:cNvCxnSpPr>
            <a:stCxn id="181" idx="2"/>
            <a:endCxn id="97" idx="3"/>
          </p:cNvCxnSpPr>
          <p:nvPr/>
        </p:nvCxnSpPr>
        <p:spPr>
          <a:xfrm rot="5400000">
            <a:off x="9340660" y="4874490"/>
            <a:ext cx="640796" cy="550594"/>
          </a:xfrm>
          <a:prstGeom prst="bentConnector2">
            <a:avLst/>
          </a:prstGeom>
          <a:ln w="34925">
            <a:solidFill>
              <a:schemeClr val="accent2">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60" name="直線矢印コネクタ 159">
            <a:extLst>
              <a:ext uri="{FF2B5EF4-FFF2-40B4-BE49-F238E27FC236}">
                <a16:creationId xmlns:a16="http://schemas.microsoft.com/office/drawing/2014/main" id="{07445321-8FB7-48FD-AC56-8CC663B7DDD4}"/>
              </a:ext>
            </a:extLst>
          </p:cNvPr>
          <p:cNvCxnSpPr>
            <a:cxnSpLocks/>
            <a:stCxn id="161" idx="1"/>
            <a:endCxn id="124" idx="0"/>
          </p:cNvCxnSpPr>
          <p:nvPr/>
        </p:nvCxnSpPr>
        <p:spPr>
          <a:xfrm>
            <a:off x="4594936" y="4503853"/>
            <a:ext cx="10607" cy="850506"/>
          </a:xfrm>
          <a:prstGeom prst="straightConnector1">
            <a:avLst/>
          </a:prstGeom>
          <a:ln w="34925">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1" name="四角形: 対角を切り取る 134">
            <a:extLst>
              <a:ext uri="{FF2B5EF4-FFF2-40B4-BE49-F238E27FC236}">
                <a16:creationId xmlns:a16="http://schemas.microsoft.com/office/drawing/2014/main" id="{7E0D75AE-ED8A-47D2-B074-DE6720988299}"/>
              </a:ext>
            </a:extLst>
          </p:cNvPr>
          <p:cNvSpPr/>
          <p:nvPr/>
        </p:nvSpPr>
        <p:spPr>
          <a:xfrm>
            <a:off x="4160134" y="4279671"/>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62" name="四角形: 上の 2 つの角を切り取る 276">
            <a:extLst>
              <a:ext uri="{FF2B5EF4-FFF2-40B4-BE49-F238E27FC236}">
                <a16:creationId xmlns:a16="http://schemas.microsoft.com/office/drawing/2014/main" id="{DD3DE717-0918-452E-90E7-B00E804C3F74}"/>
              </a:ext>
            </a:extLst>
          </p:cNvPr>
          <p:cNvSpPr/>
          <p:nvPr/>
        </p:nvSpPr>
        <p:spPr>
          <a:xfrm>
            <a:off x="5088578" y="3079207"/>
            <a:ext cx="974224" cy="224182"/>
          </a:xfrm>
          <a:prstGeom prst="snip2SameRect">
            <a:avLst>
              <a:gd name="adj1" fmla="val 31499"/>
              <a:gd name="adj2" fmla="val 33372"/>
            </a:avLst>
          </a:prstGeom>
          <a:solidFill>
            <a:schemeClr val="accent2">
              <a:lumMod val="20000"/>
              <a:lumOff val="80000"/>
            </a:schemeClr>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PHR</a:t>
            </a:r>
            <a:endParaRPr lang="ja-JP" altLang="en-US" sz="1000" dirty="0"/>
          </a:p>
        </p:txBody>
      </p:sp>
      <p:cxnSp>
        <p:nvCxnSpPr>
          <p:cNvPr id="175" name="直線矢印コネクタ 174">
            <a:extLst>
              <a:ext uri="{FF2B5EF4-FFF2-40B4-BE49-F238E27FC236}">
                <a16:creationId xmlns:a16="http://schemas.microsoft.com/office/drawing/2014/main" id="{07445321-8FB7-48FD-AC56-8CC663B7DDD4}"/>
              </a:ext>
            </a:extLst>
          </p:cNvPr>
          <p:cNvCxnSpPr>
            <a:cxnSpLocks/>
            <a:stCxn id="176" idx="1"/>
            <a:endCxn id="202" idx="0"/>
          </p:cNvCxnSpPr>
          <p:nvPr/>
        </p:nvCxnSpPr>
        <p:spPr>
          <a:xfrm flipH="1">
            <a:off x="2577945" y="2817439"/>
            <a:ext cx="3070" cy="2555312"/>
          </a:xfrm>
          <a:prstGeom prst="straightConnector1">
            <a:avLst/>
          </a:prstGeom>
          <a:ln w="34925">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76" name="四角形: 対角を切り取る 134">
            <a:extLst>
              <a:ext uri="{FF2B5EF4-FFF2-40B4-BE49-F238E27FC236}">
                <a16:creationId xmlns:a16="http://schemas.microsoft.com/office/drawing/2014/main" id="{7E0D75AE-ED8A-47D2-B074-DE6720988299}"/>
              </a:ext>
            </a:extLst>
          </p:cNvPr>
          <p:cNvSpPr/>
          <p:nvPr/>
        </p:nvSpPr>
        <p:spPr>
          <a:xfrm>
            <a:off x="2146214" y="2593257"/>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77" name="正方形/長方形 176">
            <a:extLst>
              <a:ext uri="{FF2B5EF4-FFF2-40B4-BE49-F238E27FC236}">
                <a16:creationId xmlns:a16="http://schemas.microsoft.com/office/drawing/2014/main" id="{FB4D85AE-189E-490A-8AE8-BCF46C820239}"/>
              </a:ext>
            </a:extLst>
          </p:cNvPr>
          <p:cNvSpPr/>
          <p:nvPr/>
        </p:nvSpPr>
        <p:spPr>
          <a:xfrm>
            <a:off x="5093959" y="2735213"/>
            <a:ext cx="969114"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ベンダー </a:t>
            </a:r>
            <a:r>
              <a:rPr lang="en-US" altLang="ja-JP" sz="800" dirty="0"/>
              <a:t>or </a:t>
            </a:r>
            <a:r>
              <a:rPr lang="ja-JP" altLang="en-US" sz="800" dirty="0"/>
              <a:t>患者</a:t>
            </a:r>
          </a:p>
        </p:txBody>
      </p:sp>
      <p:cxnSp>
        <p:nvCxnSpPr>
          <p:cNvPr id="178" name="カギ線コネクタ 177"/>
          <p:cNvCxnSpPr>
            <a:stCxn id="124" idx="3"/>
            <a:endCxn id="208" idx="1"/>
          </p:cNvCxnSpPr>
          <p:nvPr/>
        </p:nvCxnSpPr>
        <p:spPr>
          <a:xfrm flipV="1">
            <a:off x="5088579" y="4489415"/>
            <a:ext cx="498657" cy="1017096"/>
          </a:xfrm>
          <a:prstGeom prst="bentConnector2">
            <a:avLst/>
          </a:prstGeom>
          <a:ln w="34925">
            <a:solidFill>
              <a:schemeClr val="accent2">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79" name="大かっこ 178">
            <a:extLst>
              <a:ext uri="{FF2B5EF4-FFF2-40B4-BE49-F238E27FC236}">
                <a16:creationId xmlns:a16="http://schemas.microsoft.com/office/drawing/2014/main" id="{A172B404-C9E9-4381-A82F-EEC3753FFA8F}"/>
              </a:ext>
            </a:extLst>
          </p:cNvPr>
          <p:cNvSpPr/>
          <p:nvPr/>
        </p:nvSpPr>
        <p:spPr>
          <a:xfrm>
            <a:off x="5077975" y="3414922"/>
            <a:ext cx="984384" cy="789209"/>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患者入力フォーム（</a:t>
            </a:r>
            <a:r>
              <a:rPr lang="en-US" altLang="ja-JP" sz="800" dirty="0"/>
              <a:t>Questionnaire</a:t>
            </a:r>
            <a:r>
              <a:rPr lang="ja-JP" altLang="en-US" sz="800" dirty="0"/>
              <a:t>）を取り込み、</a:t>
            </a:r>
            <a:r>
              <a:rPr lang="en-US" altLang="ja-JP" sz="800" dirty="0"/>
              <a:t>OAT</a:t>
            </a:r>
            <a:r>
              <a:rPr lang="ja-JP" altLang="en-US" sz="800" dirty="0"/>
              <a:t>ユニットとひもづいた入力画面を生成する。</a:t>
            </a:r>
          </a:p>
        </p:txBody>
      </p:sp>
      <p:sp>
        <p:nvSpPr>
          <p:cNvPr id="181" name="四角形: 角を丸くする 166">
            <a:extLst>
              <a:ext uri="{FF2B5EF4-FFF2-40B4-BE49-F238E27FC236}">
                <a16:creationId xmlns:a16="http://schemas.microsoft.com/office/drawing/2014/main" id="{1DFC338B-5EED-4588-ABBA-F3A59B5663F4}"/>
              </a:ext>
            </a:extLst>
          </p:cNvPr>
          <p:cNvSpPr/>
          <p:nvPr/>
        </p:nvSpPr>
        <p:spPr>
          <a:xfrm>
            <a:off x="9422480" y="4530637"/>
            <a:ext cx="1027750" cy="298752"/>
          </a:xfrm>
          <a:prstGeom prst="roundRect">
            <a:avLst/>
          </a:prstGeom>
          <a:gradFill>
            <a:gsLst>
              <a:gs pos="0">
                <a:schemeClr val="accent6">
                  <a:lumMod val="20000"/>
                  <a:lumOff val="80000"/>
                </a:schemeClr>
              </a:gs>
              <a:gs pos="50000">
                <a:schemeClr val="accent6">
                  <a:lumMod val="20000"/>
                  <a:lumOff val="80000"/>
                </a:schemeClr>
              </a:gs>
              <a:gs pos="100000">
                <a:schemeClr val="accent6">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1000" dirty="0">
                <a:solidFill>
                  <a:schemeClr val="tx1"/>
                </a:solidFill>
              </a:rPr>
              <a:t>Observation</a:t>
            </a:r>
          </a:p>
          <a:p>
            <a:endParaRPr lang="en-US" altLang="ja-JP" sz="1000" dirty="0">
              <a:solidFill>
                <a:schemeClr val="tx1"/>
              </a:solidFill>
            </a:endParaRPr>
          </a:p>
        </p:txBody>
      </p:sp>
      <p:sp>
        <p:nvSpPr>
          <p:cNvPr id="185" name="大かっこ 184">
            <a:extLst>
              <a:ext uri="{FF2B5EF4-FFF2-40B4-BE49-F238E27FC236}">
                <a16:creationId xmlns:a16="http://schemas.microsoft.com/office/drawing/2014/main" id="{A6C0615A-B941-43E2-BC74-0EBEF4D89BE1}"/>
              </a:ext>
            </a:extLst>
          </p:cNvPr>
          <p:cNvSpPr/>
          <p:nvPr/>
        </p:nvSpPr>
        <p:spPr>
          <a:xfrm>
            <a:off x="9430310" y="3938487"/>
            <a:ext cx="990566" cy="553902"/>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フォームの回答を</a:t>
            </a:r>
            <a:r>
              <a:rPr lang="en-US" altLang="ja-JP" sz="800" dirty="0"/>
              <a:t>Observation</a:t>
            </a:r>
            <a:r>
              <a:rPr lang="ja-JP" altLang="en-US" sz="800" dirty="0"/>
              <a:t>に変換し、</a:t>
            </a:r>
            <a:r>
              <a:rPr lang="en-US" altLang="ja-JP" sz="800" dirty="0"/>
              <a:t>Bundle</a:t>
            </a:r>
            <a:r>
              <a:rPr lang="ja-JP" altLang="en-US" sz="800" dirty="0"/>
              <a:t>に追加</a:t>
            </a:r>
            <a:r>
              <a:rPr lang="en-US" altLang="ja-JP" sz="800" dirty="0"/>
              <a:t>/</a:t>
            </a:r>
            <a:r>
              <a:rPr lang="ja-JP" altLang="en-US" sz="800" dirty="0"/>
              <a:t>更新する。</a:t>
            </a:r>
          </a:p>
        </p:txBody>
      </p:sp>
      <p:grpSp>
        <p:nvGrpSpPr>
          <p:cNvPr id="186" name="グループ化 185">
            <a:extLst>
              <a:ext uri="{FF2B5EF4-FFF2-40B4-BE49-F238E27FC236}">
                <a16:creationId xmlns:a16="http://schemas.microsoft.com/office/drawing/2014/main" id="{ECB0F35D-CD0D-40C6-9657-6ED99BC6327E}"/>
              </a:ext>
            </a:extLst>
          </p:cNvPr>
          <p:cNvGrpSpPr/>
          <p:nvPr/>
        </p:nvGrpSpPr>
        <p:grpSpPr>
          <a:xfrm>
            <a:off x="9645578" y="2163878"/>
            <a:ext cx="581555" cy="448412"/>
            <a:chOff x="898525" y="5884863"/>
            <a:chExt cx="928688" cy="874712"/>
          </a:xfrm>
          <a:solidFill>
            <a:schemeClr val="accent2">
              <a:lumMod val="20000"/>
              <a:lumOff val="80000"/>
            </a:schemeClr>
          </a:solidFill>
        </p:grpSpPr>
        <p:sp>
          <p:nvSpPr>
            <p:cNvPr id="187" name="AutoShape 16">
              <a:extLst>
                <a:ext uri="{FF2B5EF4-FFF2-40B4-BE49-F238E27FC236}">
                  <a16:creationId xmlns:a16="http://schemas.microsoft.com/office/drawing/2014/main" id="{9A1FD3D4-3566-4046-A1BF-8F3B1F315F75}"/>
                </a:ext>
              </a:extLst>
            </p:cNvPr>
            <p:cNvSpPr>
              <a:spLocks noChangeAspect="1" noChangeArrowheads="1" noTextEdit="1"/>
            </p:cNvSpPr>
            <p:nvPr/>
          </p:nvSpPr>
          <p:spPr bwMode="auto">
            <a:xfrm>
              <a:off x="898525" y="5884863"/>
              <a:ext cx="928688" cy="8747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pic>
          <p:nvPicPr>
            <p:cNvPr id="188" name="Picture 18">
              <a:extLst>
                <a:ext uri="{FF2B5EF4-FFF2-40B4-BE49-F238E27FC236}">
                  <a16:creationId xmlns:a16="http://schemas.microsoft.com/office/drawing/2014/main" id="{E2F682FB-AAE4-49F9-A6B7-3B10A79160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200" y="6053138"/>
              <a:ext cx="736600" cy="628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89" name="Freeform 20">
              <a:extLst>
                <a:ext uri="{FF2B5EF4-FFF2-40B4-BE49-F238E27FC236}">
                  <a16:creationId xmlns:a16="http://schemas.microsoft.com/office/drawing/2014/main" id="{E87A7CFE-F4B7-4318-B5FE-A31E06027AD0}"/>
                </a:ext>
              </a:extLst>
            </p:cNvPr>
            <p:cNvSpPr>
              <a:spLocks noEditPoints="1"/>
            </p:cNvSpPr>
            <p:nvPr/>
          </p:nvSpPr>
          <p:spPr bwMode="auto">
            <a:xfrm>
              <a:off x="901700" y="5888039"/>
              <a:ext cx="922339" cy="868363"/>
            </a:xfrm>
            <a:custGeom>
              <a:avLst/>
              <a:gdLst>
                <a:gd name="T0" fmla="*/ 2464 w 2464"/>
                <a:gd name="T1" fmla="*/ 130 h 2320"/>
                <a:gd name="T2" fmla="*/ 1232 w 2464"/>
                <a:gd name="T3" fmla="*/ 259 h 2320"/>
                <a:gd name="T4" fmla="*/ 0 w 2464"/>
                <a:gd name="T5" fmla="*/ 130 h 2320"/>
                <a:gd name="T6" fmla="*/ 1232 w 2464"/>
                <a:gd name="T7" fmla="*/ 0 h 2320"/>
                <a:gd name="T8" fmla="*/ 2464 w 2464"/>
                <a:gd name="T9" fmla="*/ 130 h 2320"/>
                <a:gd name="T10" fmla="*/ 2464 w 2464"/>
                <a:gd name="T11" fmla="*/ 130 h 2320"/>
                <a:gd name="T12" fmla="*/ 2464 w 2464"/>
                <a:gd name="T13" fmla="*/ 2191 h 2320"/>
                <a:gd name="T14" fmla="*/ 1232 w 2464"/>
                <a:gd name="T15" fmla="*/ 2320 h 2320"/>
                <a:gd name="T16" fmla="*/ 0 w 2464"/>
                <a:gd name="T17" fmla="*/ 2191 h 2320"/>
                <a:gd name="T18" fmla="*/ 0 w 2464"/>
                <a:gd name="T19" fmla="*/ 13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64" h="2320">
                  <a:moveTo>
                    <a:pt x="2464" y="130"/>
                  </a:moveTo>
                  <a:cubicBezTo>
                    <a:pt x="2464" y="201"/>
                    <a:pt x="1913" y="259"/>
                    <a:pt x="1232" y="259"/>
                  </a:cubicBezTo>
                  <a:cubicBezTo>
                    <a:pt x="552" y="259"/>
                    <a:pt x="0" y="201"/>
                    <a:pt x="0" y="130"/>
                  </a:cubicBezTo>
                  <a:cubicBezTo>
                    <a:pt x="0" y="58"/>
                    <a:pt x="552" y="0"/>
                    <a:pt x="1232" y="0"/>
                  </a:cubicBezTo>
                  <a:cubicBezTo>
                    <a:pt x="1913" y="0"/>
                    <a:pt x="2464" y="58"/>
                    <a:pt x="2464" y="130"/>
                  </a:cubicBezTo>
                  <a:close/>
                  <a:moveTo>
                    <a:pt x="2464" y="130"/>
                  </a:moveTo>
                  <a:lnTo>
                    <a:pt x="2464" y="2191"/>
                  </a:lnTo>
                  <a:cubicBezTo>
                    <a:pt x="2464" y="2263"/>
                    <a:pt x="1913" y="2320"/>
                    <a:pt x="1232" y="2320"/>
                  </a:cubicBezTo>
                  <a:cubicBezTo>
                    <a:pt x="552" y="2320"/>
                    <a:pt x="0" y="2263"/>
                    <a:pt x="0" y="2191"/>
                  </a:cubicBezTo>
                  <a:lnTo>
                    <a:pt x="0" y="130"/>
                  </a:lnTo>
                </a:path>
              </a:pathLst>
            </a:custGeom>
            <a:grpFill/>
            <a:ln w="12700" cap="flat">
              <a:solidFill>
                <a:srgbClr val="44546A"/>
              </a:solidFill>
              <a:prstDash val="solid"/>
              <a:miter lim="800000"/>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190" name="Freeform 24">
              <a:extLst>
                <a:ext uri="{FF2B5EF4-FFF2-40B4-BE49-F238E27FC236}">
                  <a16:creationId xmlns:a16="http://schemas.microsoft.com/office/drawing/2014/main" id="{4BF3AD0D-660A-481D-BAE2-92F50F7EC649}"/>
                </a:ext>
              </a:extLst>
            </p:cNvPr>
            <p:cNvSpPr>
              <a:spLocks/>
            </p:cNvSpPr>
            <p:nvPr/>
          </p:nvSpPr>
          <p:spPr bwMode="auto">
            <a:xfrm>
              <a:off x="1395413" y="6364288"/>
              <a:ext cx="371475" cy="341312"/>
            </a:xfrm>
            <a:custGeom>
              <a:avLst/>
              <a:gdLst>
                <a:gd name="T0" fmla="*/ 0 w 234"/>
                <a:gd name="T1" fmla="*/ 0 h 215"/>
                <a:gd name="T2" fmla="*/ 234 w 234"/>
                <a:gd name="T3" fmla="*/ 0 h 215"/>
                <a:gd name="T4" fmla="*/ 234 w 234"/>
                <a:gd name="T5" fmla="*/ 179 h 215"/>
                <a:gd name="T6" fmla="*/ 198 w 234"/>
                <a:gd name="T7" fmla="*/ 215 h 215"/>
                <a:gd name="T8" fmla="*/ 0 w 234"/>
                <a:gd name="T9" fmla="*/ 215 h 215"/>
                <a:gd name="T10" fmla="*/ 0 w 234"/>
                <a:gd name="T11" fmla="*/ 0 h 215"/>
              </a:gdLst>
              <a:ahLst/>
              <a:cxnLst>
                <a:cxn ang="0">
                  <a:pos x="T0" y="T1"/>
                </a:cxn>
                <a:cxn ang="0">
                  <a:pos x="T2" y="T3"/>
                </a:cxn>
                <a:cxn ang="0">
                  <a:pos x="T4" y="T5"/>
                </a:cxn>
                <a:cxn ang="0">
                  <a:pos x="T6" y="T7"/>
                </a:cxn>
                <a:cxn ang="0">
                  <a:pos x="T8" y="T9"/>
                </a:cxn>
                <a:cxn ang="0">
                  <a:pos x="T10" y="T11"/>
                </a:cxn>
              </a:cxnLst>
              <a:rect l="0" t="0" r="r" b="b"/>
              <a:pathLst>
                <a:path w="234" h="215">
                  <a:moveTo>
                    <a:pt x="0" y="0"/>
                  </a:moveTo>
                  <a:lnTo>
                    <a:pt x="234" y="0"/>
                  </a:lnTo>
                  <a:lnTo>
                    <a:pt x="234" y="179"/>
                  </a:lnTo>
                  <a:lnTo>
                    <a:pt x="198" y="215"/>
                  </a:lnTo>
                  <a:lnTo>
                    <a:pt x="0" y="21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91" name="Freeform 25">
              <a:extLst>
                <a:ext uri="{FF2B5EF4-FFF2-40B4-BE49-F238E27FC236}">
                  <a16:creationId xmlns:a16="http://schemas.microsoft.com/office/drawing/2014/main" id="{F22C985F-F033-431F-92FB-0FF3AB0A29DA}"/>
                </a:ext>
              </a:extLst>
            </p:cNvPr>
            <p:cNvSpPr>
              <a:spLocks/>
            </p:cNvSpPr>
            <p:nvPr/>
          </p:nvSpPr>
          <p:spPr bwMode="auto">
            <a:xfrm>
              <a:off x="1709738" y="6648450"/>
              <a:ext cx="57150" cy="57150"/>
            </a:xfrm>
            <a:custGeom>
              <a:avLst/>
              <a:gdLst>
                <a:gd name="T0" fmla="*/ 0 w 36"/>
                <a:gd name="T1" fmla="*/ 36 h 36"/>
                <a:gd name="T2" fmla="*/ 8 w 36"/>
                <a:gd name="T3" fmla="*/ 8 h 36"/>
                <a:gd name="T4" fmla="*/ 36 w 36"/>
                <a:gd name="T5" fmla="*/ 0 h 36"/>
                <a:gd name="T6" fmla="*/ 0 w 36"/>
                <a:gd name="T7" fmla="*/ 36 h 36"/>
              </a:gdLst>
              <a:ahLst/>
              <a:cxnLst>
                <a:cxn ang="0">
                  <a:pos x="T0" y="T1"/>
                </a:cxn>
                <a:cxn ang="0">
                  <a:pos x="T2" y="T3"/>
                </a:cxn>
                <a:cxn ang="0">
                  <a:pos x="T4" y="T5"/>
                </a:cxn>
                <a:cxn ang="0">
                  <a:pos x="T6" y="T7"/>
                </a:cxn>
              </a:cxnLst>
              <a:rect l="0" t="0" r="r" b="b"/>
              <a:pathLst>
                <a:path w="36" h="36">
                  <a:moveTo>
                    <a:pt x="0" y="36"/>
                  </a:moveTo>
                  <a:lnTo>
                    <a:pt x="8" y="8"/>
                  </a:lnTo>
                  <a:lnTo>
                    <a:pt x="36" y="0"/>
                  </a:lnTo>
                  <a:lnTo>
                    <a:pt x="0"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92" name="Rectangle 23">
            <a:extLst>
              <a:ext uri="{FF2B5EF4-FFF2-40B4-BE49-F238E27FC236}">
                <a16:creationId xmlns:a16="http://schemas.microsoft.com/office/drawing/2014/main" id="{20F439D3-1C69-4015-9A84-7BE9A368DCA8}"/>
              </a:ext>
            </a:extLst>
          </p:cNvPr>
          <p:cNvSpPr>
            <a:spLocks noChangeArrowheads="1"/>
          </p:cNvSpPr>
          <p:nvPr/>
        </p:nvSpPr>
        <p:spPr bwMode="auto">
          <a:xfrm>
            <a:off x="9506750" y="2240475"/>
            <a:ext cx="8592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t>FHIR</a:t>
            </a:r>
          </a:p>
          <a:p>
            <a:r>
              <a:rPr kumimoji="0" lang="ja-JP" altLang="en-US" sz="900" b="1" dirty="0"/>
              <a:t>リポジトリ</a:t>
            </a:r>
            <a:r>
              <a:rPr lang="en-US" altLang="ja-JP" sz="900" b="1" dirty="0"/>
              <a:t>:PHR</a:t>
            </a:r>
            <a:endParaRPr kumimoji="0" lang="ja-JP" altLang="ja-JP" sz="900" b="1" dirty="0"/>
          </a:p>
        </p:txBody>
      </p:sp>
      <p:sp>
        <p:nvSpPr>
          <p:cNvPr id="134" name="矢印: 右 169">
            <a:extLst>
              <a:ext uri="{FF2B5EF4-FFF2-40B4-BE49-F238E27FC236}">
                <a16:creationId xmlns:a16="http://schemas.microsoft.com/office/drawing/2014/main" id="{C04D90A9-5288-4C85-8882-58E907008686}"/>
              </a:ext>
            </a:extLst>
          </p:cNvPr>
          <p:cNvSpPr/>
          <p:nvPr/>
        </p:nvSpPr>
        <p:spPr>
          <a:xfrm rot="5400000">
            <a:off x="9810493" y="1893035"/>
            <a:ext cx="260466" cy="245295"/>
          </a:xfrm>
          <a:prstGeom prst="rightArrow">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93" name="大かっこ 192">
            <a:extLst>
              <a:ext uri="{FF2B5EF4-FFF2-40B4-BE49-F238E27FC236}">
                <a16:creationId xmlns:a16="http://schemas.microsoft.com/office/drawing/2014/main" id="{A6C0615A-B941-43E2-BC74-0EBEF4D89BE1}"/>
              </a:ext>
            </a:extLst>
          </p:cNvPr>
          <p:cNvSpPr/>
          <p:nvPr/>
        </p:nvSpPr>
        <p:spPr>
          <a:xfrm>
            <a:off x="9453539" y="2643302"/>
            <a:ext cx="990566" cy="543335"/>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フォームの回答を</a:t>
            </a:r>
            <a:r>
              <a:rPr lang="en-US" altLang="ja-JP" sz="800" dirty="0"/>
              <a:t>FHIR</a:t>
            </a:r>
            <a:r>
              <a:rPr lang="ja-JP" altLang="en-US" sz="800" dirty="0"/>
              <a:t>リポジトリに登録。またはファイル連携などを行う。</a:t>
            </a:r>
          </a:p>
        </p:txBody>
      </p:sp>
      <p:sp>
        <p:nvSpPr>
          <p:cNvPr id="195" name="四角形: 対角を切り取る 134">
            <a:extLst>
              <a:ext uri="{FF2B5EF4-FFF2-40B4-BE49-F238E27FC236}">
                <a16:creationId xmlns:a16="http://schemas.microsoft.com/office/drawing/2014/main" id="{7E0D75AE-ED8A-47D2-B074-DE6720988299}"/>
              </a:ext>
            </a:extLst>
          </p:cNvPr>
          <p:cNvSpPr/>
          <p:nvPr/>
        </p:nvSpPr>
        <p:spPr>
          <a:xfrm>
            <a:off x="9490792" y="3654183"/>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連携</a:t>
            </a:r>
            <a:r>
              <a:rPr lang="en-US" altLang="ja-JP" sz="900" dirty="0"/>
              <a:t>AP/</a:t>
            </a:r>
            <a:r>
              <a:rPr lang="ja-JP" altLang="en-US" sz="900" dirty="0"/>
              <a:t>手動</a:t>
            </a:r>
          </a:p>
        </p:txBody>
      </p:sp>
      <p:sp>
        <p:nvSpPr>
          <p:cNvPr id="197" name="矢印: 右 169">
            <a:extLst>
              <a:ext uri="{FF2B5EF4-FFF2-40B4-BE49-F238E27FC236}">
                <a16:creationId xmlns:a16="http://schemas.microsoft.com/office/drawing/2014/main" id="{C04D90A9-5288-4C85-8882-58E907008686}"/>
              </a:ext>
            </a:extLst>
          </p:cNvPr>
          <p:cNvSpPr/>
          <p:nvPr/>
        </p:nvSpPr>
        <p:spPr>
          <a:xfrm rot="5400000">
            <a:off x="9698732" y="3287856"/>
            <a:ext cx="464372" cy="245295"/>
          </a:xfrm>
          <a:prstGeom prst="rightArrow">
            <a:avLst/>
          </a:prstGeom>
          <a:solidFill>
            <a:schemeClr val="bg1"/>
          </a:solid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99" name="Rectangle 23">
            <a:extLst>
              <a:ext uri="{FF2B5EF4-FFF2-40B4-BE49-F238E27FC236}">
                <a16:creationId xmlns:a16="http://schemas.microsoft.com/office/drawing/2014/main" id="{20F439D3-1C69-4015-9A84-7BE9A368DCA8}"/>
              </a:ext>
            </a:extLst>
          </p:cNvPr>
          <p:cNvSpPr>
            <a:spLocks noChangeArrowheads="1"/>
          </p:cNvSpPr>
          <p:nvPr/>
        </p:nvSpPr>
        <p:spPr bwMode="auto">
          <a:xfrm>
            <a:off x="5158683" y="5669288"/>
            <a:ext cx="8431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solidFill>
                  <a:srgbClr val="000000"/>
                </a:solidFill>
                <a:latin typeface="游ゴシック" panose="020B0400000000000000" pitchFamily="50" charset="-128"/>
                <a:ea typeface="游ゴシック" panose="020B0400000000000000" pitchFamily="50" charset="-128"/>
              </a:rPr>
              <a:t>FHIR</a:t>
            </a:r>
          </a:p>
          <a:p>
            <a:r>
              <a:rPr kumimoji="0" lang="ja-JP" altLang="ja-JP" sz="900" b="1" dirty="0">
                <a:solidFill>
                  <a:srgbClr val="000000"/>
                </a:solidFill>
                <a:latin typeface="游ゴシック" panose="020B0400000000000000" pitchFamily="50" charset="-128"/>
                <a:ea typeface="游ゴシック" panose="020B0400000000000000" pitchFamily="50" charset="-128"/>
              </a:rPr>
              <a:t>リポジトリ</a:t>
            </a:r>
            <a:r>
              <a:rPr kumimoji="0" lang="en-US" altLang="ja-JP" sz="900" b="1" dirty="0">
                <a:solidFill>
                  <a:srgbClr val="000000"/>
                </a:solidFill>
                <a:latin typeface="游ゴシック" panose="020B0400000000000000" pitchFamily="50" charset="-128"/>
                <a:ea typeface="游ゴシック" panose="020B0400000000000000" pitchFamily="50" charset="-128"/>
              </a:rPr>
              <a:t>:</a:t>
            </a:r>
            <a:r>
              <a:rPr kumimoji="0" lang="ja-JP" altLang="en-US" sz="900" b="1" dirty="0">
                <a:solidFill>
                  <a:srgbClr val="000000"/>
                </a:solidFill>
                <a:latin typeface="游ゴシック" panose="020B0400000000000000" pitchFamily="50" charset="-128"/>
                <a:ea typeface="游ゴシック" panose="020B0400000000000000" pitchFamily="50" charset="-128"/>
              </a:rPr>
              <a:t>施設</a:t>
            </a:r>
            <a:endParaRPr kumimoji="0" lang="ja-JP" altLang="ja-JP" sz="900" b="1" dirty="0"/>
          </a:p>
        </p:txBody>
      </p:sp>
      <p:sp>
        <p:nvSpPr>
          <p:cNvPr id="200" name="Rectangle 23">
            <a:extLst>
              <a:ext uri="{FF2B5EF4-FFF2-40B4-BE49-F238E27FC236}">
                <a16:creationId xmlns:a16="http://schemas.microsoft.com/office/drawing/2014/main" id="{20F439D3-1C69-4015-9A84-7BE9A368DCA8}"/>
              </a:ext>
            </a:extLst>
          </p:cNvPr>
          <p:cNvSpPr>
            <a:spLocks noChangeArrowheads="1"/>
          </p:cNvSpPr>
          <p:nvPr/>
        </p:nvSpPr>
        <p:spPr bwMode="auto">
          <a:xfrm>
            <a:off x="3135042" y="5631747"/>
            <a:ext cx="8431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en-US" altLang="ja-JP" sz="900" b="1" dirty="0">
                <a:solidFill>
                  <a:srgbClr val="000000"/>
                </a:solidFill>
                <a:latin typeface="游ゴシック" panose="020B0400000000000000" pitchFamily="50" charset="-128"/>
                <a:ea typeface="游ゴシック" panose="020B0400000000000000" pitchFamily="50" charset="-128"/>
              </a:rPr>
              <a:t>FHIR</a:t>
            </a:r>
          </a:p>
          <a:p>
            <a:r>
              <a:rPr kumimoji="0" lang="ja-JP" altLang="ja-JP" sz="900" b="1" dirty="0">
                <a:solidFill>
                  <a:srgbClr val="000000"/>
                </a:solidFill>
                <a:latin typeface="游ゴシック" panose="020B0400000000000000" pitchFamily="50" charset="-128"/>
                <a:ea typeface="游ゴシック" panose="020B0400000000000000" pitchFamily="50" charset="-128"/>
              </a:rPr>
              <a:t>リポジトリ</a:t>
            </a:r>
            <a:r>
              <a:rPr kumimoji="0" lang="en-US" altLang="ja-JP" sz="900" b="1" dirty="0">
                <a:solidFill>
                  <a:srgbClr val="000000"/>
                </a:solidFill>
                <a:latin typeface="游ゴシック" panose="020B0400000000000000" pitchFamily="50" charset="-128"/>
                <a:ea typeface="游ゴシック" panose="020B0400000000000000" pitchFamily="50" charset="-128"/>
              </a:rPr>
              <a:t>:</a:t>
            </a:r>
            <a:r>
              <a:rPr lang="ja-JP" altLang="en-US" sz="900" b="1" dirty="0">
                <a:solidFill>
                  <a:srgbClr val="000000"/>
                </a:solidFill>
                <a:latin typeface="游ゴシック" panose="020B0400000000000000" pitchFamily="50" charset="-128"/>
                <a:ea typeface="游ゴシック" panose="020B0400000000000000" pitchFamily="50" charset="-128"/>
              </a:rPr>
              <a:t>公開</a:t>
            </a:r>
            <a:endParaRPr kumimoji="0" lang="ja-JP" altLang="ja-JP" sz="900" b="1" dirty="0"/>
          </a:p>
        </p:txBody>
      </p:sp>
      <p:sp>
        <p:nvSpPr>
          <p:cNvPr id="201" name="四角形: 角を丸くする 163">
            <a:extLst>
              <a:ext uri="{FF2B5EF4-FFF2-40B4-BE49-F238E27FC236}">
                <a16:creationId xmlns:a16="http://schemas.microsoft.com/office/drawing/2014/main" id="{8FFBE91B-0A4A-4915-AB09-8347EA66FCC7}"/>
              </a:ext>
            </a:extLst>
          </p:cNvPr>
          <p:cNvSpPr/>
          <p:nvPr/>
        </p:nvSpPr>
        <p:spPr>
          <a:xfrm>
            <a:off x="2090067" y="5695685"/>
            <a:ext cx="981527" cy="304303"/>
          </a:xfrm>
          <a:prstGeom prst="roundRect">
            <a:avLst/>
          </a:prstGeom>
          <a:gradFill>
            <a:gsLst>
              <a:gs pos="50000">
                <a:schemeClr val="accent5">
                  <a:lumMod val="20000"/>
                  <a:lumOff val="80000"/>
                </a:schemeClr>
              </a:gs>
              <a:gs pos="100000">
                <a:schemeClr val="accent5">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PlanDefinition</a:t>
            </a:r>
            <a:endParaRPr lang="ja-JP" altLang="en-US" sz="900" dirty="0">
              <a:solidFill>
                <a:schemeClr val="tx1"/>
              </a:solidFill>
            </a:endParaRPr>
          </a:p>
        </p:txBody>
      </p:sp>
      <p:sp>
        <p:nvSpPr>
          <p:cNvPr id="202" name="四角形: 角を丸くする 163">
            <a:extLst>
              <a:ext uri="{FF2B5EF4-FFF2-40B4-BE49-F238E27FC236}">
                <a16:creationId xmlns:a16="http://schemas.microsoft.com/office/drawing/2014/main" id="{8FFBE91B-0A4A-4915-AB09-8347EA66FCC7}"/>
              </a:ext>
            </a:extLst>
          </p:cNvPr>
          <p:cNvSpPr/>
          <p:nvPr/>
        </p:nvSpPr>
        <p:spPr>
          <a:xfrm>
            <a:off x="2094908" y="5372751"/>
            <a:ext cx="966073" cy="304303"/>
          </a:xfrm>
          <a:prstGeom prst="roundRect">
            <a:avLst/>
          </a:prstGeom>
          <a:gradFill>
            <a:gsLst>
              <a:gs pos="50000">
                <a:schemeClr val="accent5">
                  <a:lumMod val="20000"/>
                  <a:lumOff val="80000"/>
                </a:schemeClr>
              </a:gs>
              <a:gs pos="100000">
                <a:schemeClr val="accent5">
                  <a:lumMod val="60000"/>
                  <a:lumOff val="40000"/>
                </a:schemeClr>
              </a:gs>
            </a:gsLst>
          </a:gradFill>
          <a:ln w="12700">
            <a:solidFill>
              <a:schemeClr val="tx1"/>
            </a:solidFill>
          </a:ln>
        </p:spPr>
        <p:style>
          <a:lnRef idx="1">
            <a:schemeClr val="accent4"/>
          </a:lnRef>
          <a:fillRef idx="2">
            <a:schemeClr val="accent4"/>
          </a:fillRef>
          <a:effectRef idx="1">
            <a:schemeClr val="accent4"/>
          </a:effectRef>
          <a:fontRef idx="minor">
            <a:schemeClr val="dk1"/>
          </a:fontRef>
        </p:style>
        <p:txBody>
          <a:bodyPr lIns="36000" tIns="0" rtlCol="0" anchor="t" anchorCtr="0"/>
          <a:lstStyle/>
          <a:p>
            <a:r>
              <a:rPr lang="en-US" altLang="ja-JP" sz="900" dirty="0">
                <a:solidFill>
                  <a:schemeClr val="tx1"/>
                </a:solidFill>
              </a:rPr>
              <a:t>Questionnaire</a:t>
            </a:r>
            <a:endParaRPr lang="ja-JP" altLang="en-US" sz="900" dirty="0">
              <a:solidFill>
                <a:schemeClr val="tx1"/>
              </a:solidFill>
            </a:endParaRPr>
          </a:p>
        </p:txBody>
      </p:sp>
      <p:sp>
        <p:nvSpPr>
          <p:cNvPr id="203" name="四角形: 上の 2 つの角を切り取る 276">
            <a:extLst>
              <a:ext uri="{FF2B5EF4-FFF2-40B4-BE49-F238E27FC236}">
                <a16:creationId xmlns:a16="http://schemas.microsoft.com/office/drawing/2014/main" id="{DD3DE717-0918-452E-90E7-B00E804C3F74}"/>
              </a:ext>
            </a:extLst>
          </p:cNvPr>
          <p:cNvSpPr/>
          <p:nvPr/>
        </p:nvSpPr>
        <p:spPr>
          <a:xfrm>
            <a:off x="3062065" y="3075536"/>
            <a:ext cx="974224" cy="224182"/>
          </a:xfrm>
          <a:prstGeom prst="snip2SameRect">
            <a:avLst>
              <a:gd name="adj1" fmla="val 31499"/>
              <a:gd name="adj2" fmla="val 33372"/>
            </a:avLst>
          </a:prstGeom>
          <a:solidFill>
            <a:schemeClr val="accent2">
              <a:lumMod val="20000"/>
              <a:lumOff val="80000"/>
            </a:schemeClr>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en-US" altLang="ja-JP" sz="1000" dirty="0"/>
              <a:t>PHR</a:t>
            </a:r>
            <a:endParaRPr lang="ja-JP" altLang="en-US" sz="1000" dirty="0"/>
          </a:p>
        </p:txBody>
      </p:sp>
      <p:sp>
        <p:nvSpPr>
          <p:cNvPr id="204" name="正方形/長方形 203">
            <a:extLst>
              <a:ext uri="{FF2B5EF4-FFF2-40B4-BE49-F238E27FC236}">
                <a16:creationId xmlns:a16="http://schemas.microsoft.com/office/drawing/2014/main" id="{FB4D85AE-189E-490A-8AE8-BCF46C820239}"/>
              </a:ext>
            </a:extLst>
          </p:cNvPr>
          <p:cNvSpPr/>
          <p:nvPr/>
        </p:nvSpPr>
        <p:spPr>
          <a:xfrm>
            <a:off x="3067446" y="2731542"/>
            <a:ext cx="969114" cy="292530"/>
          </a:xfrm>
          <a:prstGeom prst="rect">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800" dirty="0"/>
              <a:t>ベンダー </a:t>
            </a:r>
            <a:r>
              <a:rPr lang="en-US" altLang="ja-JP" sz="800" dirty="0"/>
              <a:t>or </a:t>
            </a:r>
            <a:r>
              <a:rPr lang="ja-JP" altLang="en-US" sz="800" dirty="0"/>
              <a:t>患者</a:t>
            </a:r>
          </a:p>
        </p:txBody>
      </p:sp>
      <p:cxnSp>
        <p:nvCxnSpPr>
          <p:cNvPr id="205" name="カギ線コネクタ 204"/>
          <p:cNvCxnSpPr>
            <a:stCxn id="202" idx="3"/>
            <a:endCxn id="207" idx="1"/>
          </p:cNvCxnSpPr>
          <p:nvPr/>
        </p:nvCxnSpPr>
        <p:spPr>
          <a:xfrm flipV="1">
            <a:off x="3060981" y="4504597"/>
            <a:ext cx="475819" cy="1015542"/>
          </a:xfrm>
          <a:prstGeom prst="bentConnector2">
            <a:avLst/>
          </a:prstGeom>
          <a:ln w="34925">
            <a:solidFill>
              <a:schemeClr val="accent2">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06" name="大かっこ 205">
            <a:extLst>
              <a:ext uri="{FF2B5EF4-FFF2-40B4-BE49-F238E27FC236}">
                <a16:creationId xmlns:a16="http://schemas.microsoft.com/office/drawing/2014/main" id="{A172B404-C9E9-4381-A82F-EEC3753FFA8F}"/>
              </a:ext>
            </a:extLst>
          </p:cNvPr>
          <p:cNvSpPr/>
          <p:nvPr/>
        </p:nvSpPr>
        <p:spPr>
          <a:xfrm>
            <a:off x="3044449" y="3411251"/>
            <a:ext cx="991397" cy="789209"/>
          </a:xfrm>
          <a:prstGeom prst="bracketPair">
            <a:avLst>
              <a:gd name="adj" fmla="val 9492"/>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患者入力フォーム（</a:t>
            </a:r>
            <a:r>
              <a:rPr lang="en-US" altLang="ja-JP" sz="800" dirty="0"/>
              <a:t>Questionnaire</a:t>
            </a:r>
            <a:r>
              <a:rPr lang="ja-JP" altLang="en-US" sz="800" dirty="0"/>
              <a:t>）を取り込み、</a:t>
            </a:r>
            <a:r>
              <a:rPr lang="en-US" altLang="ja-JP" sz="800" dirty="0"/>
              <a:t>OAT</a:t>
            </a:r>
            <a:r>
              <a:rPr lang="ja-JP" altLang="en-US" sz="800" dirty="0"/>
              <a:t>ユニットとひもづいた入力画面を生成する。</a:t>
            </a:r>
          </a:p>
        </p:txBody>
      </p:sp>
      <p:sp>
        <p:nvSpPr>
          <p:cNvPr id="207" name="四角形: 対角を切り取る 134">
            <a:extLst>
              <a:ext uri="{FF2B5EF4-FFF2-40B4-BE49-F238E27FC236}">
                <a16:creationId xmlns:a16="http://schemas.microsoft.com/office/drawing/2014/main" id="{7E0D75AE-ED8A-47D2-B074-DE6720988299}"/>
              </a:ext>
            </a:extLst>
          </p:cNvPr>
          <p:cNvSpPr/>
          <p:nvPr/>
        </p:nvSpPr>
        <p:spPr>
          <a:xfrm>
            <a:off x="3101998" y="4280415"/>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取得</a:t>
            </a:r>
          </a:p>
        </p:txBody>
      </p:sp>
      <p:sp>
        <p:nvSpPr>
          <p:cNvPr id="208" name="四角形: 対角を切り取る 134">
            <a:extLst>
              <a:ext uri="{FF2B5EF4-FFF2-40B4-BE49-F238E27FC236}">
                <a16:creationId xmlns:a16="http://schemas.microsoft.com/office/drawing/2014/main" id="{7E0D75AE-ED8A-47D2-B074-DE6720988299}"/>
              </a:ext>
            </a:extLst>
          </p:cNvPr>
          <p:cNvSpPr/>
          <p:nvPr/>
        </p:nvSpPr>
        <p:spPr>
          <a:xfrm>
            <a:off x="5152434" y="4265233"/>
            <a:ext cx="869602" cy="224182"/>
          </a:xfrm>
          <a:prstGeom prst="snip2DiagRect">
            <a:avLst>
              <a:gd name="adj1" fmla="val 50000"/>
              <a:gd name="adj2" fmla="val 16667"/>
            </a:avLst>
          </a:prstGeom>
          <a:solidFill>
            <a:schemeClr val="bg1"/>
          </a:solidFill>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lIns="36000" tIns="36000" rIns="36000" bIns="36000" rtlCol="0" anchor="ctr" anchorCtr="0"/>
          <a:lstStyle/>
          <a:p>
            <a:pPr algn="ctr"/>
            <a:r>
              <a:rPr lang="ja-JP" altLang="en-US" sz="900" dirty="0"/>
              <a:t>取得</a:t>
            </a:r>
          </a:p>
        </p:txBody>
      </p:sp>
      <p:sp>
        <p:nvSpPr>
          <p:cNvPr id="209" name="大かっこ 208">
            <a:extLst>
              <a:ext uri="{FF2B5EF4-FFF2-40B4-BE49-F238E27FC236}">
                <a16:creationId xmlns:a16="http://schemas.microsoft.com/office/drawing/2014/main" id="{A172B404-C9E9-4381-A82F-EEC3753FFA8F}"/>
              </a:ext>
            </a:extLst>
          </p:cNvPr>
          <p:cNvSpPr/>
          <p:nvPr/>
        </p:nvSpPr>
        <p:spPr>
          <a:xfrm>
            <a:off x="4094108" y="5507060"/>
            <a:ext cx="992534" cy="25417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latin typeface="+mn-ea"/>
              </a:rPr>
              <a:t>患者用</a:t>
            </a:r>
            <a:r>
              <a:rPr lang="en-US" altLang="ja-JP" sz="800" dirty="0">
                <a:latin typeface="+mn-ea"/>
              </a:rPr>
              <a:t>OAT</a:t>
            </a:r>
            <a:r>
              <a:rPr lang="ja-JP" altLang="en-US" sz="800" dirty="0">
                <a:latin typeface="+mn-ea"/>
              </a:rPr>
              <a:t>ユニット</a:t>
            </a:r>
          </a:p>
        </p:txBody>
      </p:sp>
      <p:sp>
        <p:nvSpPr>
          <p:cNvPr id="210" name="大かっこ 209">
            <a:extLst>
              <a:ext uri="{FF2B5EF4-FFF2-40B4-BE49-F238E27FC236}">
                <a16:creationId xmlns:a16="http://schemas.microsoft.com/office/drawing/2014/main" id="{A172B404-C9E9-4381-A82F-EEC3753FFA8F}"/>
              </a:ext>
            </a:extLst>
          </p:cNvPr>
          <p:cNvSpPr/>
          <p:nvPr/>
        </p:nvSpPr>
        <p:spPr>
          <a:xfrm>
            <a:off x="2074912" y="5531576"/>
            <a:ext cx="992534" cy="25417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患者用</a:t>
            </a:r>
            <a:r>
              <a:rPr lang="en-US" altLang="ja-JP" sz="800" dirty="0"/>
              <a:t>OAT</a:t>
            </a:r>
            <a:r>
              <a:rPr lang="ja-JP" altLang="en-US" sz="800" dirty="0"/>
              <a:t>ユニット</a:t>
            </a:r>
          </a:p>
        </p:txBody>
      </p:sp>
      <p:sp>
        <p:nvSpPr>
          <p:cNvPr id="211" name="大かっこ 210">
            <a:extLst>
              <a:ext uri="{FF2B5EF4-FFF2-40B4-BE49-F238E27FC236}">
                <a16:creationId xmlns:a16="http://schemas.microsoft.com/office/drawing/2014/main" id="{A172B404-C9E9-4381-A82F-EEC3753FFA8F}"/>
              </a:ext>
            </a:extLst>
          </p:cNvPr>
          <p:cNvSpPr/>
          <p:nvPr/>
        </p:nvSpPr>
        <p:spPr>
          <a:xfrm>
            <a:off x="8372759" y="5484530"/>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適用後パスデータ</a:t>
            </a:r>
          </a:p>
        </p:txBody>
      </p:sp>
      <p:sp>
        <p:nvSpPr>
          <p:cNvPr id="212" name="大かっこ 211">
            <a:extLst>
              <a:ext uri="{FF2B5EF4-FFF2-40B4-BE49-F238E27FC236}">
                <a16:creationId xmlns:a16="http://schemas.microsoft.com/office/drawing/2014/main" id="{A172B404-C9E9-4381-A82F-EEC3753FFA8F}"/>
              </a:ext>
            </a:extLst>
          </p:cNvPr>
          <p:cNvSpPr/>
          <p:nvPr/>
        </p:nvSpPr>
        <p:spPr>
          <a:xfrm>
            <a:off x="8369853" y="5793913"/>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en-US" altLang="ja-JP" sz="800" dirty="0"/>
              <a:t>Bundle</a:t>
            </a:r>
            <a:r>
              <a:rPr lang="ja-JP" altLang="en-US" sz="800" dirty="0"/>
              <a:t>をｸﾞﾙｰﾋﾟﾝｸﾞ</a:t>
            </a:r>
          </a:p>
        </p:txBody>
      </p:sp>
      <p:sp>
        <p:nvSpPr>
          <p:cNvPr id="214" name="大かっこ 213">
            <a:extLst>
              <a:ext uri="{FF2B5EF4-FFF2-40B4-BE49-F238E27FC236}">
                <a16:creationId xmlns:a16="http://schemas.microsoft.com/office/drawing/2014/main" id="{A172B404-C9E9-4381-A82F-EEC3753FFA8F}"/>
              </a:ext>
            </a:extLst>
          </p:cNvPr>
          <p:cNvSpPr/>
          <p:nvPr/>
        </p:nvSpPr>
        <p:spPr>
          <a:xfrm>
            <a:off x="9438890" y="4685685"/>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観察結果</a:t>
            </a:r>
          </a:p>
        </p:txBody>
      </p:sp>
      <p:sp>
        <p:nvSpPr>
          <p:cNvPr id="215" name="大かっこ 214">
            <a:extLst>
              <a:ext uri="{FF2B5EF4-FFF2-40B4-BE49-F238E27FC236}">
                <a16:creationId xmlns:a16="http://schemas.microsoft.com/office/drawing/2014/main" id="{A172B404-C9E9-4381-A82F-EEC3753FFA8F}"/>
              </a:ext>
            </a:extLst>
          </p:cNvPr>
          <p:cNvSpPr/>
          <p:nvPr/>
        </p:nvSpPr>
        <p:spPr>
          <a:xfrm>
            <a:off x="10030474" y="1682178"/>
            <a:ext cx="440898" cy="145739"/>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回答</a:t>
            </a:r>
          </a:p>
        </p:txBody>
      </p:sp>
      <p:sp>
        <p:nvSpPr>
          <p:cNvPr id="216" name="大かっこ 215">
            <a:extLst>
              <a:ext uri="{FF2B5EF4-FFF2-40B4-BE49-F238E27FC236}">
                <a16:creationId xmlns:a16="http://schemas.microsoft.com/office/drawing/2014/main" id="{A172B404-C9E9-4381-A82F-EEC3753FFA8F}"/>
              </a:ext>
            </a:extLst>
          </p:cNvPr>
          <p:cNvSpPr/>
          <p:nvPr/>
        </p:nvSpPr>
        <p:spPr>
          <a:xfrm>
            <a:off x="2091985" y="5861540"/>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ひな型パス</a:t>
            </a:r>
          </a:p>
        </p:txBody>
      </p:sp>
      <p:sp>
        <p:nvSpPr>
          <p:cNvPr id="217" name="大かっこ 216">
            <a:extLst>
              <a:ext uri="{FF2B5EF4-FFF2-40B4-BE49-F238E27FC236}">
                <a16:creationId xmlns:a16="http://schemas.microsoft.com/office/drawing/2014/main" id="{A172B404-C9E9-4381-A82F-EEC3753FFA8F}"/>
              </a:ext>
            </a:extLst>
          </p:cNvPr>
          <p:cNvSpPr/>
          <p:nvPr/>
        </p:nvSpPr>
        <p:spPr>
          <a:xfrm>
            <a:off x="4123119" y="5842007"/>
            <a:ext cx="992534" cy="174133"/>
          </a:xfrm>
          <a:prstGeom prst="bracketPair">
            <a:avLst>
              <a:gd name="adj" fmla="val 9492"/>
            </a:avLst>
          </a:prstGeom>
          <a:noFill/>
          <a:ln>
            <a:noFill/>
            <a:tailEnd type="none"/>
          </a:ln>
        </p:spPr>
        <p:style>
          <a:lnRef idx="1">
            <a:schemeClr val="accent1"/>
          </a:lnRef>
          <a:fillRef idx="0">
            <a:schemeClr val="accent1"/>
          </a:fillRef>
          <a:effectRef idx="0">
            <a:schemeClr val="accent1"/>
          </a:effectRef>
          <a:fontRef idx="minor">
            <a:schemeClr val="tx1"/>
          </a:fontRef>
        </p:style>
        <p:txBody>
          <a:bodyPr lIns="36000" tIns="0" rIns="0" bIns="0" rtlCol="0" anchor="t" anchorCtr="0"/>
          <a:lstStyle/>
          <a:p>
            <a:r>
              <a:rPr lang="ja-JP" altLang="en-US" sz="800" dirty="0"/>
              <a:t>施設パス</a:t>
            </a:r>
          </a:p>
        </p:txBody>
      </p:sp>
    </p:spTree>
    <p:extLst>
      <p:ext uri="{BB962C8B-B14F-4D97-AF65-F5344CB8AC3E}">
        <p14:creationId xmlns:p14="http://schemas.microsoft.com/office/powerpoint/2010/main" val="130077735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3323</TotalTime>
  <Words>3215</Words>
  <Application>Microsoft Office PowerPoint</Application>
  <PresentationFormat>ワイド画面</PresentationFormat>
  <Paragraphs>991</Paragraphs>
  <Slides>13</Slides>
  <Notes>7</Notes>
  <HiddenSlides>6</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13</vt:i4>
      </vt:variant>
    </vt:vector>
  </HeadingPairs>
  <TitlesOfParts>
    <vt:vector size="23" baseType="lpstr">
      <vt:lpstr>ＭＳ Ｐゴシック</vt:lpstr>
      <vt:lpstr>ＭＳ ゴシック</vt:lpstr>
      <vt:lpstr>ＭＳ 明朝</vt:lpstr>
      <vt:lpstr>メイリオ</vt:lpstr>
      <vt:lpstr>游ゴシック</vt:lpstr>
      <vt:lpstr>游ゴシック Light</vt:lpstr>
      <vt:lpstr>Arial</vt:lpstr>
      <vt:lpstr>Calibri</vt:lpstr>
      <vt:lpstr>Times New Roman</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診療行為の基本単位　OAT Unit</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 </dc:creator>
  <cp:lastModifiedBy>setupSJ19133</cp:lastModifiedBy>
  <cp:revision>179</cp:revision>
  <dcterms:created xsi:type="dcterms:W3CDTF">2025-01-21T02:11:07Z</dcterms:created>
  <dcterms:modified xsi:type="dcterms:W3CDTF">2025-11-21T09:17:15Z</dcterms:modified>
</cp:coreProperties>
</file>
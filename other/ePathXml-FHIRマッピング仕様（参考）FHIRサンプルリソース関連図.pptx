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0" r:id="rId2"/>
    <p:sldId id="290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61" autoAdjust="0"/>
    <p:restoredTop sz="96458" autoAdjust="0"/>
  </p:normalViewPr>
  <p:slideViewPr>
    <p:cSldViewPr snapToGrid="0">
      <p:cViewPr varScale="1">
        <p:scale>
          <a:sx n="96" d="100"/>
          <a:sy n="96" d="100"/>
        </p:scale>
        <p:origin x="46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7DAE5-AECC-428E-95EC-397494C54CD5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A5C6E-3AF1-4563-A754-14F960521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76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7356-962E-4C30-8340-F57C5D9EA7D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953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06EED1-4552-CDDB-F731-D25885B3D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D24F54-FCD9-91A8-86E6-AC082CF8B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BB9050-F5FC-4175-2860-20F54FD3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9A83A3-84A3-1014-CE4E-2B20098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DF3F16-D7F9-26CF-AE6E-C7C3B603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992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591AF2-B4C5-B5FE-882B-314A34F4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C8803E-310E-776F-30E0-96EC6B1D4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21F6C8-7492-90BA-EF26-1CB38342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00FDFA-6629-E7C4-A90F-B05DA889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6A574A-1463-F6EE-D97D-E073AC7E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18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F42D6-9B85-0A06-CB8C-47B5AF14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BCD5BD-D3EF-6FEB-8999-A2C7503E8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F738AA-3845-F5C4-ACB1-A76FEFF0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765B05-6003-A2CB-62F1-B51E21C3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81B4BC-54CC-8E43-1FEB-0D488CC8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272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B494D1-D2E5-659F-96C1-312FBA4D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368EC4-F547-823E-BB4E-50FE25285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AE4E2F-7371-CC9C-4F61-C748777D2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A70695-D5A5-3CA8-5FF2-65D47137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2E990F-6179-CDA7-F648-95867053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51C564-3692-2633-62C2-F52CFA0B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74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FCE29C-170A-7787-B59E-80B3D912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4814B0-3EF4-E440-F6B0-21B9A9C25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D1062D-7026-2923-4BB5-6FCE7644A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E368657-8D32-A283-4B3B-38D1504E3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32D094-A603-2261-7F2C-B0C34FA2B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9F727D-5781-94F9-00ED-DB900BCA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2E3428-D3B6-7BD5-DD94-B7A521ED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408474D-92A9-3BA7-984F-960D8359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483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78827-2FDA-059F-D644-3D582728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02DEEC5-5CAB-607C-FE07-3FB7B720A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2587B3-5C0B-372F-D2EA-EDCA1C9B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E3B978-58C9-C990-73B1-C7B58763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06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9B8060E-DE18-A354-7B77-6B7B70E4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4D4F82-36CC-4D1B-BB9F-4CBBDCC2D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7D7531-BDBB-A51A-5112-7206DBFD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36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75D610-BBD3-311F-E9E7-1C2529E6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9927A5-4F24-A98A-E83F-97638A0C0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F0A5EC-7108-8A36-18C8-B855E7480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76073B-A4AF-455A-E916-2AAEEA0F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A047D7-24A9-0BE1-C072-AE9442A8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7251AD-7DFB-C954-1048-0769B827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429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A6AB8-0DBD-239C-3C0D-CEF851D0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D7477D-51FC-5491-8314-27BA18FF9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F1B56F-A204-0FD9-A582-10C1A5AFF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344CB9-8101-6B31-C2C7-1B1C7CBDB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84D7DE-DEAF-1E69-D08E-6470AB6A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A6BF3-2A1E-813D-CC4A-0BAD1976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67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F03D6B-3ACC-90CD-B457-05194641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0A2E89-5803-A663-8561-88E241EA0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A2AB15-D027-0433-81AA-2F35C1EF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F3421E-E748-4548-CE9E-915C4470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876468-E203-EC72-6010-E1E70C74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6131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04CAA1B-2E7E-2D02-C5D4-B580AE06F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C134BF-BE12-FB4A-C6E4-89D685B9A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8A9415-D850-9CF2-E564-A878A0E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A6A888-9B03-E478-C52D-BD8EBBE6F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E78D3F-DBAD-85DA-C67A-FF838A52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917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527F51-C077-93CA-1ED7-110A82AC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32E9EE-554C-13AC-95BE-865D48EB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27F7FB-3771-10F3-5D21-288D3D047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3A6BD-C535-4F64-AE7B-6BC68FC2D6E7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03204D-AA56-5334-5170-FA491CC50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906AA1-9AAF-0CE4-28CA-CDCF38ABB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732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F7EFFFEF-5A2C-896C-A11F-7B7E9FE4A3F1}"/>
              </a:ext>
            </a:extLst>
          </p:cNvPr>
          <p:cNvSpPr/>
          <p:nvPr/>
        </p:nvSpPr>
        <p:spPr>
          <a:xfrm>
            <a:off x="2308128" y="691472"/>
            <a:ext cx="9231464" cy="59701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kumimoji="1" lang="ja-JP" altLang="en-US" sz="360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C5B0FB0B-C678-9FE4-5F16-35B7DF604F76}"/>
              </a:ext>
            </a:extLst>
          </p:cNvPr>
          <p:cNvCxnSpPr>
            <a:cxnSpLocks/>
          </p:cNvCxnSpPr>
          <p:nvPr/>
        </p:nvCxnSpPr>
        <p:spPr>
          <a:xfrm>
            <a:off x="5337625" y="1687274"/>
            <a:ext cx="279435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A0F59A-D54A-3285-5C75-666B2C137800}"/>
              </a:ext>
            </a:extLst>
          </p:cNvPr>
          <p:cNvSpPr txBox="1"/>
          <p:nvPr/>
        </p:nvSpPr>
        <p:spPr>
          <a:xfrm>
            <a:off x="4913082" y="878519"/>
            <a:ext cx="1066964" cy="48369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kumimoji="1" lang="en-US" altLang="ja-JP" sz="1600" dirty="0"/>
              <a:t>Patient</a:t>
            </a:r>
            <a:br>
              <a:rPr kumimoji="1" lang="en-US" altLang="ja-JP" sz="1600" dirty="0"/>
            </a:br>
            <a:r>
              <a:rPr kumimoji="1" lang="en-US" altLang="ja-JP" sz="1600" dirty="0"/>
              <a:t>(</a:t>
            </a:r>
            <a:r>
              <a:rPr kumimoji="1" lang="ja-JP" altLang="en-US" sz="1600" dirty="0"/>
              <a:t>患者情報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C44F72A-0C28-8E63-AB9A-B5508DEC0575}"/>
              </a:ext>
            </a:extLst>
          </p:cNvPr>
          <p:cNvSpPr txBox="1"/>
          <p:nvPr/>
        </p:nvSpPr>
        <p:spPr>
          <a:xfrm>
            <a:off x="3217400" y="882838"/>
            <a:ext cx="1498576" cy="48369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Organization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医療機関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91918E0-E0CD-E134-2C68-6C7549DF9F8E}"/>
              </a:ext>
            </a:extLst>
          </p:cNvPr>
          <p:cNvSpPr txBox="1"/>
          <p:nvPr/>
        </p:nvSpPr>
        <p:spPr>
          <a:xfrm>
            <a:off x="3217400" y="1523702"/>
            <a:ext cx="2124076" cy="59900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 err="1"/>
              <a:t>CarePlan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パス適用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F35612-40E8-C50F-76C0-04C2B89FD69F}"/>
              </a:ext>
            </a:extLst>
          </p:cNvPr>
          <p:cNvSpPr txBox="1"/>
          <p:nvPr/>
        </p:nvSpPr>
        <p:spPr>
          <a:xfrm>
            <a:off x="8131982" y="1602922"/>
            <a:ext cx="2394859" cy="55417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</a:rPr>
              <a:t>Goal</a:t>
            </a:r>
            <a:br>
              <a:rPr lang="en-US" altLang="ja-JP" sz="1600" dirty="0">
                <a:solidFill>
                  <a:schemeClr val="bg1"/>
                </a:solidFill>
              </a:rPr>
            </a:br>
            <a:r>
              <a:rPr lang="en-US" altLang="ja-JP" sz="1600" dirty="0">
                <a:solidFill>
                  <a:schemeClr val="bg1"/>
                </a:solidFill>
              </a:rPr>
              <a:t>(</a:t>
            </a:r>
            <a:r>
              <a:rPr lang="ja-JP" altLang="en-US" sz="1600" dirty="0">
                <a:solidFill>
                  <a:schemeClr val="bg1"/>
                </a:solidFill>
              </a:rPr>
              <a:t>パス適用</a:t>
            </a:r>
            <a:r>
              <a:rPr lang="en-US" altLang="ja-JP" sz="1600" dirty="0">
                <a:solidFill>
                  <a:schemeClr val="bg1"/>
                </a:solidFill>
              </a:rPr>
              <a:t>)</a:t>
            </a:r>
            <a:endParaRPr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BBE6F2-0363-C984-7313-8311809E3E86}"/>
              </a:ext>
            </a:extLst>
          </p:cNvPr>
          <p:cNvSpPr txBox="1"/>
          <p:nvPr/>
        </p:nvSpPr>
        <p:spPr>
          <a:xfrm>
            <a:off x="4350877" y="2266665"/>
            <a:ext cx="1790700" cy="58442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 err="1"/>
              <a:t>CarePlan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病日・イベント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A66169D-81BB-6D3B-4A1F-C9416EC32E60}"/>
              </a:ext>
            </a:extLst>
          </p:cNvPr>
          <p:cNvSpPr txBox="1"/>
          <p:nvPr/>
        </p:nvSpPr>
        <p:spPr>
          <a:xfrm>
            <a:off x="5285198" y="3026074"/>
            <a:ext cx="1789228" cy="7301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 err="1"/>
              <a:t>CarePlan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アウトカム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BA674B1-1B3A-C378-CDED-26FABE003502}"/>
              </a:ext>
            </a:extLst>
          </p:cNvPr>
          <p:cNvSpPr txBox="1"/>
          <p:nvPr/>
        </p:nvSpPr>
        <p:spPr>
          <a:xfrm>
            <a:off x="6017101" y="3910346"/>
            <a:ext cx="1789227" cy="8529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 err="1"/>
              <a:t>CarePlan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アセスメント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4E2887-6D25-D3C3-A1DB-F32886E6CA07}"/>
              </a:ext>
            </a:extLst>
          </p:cNvPr>
          <p:cNvSpPr txBox="1"/>
          <p:nvPr/>
        </p:nvSpPr>
        <p:spPr>
          <a:xfrm>
            <a:off x="6141577" y="878519"/>
            <a:ext cx="1176519" cy="48369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Encounter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入院情報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789B9A7-F30D-89DC-561B-04A5C757E27B}"/>
              </a:ext>
            </a:extLst>
          </p:cNvPr>
          <p:cNvSpPr txBox="1"/>
          <p:nvPr/>
        </p:nvSpPr>
        <p:spPr>
          <a:xfrm>
            <a:off x="7409526" y="893223"/>
            <a:ext cx="1224804" cy="48369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Condition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病名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A02BC36-95EA-0825-1002-1F9816A8325F}"/>
              </a:ext>
            </a:extLst>
          </p:cNvPr>
          <p:cNvSpPr txBox="1"/>
          <p:nvPr/>
        </p:nvSpPr>
        <p:spPr>
          <a:xfrm>
            <a:off x="8740509" y="893185"/>
            <a:ext cx="1390623" cy="48369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Procedure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主要イベント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B50E83-4655-CABE-2C99-EDF54E97ECA0}"/>
              </a:ext>
            </a:extLst>
          </p:cNvPr>
          <p:cNvSpPr txBox="1"/>
          <p:nvPr/>
        </p:nvSpPr>
        <p:spPr>
          <a:xfrm>
            <a:off x="8131982" y="4111210"/>
            <a:ext cx="2366942" cy="20604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Goal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アセスメント評価</a:t>
            </a:r>
            <a:r>
              <a:rPr lang="en-US" altLang="ja-JP" sz="1600" dirty="0"/>
              <a:t>)</a:t>
            </a:r>
          </a:p>
          <a:p>
            <a:pPr algn="ctr"/>
            <a:endParaRPr lang="en-US" altLang="ja-JP" sz="1600" dirty="0"/>
          </a:p>
          <a:p>
            <a:pPr algn="ctr"/>
            <a:endParaRPr lang="en-US" altLang="ja-JP" sz="1600" dirty="0"/>
          </a:p>
          <a:p>
            <a:pPr algn="ctr"/>
            <a:endParaRPr lang="en-US" altLang="ja-JP" sz="1600" dirty="0"/>
          </a:p>
          <a:p>
            <a:pPr algn="ctr"/>
            <a:endParaRPr lang="ja-JP" altLang="en-US" sz="16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D32F25-1E82-7EC0-7109-B1E1AA02960D}"/>
              </a:ext>
            </a:extLst>
          </p:cNvPr>
          <p:cNvSpPr txBox="1"/>
          <p:nvPr/>
        </p:nvSpPr>
        <p:spPr>
          <a:xfrm>
            <a:off x="6011756" y="4905984"/>
            <a:ext cx="1794572" cy="47704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Procedure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タスク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8671A1A-4E19-8EA2-4BB3-780872D8FB9F}"/>
              </a:ext>
            </a:extLst>
          </p:cNvPr>
          <p:cNvSpPr txBox="1"/>
          <p:nvPr/>
        </p:nvSpPr>
        <p:spPr>
          <a:xfrm>
            <a:off x="8297452" y="5647751"/>
            <a:ext cx="1983585" cy="4761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Observation 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観察結果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9699290-5B32-B33E-7F20-B0C974FF48F0}"/>
              </a:ext>
            </a:extLst>
          </p:cNvPr>
          <p:cNvSpPr txBox="1"/>
          <p:nvPr/>
        </p:nvSpPr>
        <p:spPr>
          <a:xfrm>
            <a:off x="8297452" y="5038290"/>
            <a:ext cx="1983585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r>
              <a:rPr kumimoji="1" lang="en-US" altLang="ja-JP" sz="1100" dirty="0">
                <a:solidFill>
                  <a:schemeClr val="bg1"/>
                </a:solidFill>
              </a:rPr>
              <a:t>contained</a:t>
            </a:r>
            <a:r>
              <a:rPr kumimoji="1" lang="ja-JP" altLang="en-US" sz="1100" dirty="0">
                <a:solidFill>
                  <a:schemeClr val="bg1"/>
                </a:solidFill>
              </a:rPr>
              <a:t>  </a:t>
            </a:r>
            <a:r>
              <a:rPr kumimoji="1" lang="en-US" altLang="ja-JP" sz="1100" dirty="0">
                <a:solidFill>
                  <a:schemeClr val="bg1"/>
                </a:solidFill>
              </a:rPr>
              <a:t>(</a:t>
            </a:r>
            <a:r>
              <a:rPr kumimoji="1" lang="ja-JP" altLang="en-US" sz="1100" dirty="0">
                <a:solidFill>
                  <a:schemeClr val="bg1"/>
                </a:solidFill>
              </a:rPr>
              <a:t>リソースを内包</a:t>
            </a:r>
            <a:r>
              <a:rPr kumimoji="1" lang="en-US" altLang="ja-JP" sz="1100" dirty="0">
                <a:solidFill>
                  <a:schemeClr val="bg1"/>
                </a:solidFill>
              </a:rPr>
              <a:t>)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E9513158-9309-CD18-6574-28FD0B8106F7}"/>
              </a:ext>
            </a:extLst>
          </p:cNvPr>
          <p:cNvCxnSpPr>
            <a:cxnSpLocks/>
          </p:cNvCxnSpPr>
          <p:nvPr/>
        </p:nvCxnSpPr>
        <p:spPr>
          <a:xfrm rot="10800000">
            <a:off x="3746035" y="2122046"/>
            <a:ext cx="598821" cy="300354"/>
          </a:xfrm>
          <a:prstGeom prst="bentConnector3">
            <a:avLst>
              <a:gd name="adj1" fmla="val 89835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E53FF47-5A32-8D1E-5E58-8ADE7C0BA83B}"/>
              </a:ext>
            </a:extLst>
          </p:cNvPr>
          <p:cNvCxnSpPr>
            <a:cxnSpLocks/>
          </p:cNvCxnSpPr>
          <p:nvPr/>
        </p:nvCxnSpPr>
        <p:spPr>
          <a:xfrm>
            <a:off x="6116748" y="2384370"/>
            <a:ext cx="1960598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5387261F-5A03-90BD-2B0B-E04A599B17EF}"/>
              </a:ext>
            </a:extLst>
          </p:cNvPr>
          <p:cNvCxnSpPr>
            <a:cxnSpLocks/>
          </p:cNvCxnSpPr>
          <p:nvPr/>
        </p:nvCxnSpPr>
        <p:spPr>
          <a:xfrm>
            <a:off x="7074426" y="3197982"/>
            <a:ext cx="1057556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075D2CE-C05E-C19D-925D-287F9A74C919}"/>
              </a:ext>
            </a:extLst>
          </p:cNvPr>
          <p:cNvSpPr txBox="1"/>
          <p:nvPr/>
        </p:nvSpPr>
        <p:spPr>
          <a:xfrm>
            <a:off x="8131984" y="2266665"/>
            <a:ext cx="2394858" cy="68053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Goal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病日・イベント 総合評価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546FAD-C3B1-60E7-136D-497FCD56F91A}"/>
              </a:ext>
            </a:extLst>
          </p:cNvPr>
          <p:cNvSpPr txBox="1"/>
          <p:nvPr/>
        </p:nvSpPr>
        <p:spPr>
          <a:xfrm>
            <a:off x="8131982" y="3131309"/>
            <a:ext cx="2394859" cy="63441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Goal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アウトカム評価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AE3653B2-5099-8C72-D063-0D29A9F2395C}"/>
              </a:ext>
            </a:extLst>
          </p:cNvPr>
          <p:cNvCxnSpPr>
            <a:cxnSpLocks/>
          </p:cNvCxnSpPr>
          <p:nvPr/>
        </p:nvCxnSpPr>
        <p:spPr>
          <a:xfrm>
            <a:off x="7819028" y="4171028"/>
            <a:ext cx="312954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BFA9030F-0568-804A-DA36-FF70DB206137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7806328" y="4431710"/>
            <a:ext cx="12700" cy="712799"/>
          </a:xfrm>
          <a:prstGeom prst="bentConnector4">
            <a:avLst>
              <a:gd name="adj1" fmla="val 1017394"/>
              <a:gd name="adj2" fmla="val 97966"/>
            </a:avLst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9A3366CF-4993-6A49-9B3B-12B063865DC1}"/>
              </a:ext>
            </a:extLst>
          </p:cNvPr>
          <p:cNvCxnSpPr>
            <a:cxnSpLocks/>
          </p:cNvCxnSpPr>
          <p:nvPr/>
        </p:nvCxnSpPr>
        <p:spPr>
          <a:xfrm rot="10800000">
            <a:off x="4640656" y="2862041"/>
            <a:ext cx="433541" cy="269268"/>
          </a:xfrm>
          <a:prstGeom prst="bentConnector3">
            <a:avLst>
              <a:gd name="adj1" fmla="val 101193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4D727401-6CFC-43C1-4707-69B7075B3C4D}"/>
              </a:ext>
            </a:extLst>
          </p:cNvPr>
          <p:cNvCxnSpPr>
            <a:cxnSpLocks/>
          </p:cNvCxnSpPr>
          <p:nvPr/>
        </p:nvCxnSpPr>
        <p:spPr>
          <a:xfrm rot="10800000">
            <a:off x="5497458" y="3756273"/>
            <a:ext cx="349048" cy="278357"/>
          </a:xfrm>
          <a:prstGeom prst="bentConnector3">
            <a:avLst>
              <a:gd name="adj1" fmla="val 103411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0447AF95-0318-3072-CFBC-1D87914C58C8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3746038" y="1366535"/>
            <a:ext cx="220650" cy="157168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F79F36F1-C700-BC8E-F961-264F3337C25D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4279438" y="1362216"/>
            <a:ext cx="1167126" cy="161486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BFFEC5AC-CC01-3C08-5FC7-E69A06FC497E}"/>
              </a:ext>
            </a:extLst>
          </p:cNvPr>
          <p:cNvCxnSpPr>
            <a:cxnSpLocks/>
          </p:cNvCxnSpPr>
          <p:nvPr/>
        </p:nvCxnSpPr>
        <p:spPr>
          <a:xfrm flipV="1">
            <a:off x="4588337" y="1368994"/>
            <a:ext cx="1792729" cy="157253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522E937A-F802-7503-DA99-89923876F4B0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5337625" y="1376920"/>
            <a:ext cx="2684303" cy="122968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56810395-A162-9B76-AE5D-3F77BE6D927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5389101" y="1376882"/>
            <a:ext cx="4046720" cy="200443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70EDEE26-9EDC-4AFC-E73F-ABA23843EA2B}"/>
              </a:ext>
            </a:extLst>
          </p:cNvPr>
          <p:cNvSpPr txBox="1"/>
          <p:nvPr/>
        </p:nvSpPr>
        <p:spPr>
          <a:xfrm>
            <a:off x="2507207" y="201515"/>
            <a:ext cx="2477662" cy="4897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Bundle</a:t>
            </a:r>
            <a:br>
              <a:rPr lang="en-US" altLang="ja-JP" sz="1600" dirty="0"/>
            </a:br>
            <a:r>
              <a:rPr lang="ja-JP" altLang="en-US" sz="1600" dirty="0"/>
              <a:t>（適用後パスデータ）</a:t>
            </a:r>
          </a:p>
        </p:txBody>
      </p: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C8975DC2-0C95-3750-0C25-AD39439393B5}"/>
              </a:ext>
            </a:extLst>
          </p:cNvPr>
          <p:cNvCxnSpPr>
            <a:cxnSpLocks/>
          </p:cNvCxnSpPr>
          <p:nvPr/>
        </p:nvCxnSpPr>
        <p:spPr>
          <a:xfrm rot="10800000">
            <a:off x="3573339" y="2133653"/>
            <a:ext cx="1705839" cy="997657"/>
          </a:xfrm>
          <a:prstGeom prst="bentConnector3">
            <a:avLst>
              <a:gd name="adj1" fmla="val 96612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82305690-0D2D-3B65-171E-FFB605D86077}"/>
              </a:ext>
            </a:extLst>
          </p:cNvPr>
          <p:cNvCxnSpPr>
            <a:cxnSpLocks/>
          </p:cNvCxnSpPr>
          <p:nvPr/>
        </p:nvCxnSpPr>
        <p:spPr>
          <a:xfrm rot="10800000">
            <a:off x="4407442" y="2851093"/>
            <a:ext cx="1439064" cy="1183536"/>
          </a:xfrm>
          <a:prstGeom prst="bentConnector3">
            <a:avLst>
              <a:gd name="adj1" fmla="val 96268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8934AA53-DD8F-67C4-F09F-5E9581C14AD3}"/>
              </a:ext>
            </a:extLst>
          </p:cNvPr>
          <p:cNvCxnSpPr>
            <a:cxnSpLocks/>
          </p:cNvCxnSpPr>
          <p:nvPr/>
        </p:nvCxnSpPr>
        <p:spPr>
          <a:xfrm rot="10800000">
            <a:off x="3387612" y="2122706"/>
            <a:ext cx="2624145" cy="1911925"/>
          </a:xfrm>
          <a:prstGeom prst="bentConnector3">
            <a:avLst>
              <a:gd name="adj1" fmla="val 96057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28671A1A-4E19-8EA2-4BB3-780872D8FB9F}"/>
              </a:ext>
            </a:extLst>
          </p:cNvPr>
          <p:cNvSpPr txBox="1"/>
          <p:nvPr/>
        </p:nvSpPr>
        <p:spPr>
          <a:xfrm>
            <a:off x="8297452" y="5220197"/>
            <a:ext cx="1983585" cy="427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Observation (</a:t>
            </a:r>
            <a:r>
              <a:rPr lang="ja-JP" altLang="en-US" sz="1600" dirty="0"/>
              <a:t>評価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28671A1A-4E19-8EA2-4BB3-780872D8FB9F}"/>
              </a:ext>
            </a:extLst>
          </p:cNvPr>
          <p:cNvSpPr txBox="1"/>
          <p:nvPr/>
        </p:nvSpPr>
        <p:spPr>
          <a:xfrm>
            <a:off x="8371029" y="3706015"/>
            <a:ext cx="2348113" cy="3574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Observation (</a:t>
            </a:r>
            <a:r>
              <a:rPr lang="ja-JP" altLang="en-US" sz="1600" dirty="0"/>
              <a:t>評価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cxnSp>
        <p:nvCxnSpPr>
          <p:cNvPr id="96" name="コネクタ: カギ線 22">
            <a:extLst>
              <a:ext uri="{FF2B5EF4-FFF2-40B4-BE49-F238E27FC236}">
                <a16:creationId xmlns:a16="http://schemas.microsoft.com/office/drawing/2014/main" id="{2B532430-719B-268D-4F3C-295EBDC2D6C5}"/>
              </a:ext>
            </a:extLst>
          </p:cNvPr>
          <p:cNvCxnSpPr>
            <a:cxnSpLocks/>
            <a:stCxn id="15" idx="3"/>
            <a:endCxn id="88" idx="3"/>
          </p:cNvCxnSpPr>
          <p:nvPr/>
        </p:nvCxnSpPr>
        <p:spPr>
          <a:xfrm>
            <a:off x="10526841" y="3448518"/>
            <a:ext cx="192301" cy="436210"/>
          </a:xfrm>
          <a:prstGeom prst="bentConnector3">
            <a:avLst>
              <a:gd name="adj1" fmla="val 218876"/>
            </a:avLst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28671A1A-4E19-8EA2-4BB3-780872D8FB9F}"/>
              </a:ext>
            </a:extLst>
          </p:cNvPr>
          <p:cNvSpPr txBox="1"/>
          <p:nvPr/>
        </p:nvSpPr>
        <p:spPr>
          <a:xfrm>
            <a:off x="8371029" y="2699581"/>
            <a:ext cx="2348113" cy="3571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Observation (</a:t>
            </a:r>
            <a:r>
              <a:rPr lang="ja-JP" altLang="en-US" sz="1600" dirty="0"/>
              <a:t>総合評価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cxnSp>
        <p:nvCxnSpPr>
          <p:cNvPr id="103" name="コネクタ: カギ線 22">
            <a:extLst>
              <a:ext uri="{FF2B5EF4-FFF2-40B4-BE49-F238E27FC236}">
                <a16:creationId xmlns:a16="http://schemas.microsoft.com/office/drawing/2014/main" id="{2B532430-719B-268D-4F3C-295EBDC2D6C5}"/>
              </a:ext>
            </a:extLst>
          </p:cNvPr>
          <p:cNvCxnSpPr>
            <a:cxnSpLocks/>
            <a:endCxn id="100" idx="3"/>
          </p:cNvCxnSpPr>
          <p:nvPr/>
        </p:nvCxnSpPr>
        <p:spPr>
          <a:xfrm rot="16200000" flipH="1">
            <a:off x="10345906" y="2504941"/>
            <a:ext cx="554170" cy="192301"/>
          </a:xfrm>
          <a:prstGeom prst="bentConnector4">
            <a:avLst>
              <a:gd name="adj1" fmla="val 18103"/>
              <a:gd name="adj2" fmla="val 218876"/>
            </a:avLst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AE42D1E1-5A68-1B05-8CB2-AC68D8DA73A7}"/>
              </a:ext>
            </a:extLst>
          </p:cNvPr>
          <p:cNvSpPr txBox="1"/>
          <p:nvPr/>
        </p:nvSpPr>
        <p:spPr>
          <a:xfrm>
            <a:off x="2761603" y="4396691"/>
            <a:ext cx="1855454" cy="7088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 err="1"/>
              <a:t>PlanDefinition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ひな型パス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cxnSp>
        <p:nvCxnSpPr>
          <p:cNvPr id="109" name="コネクタ: カギ線 49">
            <a:extLst>
              <a:ext uri="{FF2B5EF4-FFF2-40B4-BE49-F238E27FC236}">
                <a16:creationId xmlns:a16="http://schemas.microsoft.com/office/drawing/2014/main" id="{8934AA53-DD8F-67C4-F09F-5E9581C14AD3}"/>
              </a:ext>
            </a:extLst>
          </p:cNvPr>
          <p:cNvCxnSpPr>
            <a:cxnSpLocks/>
            <a:stCxn id="108" idx="1"/>
            <a:endCxn id="6" idx="1"/>
          </p:cNvCxnSpPr>
          <p:nvPr/>
        </p:nvCxnSpPr>
        <p:spPr>
          <a:xfrm rot="10800000" flipH="1">
            <a:off x="2761602" y="1823204"/>
            <a:ext cx="455797" cy="2927910"/>
          </a:xfrm>
          <a:prstGeom prst="bentConnector3">
            <a:avLst>
              <a:gd name="adj1" fmla="val -50154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AE42D1E1-5A68-1B05-8CB2-AC68D8DA73A7}"/>
              </a:ext>
            </a:extLst>
          </p:cNvPr>
          <p:cNvSpPr txBox="1"/>
          <p:nvPr/>
        </p:nvSpPr>
        <p:spPr>
          <a:xfrm>
            <a:off x="2761603" y="5296493"/>
            <a:ext cx="1855454" cy="7088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 err="1"/>
              <a:t>PlanDefinition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施設パス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cxnSp>
        <p:nvCxnSpPr>
          <p:cNvPr id="115" name="コネクタ: カギ線 49">
            <a:extLst>
              <a:ext uri="{FF2B5EF4-FFF2-40B4-BE49-F238E27FC236}">
                <a16:creationId xmlns:a16="http://schemas.microsoft.com/office/drawing/2014/main" id="{8934AA53-DD8F-67C4-F09F-5E9581C14AD3}"/>
              </a:ext>
            </a:extLst>
          </p:cNvPr>
          <p:cNvCxnSpPr>
            <a:cxnSpLocks/>
            <a:stCxn id="114" idx="1"/>
            <a:endCxn id="6" idx="1"/>
          </p:cNvCxnSpPr>
          <p:nvPr/>
        </p:nvCxnSpPr>
        <p:spPr>
          <a:xfrm rot="10800000" flipH="1">
            <a:off x="2761602" y="1823204"/>
            <a:ext cx="455797" cy="3827712"/>
          </a:xfrm>
          <a:prstGeom prst="bentConnector3">
            <a:avLst>
              <a:gd name="adj1" fmla="val -50154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テキスト ボックス 289">
            <a:extLst>
              <a:ext uri="{FF2B5EF4-FFF2-40B4-BE49-F238E27FC236}">
                <a16:creationId xmlns:a16="http://schemas.microsoft.com/office/drawing/2014/main" id="{C99C37D0-683A-5635-8917-F8D484DF3921}"/>
              </a:ext>
            </a:extLst>
          </p:cNvPr>
          <p:cNvSpPr txBox="1"/>
          <p:nvPr/>
        </p:nvSpPr>
        <p:spPr>
          <a:xfrm>
            <a:off x="5011791" y="5775375"/>
            <a:ext cx="1912069" cy="6789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altLang="ja-JP" sz="1600" dirty="0"/>
              <a:t>Questionnaire</a:t>
            </a:r>
            <a:br>
              <a:rPr lang="en-US" altLang="ja-JP" sz="1600" dirty="0"/>
            </a:br>
            <a:r>
              <a:rPr lang="en-US" altLang="ja-JP" sz="1600" dirty="0"/>
              <a:t>(</a:t>
            </a:r>
            <a:r>
              <a:rPr lang="ja-JP" altLang="en-US" sz="1600" dirty="0"/>
              <a:t>患者入力フォーム</a:t>
            </a:r>
            <a:r>
              <a:rPr lang="en-US" altLang="ja-JP" sz="1600" dirty="0"/>
              <a:t>)</a:t>
            </a:r>
            <a:endParaRPr lang="ja-JP" altLang="en-US" sz="1600" dirty="0"/>
          </a:p>
        </p:txBody>
      </p:sp>
      <p:cxnSp>
        <p:nvCxnSpPr>
          <p:cNvPr id="291" name="コネクタ: カギ線 49">
            <a:extLst>
              <a:ext uri="{FF2B5EF4-FFF2-40B4-BE49-F238E27FC236}">
                <a16:creationId xmlns:a16="http://schemas.microsoft.com/office/drawing/2014/main" id="{3388ABB2-B2CF-9B01-6F3A-1D61505F4C0B}"/>
              </a:ext>
            </a:extLst>
          </p:cNvPr>
          <p:cNvCxnSpPr>
            <a:cxnSpLocks/>
            <a:stCxn id="290" idx="1"/>
            <a:endCxn id="114" idx="3"/>
          </p:cNvCxnSpPr>
          <p:nvPr/>
        </p:nvCxnSpPr>
        <p:spPr>
          <a:xfrm rot="10800000">
            <a:off x="4617057" y="5650916"/>
            <a:ext cx="394734" cy="46392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DC48E4-8BC3-262E-E75A-127B50D172D9}"/>
              </a:ext>
            </a:extLst>
          </p:cNvPr>
          <p:cNvSpPr txBox="1"/>
          <p:nvPr/>
        </p:nvSpPr>
        <p:spPr>
          <a:xfrm>
            <a:off x="81878" y="4171028"/>
            <a:ext cx="217017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参考）ある事例での糖尿病外来パス</a:t>
            </a:r>
            <a:r>
              <a:rPr kumimoji="1" lang="en-US" altLang="ja-JP" sz="1400" dirty="0" err="1"/>
              <a:t>ePathXml</a:t>
            </a:r>
            <a:r>
              <a:rPr lang="ja-JP" altLang="en-US" sz="1400" dirty="0"/>
              <a:t>サンプル（</a:t>
            </a:r>
            <a:r>
              <a:rPr lang="en-US" altLang="ja-JP" sz="1400" dirty="0"/>
              <a:t>25</a:t>
            </a:r>
            <a:r>
              <a:rPr lang="ja-JP" altLang="en-US" sz="1400" dirty="0"/>
              <a:t>日✕５ステップ）を一括で表現する</a:t>
            </a:r>
            <a:r>
              <a:rPr lang="en-US" altLang="ja-JP" sz="1400" dirty="0"/>
              <a:t>FHIR</a:t>
            </a:r>
            <a:r>
              <a:rPr lang="ja-JP" altLang="en-US" sz="1400" dirty="0"/>
              <a:t>記述にした場合、</a:t>
            </a:r>
            <a:r>
              <a:rPr kumimoji="1" lang="ja-JP" altLang="en-US" sz="1400" dirty="0"/>
              <a:t>バンドルのエントリリソース数は</a:t>
            </a:r>
            <a:r>
              <a:rPr kumimoji="1" lang="en-US" altLang="ja-JP" sz="1400" dirty="0"/>
              <a:t>1340</a:t>
            </a:r>
            <a:r>
              <a:rPr kumimoji="1" lang="ja-JP" altLang="en-US" sz="1400" dirty="0"/>
              <a:t>以上になる。</a:t>
            </a:r>
            <a:endParaRPr kumimoji="1" lang="en-US" altLang="ja-JP" sz="1400" dirty="0"/>
          </a:p>
          <a:p>
            <a:r>
              <a:rPr lang="en-US" altLang="ja-JP" sz="1400" dirty="0"/>
              <a:t>※</a:t>
            </a:r>
            <a:r>
              <a:rPr lang="ja-JP" altLang="en-US" sz="1400" dirty="0"/>
              <a:t>右のリソースがそれぞれ</a:t>
            </a:r>
            <a:r>
              <a:rPr lang="en-US" altLang="ja-JP" sz="1400" dirty="0"/>
              <a:t>1340</a:t>
            </a:r>
            <a:r>
              <a:rPr lang="ja-JP" altLang="en-US" sz="1400" dirty="0"/>
              <a:t>以上も連なって記述される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32090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四角形: 角を丸くする 338">
            <a:extLst>
              <a:ext uri="{FF2B5EF4-FFF2-40B4-BE49-F238E27FC236}">
                <a16:creationId xmlns:a16="http://schemas.microsoft.com/office/drawing/2014/main" id="{DB4E67BA-A7D5-C3D0-6FB8-F8EA988CCB78}"/>
              </a:ext>
            </a:extLst>
          </p:cNvPr>
          <p:cNvSpPr/>
          <p:nvPr/>
        </p:nvSpPr>
        <p:spPr>
          <a:xfrm>
            <a:off x="6984134" y="314049"/>
            <a:ext cx="2171443" cy="6401726"/>
          </a:xfrm>
          <a:prstGeom prst="roundRect">
            <a:avLst>
              <a:gd name="adj" fmla="val 1020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4" name="直線コネクタ 293">
            <a:extLst>
              <a:ext uri="{FF2B5EF4-FFF2-40B4-BE49-F238E27FC236}">
                <a16:creationId xmlns:a16="http://schemas.microsoft.com/office/drawing/2014/main" id="{F3CF6EA8-3C5B-4CA3-837D-AEC6ADCA7B9C}"/>
              </a:ext>
            </a:extLst>
          </p:cNvPr>
          <p:cNvCxnSpPr>
            <a:cxnSpLocks/>
            <a:endCxn id="321" idx="0"/>
          </p:cNvCxnSpPr>
          <p:nvPr/>
        </p:nvCxnSpPr>
        <p:spPr>
          <a:xfrm flipH="1">
            <a:off x="9124785" y="2408294"/>
            <a:ext cx="3425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直線コネクタ 430">
            <a:extLst>
              <a:ext uri="{FF2B5EF4-FFF2-40B4-BE49-F238E27FC236}">
                <a16:creationId xmlns:a16="http://schemas.microsoft.com/office/drawing/2014/main" id="{7C7A2DD8-3C9A-3C8E-C6AC-624338E3521C}"/>
              </a:ext>
            </a:extLst>
          </p:cNvPr>
          <p:cNvCxnSpPr>
            <a:cxnSpLocks/>
            <a:stCxn id="428" idx="2"/>
            <a:endCxn id="432" idx="2"/>
          </p:cNvCxnSpPr>
          <p:nvPr/>
        </p:nvCxnSpPr>
        <p:spPr>
          <a:xfrm flipV="1">
            <a:off x="11376278" y="3330450"/>
            <a:ext cx="24294" cy="394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コネクタ 272">
            <a:extLst>
              <a:ext uri="{FF2B5EF4-FFF2-40B4-BE49-F238E27FC236}">
                <a16:creationId xmlns:a16="http://schemas.microsoft.com/office/drawing/2014/main" id="{630B29DD-CFCC-A40A-ADD1-D755B7A98EDF}"/>
              </a:ext>
            </a:extLst>
          </p:cNvPr>
          <p:cNvCxnSpPr>
            <a:cxnSpLocks/>
          </p:cNvCxnSpPr>
          <p:nvPr/>
        </p:nvCxnSpPr>
        <p:spPr>
          <a:xfrm flipH="1">
            <a:off x="1705382" y="1154771"/>
            <a:ext cx="626260" cy="1258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0A04AE92-48DA-E485-681C-86F5A6F7A24A}"/>
              </a:ext>
            </a:extLst>
          </p:cNvPr>
          <p:cNvSpPr/>
          <p:nvPr/>
        </p:nvSpPr>
        <p:spPr>
          <a:xfrm>
            <a:off x="9371785" y="2134718"/>
            <a:ext cx="1152862" cy="946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29" name="直線コネクタ 228">
            <a:extLst>
              <a:ext uri="{FF2B5EF4-FFF2-40B4-BE49-F238E27FC236}">
                <a16:creationId xmlns:a16="http://schemas.microsoft.com/office/drawing/2014/main" id="{8A62F05F-D990-1F5F-8903-0D764EA615C9}"/>
              </a:ext>
            </a:extLst>
          </p:cNvPr>
          <p:cNvCxnSpPr>
            <a:cxnSpLocks/>
            <a:stCxn id="322" idx="2"/>
            <a:endCxn id="306" idx="0"/>
          </p:cNvCxnSpPr>
          <p:nvPr/>
        </p:nvCxnSpPr>
        <p:spPr>
          <a:xfrm>
            <a:off x="8036070" y="1342726"/>
            <a:ext cx="18262" cy="3567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コネクタ 229">
            <a:extLst>
              <a:ext uri="{FF2B5EF4-FFF2-40B4-BE49-F238E27FC236}">
                <a16:creationId xmlns:a16="http://schemas.microsoft.com/office/drawing/2014/main" id="{133C37CB-CC6D-79FB-45D4-7F9B08274FBC}"/>
              </a:ext>
            </a:extLst>
          </p:cNvPr>
          <p:cNvCxnSpPr>
            <a:cxnSpLocks/>
          </p:cNvCxnSpPr>
          <p:nvPr/>
        </p:nvCxnSpPr>
        <p:spPr>
          <a:xfrm flipH="1">
            <a:off x="1694411" y="1260673"/>
            <a:ext cx="646559" cy="2382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コネクタ 230">
            <a:extLst>
              <a:ext uri="{FF2B5EF4-FFF2-40B4-BE49-F238E27FC236}">
                <a16:creationId xmlns:a16="http://schemas.microsoft.com/office/drawing/2014/main" id="{F34548D3-63D7-5166-D5D8-0292E1BAC050}"/>
              </a:ext>
            </a:extLst>
          </p:cNvPr>
          <p:cNvCxnSpPr>
            <a:cxnSpLocks/>
            <a:stCxn id="274" idx="2"/>
            <a:endCxn id="271" idx="1"/>
          </p:cNvCxnSpPr>
          <p:nvPr/>
        </p:nvCxnSpPr>
        <p:spPr>
          <a:xfrm flipV="1">
            <a:off x="3739100" y="1273904"/>
            <a:ext cx="341443" cy="3544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線コネクタ 231">
            <a:extLst>
              <a:ext uri="{FF2B5EF4-FFF2-40B4-BE49-F238E27FC236}">
                <a16:creationId xmlns:a16="http://schemas.microsoft.com/office/drawing/2014/main" id="{6CFBDEE3-9091-7A9B-CFBD-8633B84E7CE0}"/>
              </a:ext>
            </a:extLst>
          </p:cNvPr>
          <p:cNvCxnSpPr>
            <a:cxnSpLocks/>
          </p:cNvCxnSpPr>
          <p:nvPr/>
        </p:nvCxnSpPr>
        <p:spPr>
          <a:xfrm flipV="1">
            <a:off x="1509938" y="695590"/>
            <a:ext cx="831032" cy="93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線コネクタ 232">
            <a:extLst>
              <a:ext uri="{FF2B5EF4-FFF2-40B4-BE49-F238E27FC236}">
                <a16:creationId xmlns:a16="http://schemas.microsoft.com/office/drawing/2014/main" id="{2C762386-1E56-071F-FD2F-C0B5D6F09811}"/>
              </a:ext>
            </a:extLst>
          </p:cNvPr>
          <p:cNvCxnSpPr>
            <a:cxnSpLocks/>
          </p:cNvCxnSpPr>
          <p:nvPr/>
        </p:nvCxnSpPr>
        <p:spPr>
          <a:xfrm>
            <a:off x="2932164" y="1539656"/>
            <a:ext cx="0" cy="152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線コネクタ 233">
            <a:extLst>
              <a:ext uri="{FF2B5EF4-FFF2-40B4-BE49-F238E27FC236}">
                <a16:creationId xmlns:a16="http://schemas.microsoft.com/office/drawing/2014/main" id="{01E284AB-679F-38A0-F919-F2742739D03F}"/>
              </a:ext>
            </a:extLst>
          </p:cNvPr>
          <p:cNvCxnSpPr>
            <a:cxnSpLocks/>
            <a:stCxn id="268" idx="2"/>
            <a:endCxn id="261" idx="2"/>
          </p:cNvCxnSpPr>
          <p:nvPr/>
        </p:nvCxnSpPr>
        <p:spPr>
          <a:xfrm flipH="1">
            <a:off x="2941652" y="2457156"/>
            <a:ext cx="10889" cy="464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2C67B0B-4370-F5E4-AC80-72CE1D16C36B}"/>
              </a:ext>
            </a:extLst>
          </p:cNvPr>
          <p:cNvSpPr/>
          <p:nvPr/>
        </p:nvSpPr>
        <p:spPr>
          <a:xfrm>
            <a:off x="2320788" y="1721048"/>
            <a:ext cx="1312014" cy="5712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36" name="テキスト ボックス 235">
            <a:extLst>
              <a:ext uri="{FF2B5EF4-FFF2-40B4-BE49-F238E27FC236}">
                <a16:creationId xmlns:a16="http://schemas.microsoft.com/office/drawing/2014/main" id="{7F775ADF-DF1B-7E2F-D72F-50281CFDD0A8}"/>
              </a:ext>
            </a:extLst>
          </p:cNvPr>
          <p:cNvSpPr txBox="1"/>
          <p:nvPr/>
        </p:nvSpPr>
        <p:spPr>
          <a:xfrm>
            <a:off x="2352283" y="1678621"/>
            <a:ext cx="1340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パス適用情報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4F34F687-7FB6-9626-3AD9-EC58CDCF0C0F}"/>
              </a:ext>
            </a:extLst>
          </p:cNvPr>
          <p:cNvSpPr/>
          <p:nvPr/>
        </p:nvSpPr>
        <p:spPr>
          <a:xfrm>
            <a:off x="2340970" y="424099"/>
            <a:ext cx="1263438" cy="9180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38" name="直線コネクタ 237">
            <a:extLst>
              <a:ext uri="{FF2B5EF4-FFF2-40B4-BE49-F238E27FC236}">
                <a16:creationId xmlns:a16="http://schemas.microsoft.com/office/drawing/2014/main" id="{F233E8EE-25B3-519E-E350-05FFF536089B}"/>
              </a:ext>
            </a:extLst>
          </p:cNvPr>
          <p:cNvCxnSpPr>
            <a:cxnSpLocks/>
          </p:cNvCxnSpPr>
          <p:nvPr/>
        </p:nvCxnSpPr>
        <p:spPr>
          <a:xfrm>
            <a:off x="2352283" y="573313"/>
            <a:ext cx="1252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99C0F03B-47B5-E2F4-459D-286F8E129DC9}"/>
              </a:ext>
            </a:extLst>
          </p:cNvPr>
          <p:cNvCxnSpPr>
            <a:cxnSpLocks/>
            <a:endCxn id="279" idx="1"/>
          </p:cNvCxnSpPr>
          <p:nvPr/>
        </p:nvCxnSpPr>
        <p:spPr>
          <a:xfrm flipH="1">
            <a:off x="1648988" y="820800"/>
            <a:ext cx="682654" cy="967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B011BF13-6D06-9E20-D2DF-6AFC45DD86AA}"/>
              </a:ext>
            </a:extLst>
          </p:cNvPr>
          <p:cNvSpPr/>
          <p:nvPr/>
        </p:nvSpPr>
        <p:spPr>
          <a:xfrm>
            <a:off x="518312" y="1700212"/>
            <a:ext cx="1204177" cy="5299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41" name="テキスト ボックス 240">
            <a:extLst>
              <a:ext uri="{FF2B5EF4-FFF2-40B4-BE49-F238E27FC236}">
                <a16:creationId xmlns:a16="http://schemas.microsoft.com/office/drawing/2014/main" id="{D8BA3E42-8E4F-D12B-B695-B6D5AB36D4CF}"/>
              </a:ext>
            </a:extLst>
          </p:cNvPr>
          <p:cNvSpPr txBox="1"/>
          <p:nvPr/>
        </p:nvSpPr>
        <p:spPr>
          <a:xfrm>
            <a:off x="653208" y="1635033"/>
            <a:ext cx="988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医療機関情報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42" name="直線コネクタ 241">
            <a:extLst>
              <a:ext uri="{FF2B5EF4-FFF2-40B4-BE49-F238E27FC236}">
                <a16:creationId xmlns:a16="http://schemas.microsoft.com/office/drawing/2014/main" id="{84F5A8D8-A219-22D3-8424-77FB88469071}"/>
              </a:ext>
            </a:extLst>
          </p:cNvPr>
          <p:cNvCxnSpPr>
            <a:cxnSpLocks/>
          </p:cNvCxnSpPr>
          <p:nvPr/>
        </p:nvCxnSpPr>
        <p:spPr>
          <a:xfrm flipV="1">
            <a:off x="518312" y="1847888"/>
            <a:ext cx="1200197" cy="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正方形/長方形 242">
            <a:extLst>
              <a:ext uri="{FF2B5EF4-FFF2-40B4-BE49-F238E27FC236}">
                <a16:creationId xmlns:a16="http://schemas.microsoft.com/office/drawing/2014/main" id="{FA95C063-E54C-CB0E-E819-0EDD629F2BEA}"/>
              </a:ext>
            </a:extLst>
          </p:cNvPr>
          <p:cNvSpPr/>
          <p:nvPr/>
        </p:nvSpPr>
        <p:spPr>
          <a:xfrm>
            <a:off x="518312" y="3381690"/>
            <a:ext cx="1197883" cy="10889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44" name="直線コネクタ 243">
            <a:extLst>
              <a:ext uri="{FF2B5EF4-FFF2-40B4-BE49-F238E27FC236}">
                <a16:creationId xmlns:a16="http://schemas.microsoft.com/office/drawing/2014/main" id="{9CA19320-517E-EF99-27B2-756AA8E1FFB4}"/>
              </a:ext>
            </a:extLst>
          </p:cNvPr>
          <p:cNvCxnSpPr>
            <a:cxnSpLocks/>
          </p:cNvCxnSpPr>
          <p:nvPr/>
        </p:nvCxnSpPr>
        <p:spPr>
          <a:xfrm>
            <a:off x="508160" y="3566163"/>
            <a:ext cx="12082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テキスト ボックス 244">
            <a:extLst>
              <a:ext uri="{FF2B5EF4-FFF2-40B4-BE49-F238E27FC236}">
                <a16:creationId xmlns:a16="http://schemas.microsoft.com/office/drawing/2014/main" id="{002796DE-0A10-B928-1B03-13A091027BD3}"/>
              </a:ext>
            </a:extLst>
          </p:cNvPr>
          <p:cNvSpPr txBox="1"/>
          <p:nvPr/>
        </p:nvSpPr>
        <p:spPr>
          <a:xfrm>
            <a:off x="552610" y="3354212"/>
            <a:ext cx="813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入院情報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46" name="テキスト ボックス 245">
            <a:extLst>
              <a:ext uri="{FF2B5EF4-FFF2-40B4-BE49-F238E27FC236}">
                <a16:creationId xmlns:a16="http://schemas.microsoft.com/office/drawing/2014/main" id="{B2833C6C-82A8-1F9C-50BF-31EDA6294C32}"/>
              </a:ext>
            </a:extLst>
          </p:cNvPr>
          <p:cNvSpPr txBox="1"/>
          <p:nvPr/>
        </p:nvSpPr>
        <p:spPr>
          <a:xfrm>
            <a:off x="464000" y="3537826"/>
            <a:ext cx="124138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診療科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病名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入院日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退院日</a:t>
            </a:r>
            <a:endParaRPr kumimoji="1"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死亡有無</a:t>
            </a:r>
            <a:endParaRPr kumimoji="1"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主要イベント情報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kumimoji="1" lang="ja-JP" altLang="en-US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47" name="テキスト ボックス 246">
            <a:extLst>
              <a:ext uri="{FF2B5EF4-FFF2-40B4-BE49-F238E27FC236}">
                <a16:creationId xmlns:a16="http://schemas.microsoft.com/office/drawing/2014/main" id="{56C13395-2056-B39A-D27E-1689E3A889FB}"/>
              </a:ext>
            </a:extLst>
          </p:cNvPr>
          <p:cNvSpPr txBox="1"/>
          <p:nvPr/>
        </p:nvSpPr>
        <p:spPr>
          <a:xfrm>
            <a:off x="2321690" y="1876533"/>
            <a:ext cx="1261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パス適用基本情報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病日・イベント情報</a:t>
            </a:r>
          </a:p>
        </p:txBody>
      </p:sp>
      <p:sp>
        <p:nvSpPr>
          <p:cNvPr id="248" name="正方形/長方形 247">
            <a:extLst>
              <a:ext uri="{FF2B5EF4-FFF2-40B4-BE49-F238E27FC236}">
                <a16:creationId xmlns:a16="http://schemas.microsoft.com/office/drawing/2014/main" id="{307BB8D1-E706-A2D6-6A4D-03AC184C980A}"/>
              </a:ext>
            </a:extLst>
          </p:cNvPr>
          <p:cNvSpPr/>
          <p:nvPr/>
        </p:nvSpPr>
        <p:spPr>
          <a:xfrm>
            <a:off x="518313" y="2335663"/>
            <a:ext cx="1200196" cy="968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49" name="テキスト ボックス 248">
            <a:extLst>
              <a:ext uri="{FF2B5EF4-FFF2-40B4-BE49-F238E27FC236}">
                <a16:creationId xmlns:a16="http://schemas.microsoft.com/office/drawing/2014/main" id="{8FE2CF03-6122-7028-2BEB-6DEA3E45AFE5}"/>
              </a:ext>
            </a:extLst>
          </p:cNvPr>
          <p:cNvSpPr txBox="1"/>
          <p:nvPr/>
        </p:nvSpPr>
        <p:spPr>
          <a:xfrm>
            <a:off x="518313" y="2312733"/>
            <a:ext cx="9737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患者基本情報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50" name="直線コネクタ 249">
            <a:extLst>
              <a:ext uri="{FF2B5EF4-FFF2-40B4-BE49-F238E27FC236}">
                <a16:creationId xmlns:a16="http://schemas.microsoft.com/office/drawing/2014/main" id="{9D892E78-698F-58FB-0598-C96B531BC5F0}"/>
              </a:ext>
            </a:extLst>
          </p:cNvPr>
          <p:cNvCxnSpPr>
            <a:cxnSpLocks/>
          </p:cNvCxnSpPr>
          <p:nvPr/>
        </p:nvCxnSpPr>
        <p:spPr>
          <a:xfrm>
            <a:off x="518313" y="2549326"/>
            <a:ext cx="11978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正方形/長方形 250">
            <a:extLst>
              <a:ext uri="{FF2B5EF4-FFF2-40B4-BE49-F238E27FC236}">
                <a16:creationId xmlns:a16="http://schemas.microsoft.com/office/drawing/2014/main" id="{C86CF39A-B472-DA51-A091-B0D3E628229D}"/>
              </a:ext>
            </a:extLst>
          </p:cNvPr>
          <p:cNvSpPr/>
          <p:nvPr/>
        </p:nvSpPr>
        <p:spPr>
          <a:xfrm>
            <a:off x="518317" y="2528055"/>
            <a:ext cx="96879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患者</a:t>
            </a:r>
            <a:r>
              <a:rPr kumimoji="1"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ID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関連</a:t>
            </a:r>
            <a:r>
              <a:rPr kumimoji="1"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ID</a:t>
            </a:r>
            <a:endParaRPr kumimoji="1" lang="ja-JP" altLang="en-US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氏名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性別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生年月日</a:t>
            </a:r>
          </a:p>
        </p:txBody>
      </p:sp>
      <p:cxnSp>
        <p:nvCxnSpPr>
          <p:cNvPr id="252" name="直線コネクタ 251">
            <a:extLst>
              <a:ext uri="{FF2B5EF4-FFF2-40B4-BE49-F238E27FC236}">
                <a16:creationId xmlns:a16="http://schemas.microsoft.com/office/drawing/2014/main" id="{31780137-2FFF-E00E-2CFE-F280E4E08570}"/>
              </a:ext>
            </a:extLst>
          </p:cNvPr>
          <p:cNvCxnSpPr>
            <a:cxnSpLocks/>
          </p:cNvCxnSpPr>
          <p:nvPr/>
        </p:nvCxnSpPr>
        <p:spPr>
          <a:xfrm>
            <a:off x="2320585" y="1889575"/>
            <a:ext cx="1306677" cy="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正方形/長方形 252">
            <a:extLst>
              <a:ext uri="{FF2B5EF4-FFF2-40B4-BE49-F238E27FC236}">
                <a16:creationId xmlns:a16="http://schemas.microsoft.com/office/drawing/2014/main" id="{F91F4EC9-F4FB-203F-240F-4CE9B5943A63}"/>
              </a:ext>
            </a:extLst>
          </p:cNvPr>
          <p:cNvSpPr/>
          <p:nvPr/>
        </p:nvSpPr>
        <p:spPr>
          <a:xfrm>
            <a:off x="477673" y="1833530"/>
            <a:ext cx="10676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zh-TW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医療機関</a:t>
            </a: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コード</a:t>
            </a:r>
            <a:endParaRPr kumimoji="1" lang="en-US" altLang="zh-TW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zh-TW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医療機関</a:t>
            </a: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名称</a:t>
            </a:r>
            <a:endParaRPr kumimoji="1" lang="zh-TW" altLang="en-US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FBBA79B3-7054-51E1-6EDA-EE08CBA21723}"/>
              </a:ext>
            </a:extLst>
          </p:cNvPr>
          <p:cNvSpPr/>
          <p:nvPr/>
        </p:nvSpPr>
        <p:spPr>
          <a:xfrm>
            <a:off x="2342770" y="2700828"/>
            <a:ext cx="1290032" cy="1114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55" name="直線コネクタ 254">
            <a:extLst>
              <a:ext uri="{FF2B5EF4-FFF2-40B4-BE49-F238E27FC236}">
                <a16:creationId xmlns:a16="http://schemas.microsoft.com/office/drawing/2014/main" id="{C46EF9A6-1CB2-50E4-1ED9-D2FC73A519D8}"/>
              </a:ext>
            </a:extLst>
          </p:cNvPr>
          <p:cNvCxnSpPr>
            <a:cxnSpLocks/>
          </p:cNvCxnSpPr>
          <p:nvPr/>
        </p:nvCxnSpPr>
        <p:spPr>
          <a:xfrm flipV="1">
            <a:off x="2347789" y="2904138"/>
            <a:ext cx="1286813" cy="84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D54B833E-3B94-22BF-55BB-F67A50FFA632}"/>
              </a:ext>
            </a:extLst>
          </p:cNvPr>
          <p:cNvSpPr/>
          <p:nvPr/>
        </p:nvSpPr>
        <p:spPr>
          <a:xfrm>
            <a:off x="518317" y="608888"/>
            <a:ext cx="1206067" cy="1028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57" name="テキスト ボックス 256">
            <a:extLst>
              <a:ext uri="{FF2B5EF4-FFF2-40B4-BE49-F238E27FC236}">
                <a16:creationId xmlns:a16="http://schemas.microsoft.com/office/drawing/2014/main" id="{45948018-D409-C2C0-588E-104337EE1601}"/>
              </a:ext>
            </a:extLst>
          </p:cNvPr>
          <p:cNvSpPr txBox="1"/>
          <p:nvPr/>
        </p:nvSpPr>
        <p:spPr>
          <a:xfrm>
            <a:off x="518313" y="573313"/>
            <a:ext cx="1143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パス識別情報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58" name="直線コネクタ 257">
            <a:extLst>
              <a:ext uri="{FF2B5EF4-FFF2-40B4-BE49-F238E27FC236}">
                <a16:creationId xmlns:a16="http://schemas.microsoft.com/office/drawing/2014/main" id="{8C0E1A84-346C-A2C9-2457-91B4EC33A8DB}"/>
              </a:ext>
            </a:extLst>
          </p:cNvPr>
          <p:cNvCxnSpPr>
            <a:cxnSpLocks/>
          </p:cNvCxnSpPr>
          <p:nvPr/>
        </p:nvCxnSpPr>
        <p:spPr>
          <a:xfrm>
            <a:off x="518313" y="819467"/>
            <a:ext cx="11870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テキスト ボックス 258">
            <a:extLst>
              <a:ext uri="{FF2B5EF4-FFF2-40B4-BE49-F238E27FC236}">
                <a16:creationId xmlns:a16="http://schemas.microsoft.com/office/drawing/2014/main" id="{9B8414B1-E0F9-3407-BEEE-8314CF8ACE20}"/>
              </a:ext>
            </a:extLst>
          </p:cNvPr>
          <p:cNvSpPr txBox="1"/>
          <p:nvPr/>
        </p:nvSpPr>
        <p:spPr>
          <a:xfrm>
            <a:off x="466684" y="787280"/>
            <a:ext cx="136447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パスコード・名称 </a:t>
            </a:r>
            <a:r>
              <a:rPr kumimoji="1"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1..</a:t>
            </a: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*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パス状態区分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代替用途種別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ひな型パスバージョン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施設パスバージョン</a:t>
            </a:r>
          </a:p>
        </p:txBody>
      </p:sp>
      <p:sp>
        <p:nvSpPr>
          <p:cNvPr id="260" name="テキスト ボックス 259">
            <a:extLst>
              <a:ext uri="{FF2B5EF4-FFF2-40B4-BE49-F238E27FC236}">
                <a16:creationId xmlns:a16="http://schemas.microsoft.com/office/drawing/2014/main" id="{29F090CD-82EB-4AEB-5636-D3600C3BA425}"/>
              </a:ext>
            </a:extLst>
          </p:cNvPr>
          <p:cNvSpPr txBox="1"/>
          <p:nvPr/>
        </p:nvSpPr>
        <p:spPr>
          <a:xfrm>
            <a:off x="2323941" y="2905028"/>
            <a:ext cx="1215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適用時パス識別子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適応基準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パス実施期間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パス予定日数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パス終了区分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パス中止理由</a:t>
            </a: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D054EB8A-4419-BE0F-97C6-7BD02C6C7DFD}"/>
              </a:ext>
            </a:extLst>
          </p:cNvPr>
          <p:cNvSpPr/>
          <p:nvPr/>
        </p:nvSpPr>
        <p:spPr>
          <a:xfrm>
            <a:off x="2342770" y="2675673"/>
            <a:ext cx="119776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パス適用基本情報</a:t>
            </a:r>
          </a:p>
        </p:txBody>
      </p:sp>
      <p:cxnSp>
        <p:nvCxnSpPr>
          <p:cNvPr id="262" name="直線コネクタ 261">
            <a:extLst>
              <a:ext uri="{FF2B5EF4-FFF2-40B4-BE49-F238E27FC236}">
                <a16:creationId xmlns:a16="http://schemas.microsoft.com/office/drawing/2014/main" id="{53611308-3DC2-1A9D-BE46-A4A79B24DD93}"/>
              </a:ext>
            </a:extLst>
          </p:cNvPr>
          <p:cNvCxnSpPr>
            <a:cxnSpLocks/>
            <a:stCxn id="265" idx="2"/>
            <a:endCxn id="263" idx="0"/>
          </p:cNvCxnSpPr>
          <p:nvPr/>
        </p:nvCxnSpPr>
        <p:spPr>
          <a:xfrm flipV="1">
            <a:off x="4674165" y="2034442"/>
            <a:ext cx="921" cy="3451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ひし形 262">
            <a:extLst>
              <a:ext uri="{FF2B5EF4-FFF2-40B4-BE49-F238E27FC236}">
                <a16:creationId xmlns:a16="http://schemas.microsoft.com/office/drawing/2014/main" id="{81BBAD69-4D15-2A95-A3FE-DBF51953F1F7}"/>
              </a:ext>
            </a:extLst>
          </p:cNvPr>
          <p:cNvSpPr/>
          <p:nvPr/>
        </p:nvSpPr>
        <p:spPr>
          <a:xfrm rot="11001327">
            <a:off x="4618481" y="1844683"/>
            <a:ext cx="124326" cy="189922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530B2D6C-8E8E-DCB3-922A-84E5FFAB8DA6}"/>
              </a:ext>
            </a:extLst>
          </p:cNvPr>
          <p:cNvSpPr/>
          <p:nvPr/>
        </p:nvSpPr>
        <p:spPr>
          <a:xfrm>
            <a:off x="4080543" y="2175325"/>
            <a:ext cx="1316726" cy="6842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65" name="テキスト ボックス 264">
            <a:extLst>
              <a:ext uri="{FF2B5EF4-FFF2-40B4-BE49-F238E27FC236}">
                <a16:creationId xmlns:a16="http://schemas.microsoft.com/office/drawing/2014/main" id="{94693DC1-CA0B-B2F9-A4AF-241FD560663E}"/>
              </a:ext>
            </a:extLst>
          </p:cNvPr>
          <p:cNvSpPr txBox="1"/>
          <p:nvPr/>
        </p:nvSpPr>
        <p:spPr>
          <a:xfrm>
            <a:off x="4125608" y="2133376"/>
            <a:ext cx="1097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総合評価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66" name="直線コネクタ 265">
            <a:extLst>
              <a:ext uri="{FF2B5EF4-FFF2-40B4-BE49-F238E27FC236}">
                <a16:creationId xmlns:a16="http://schemas.microsoft.com/office/drawing/2014/main" id="{287DAC03-DDD1-855B-45D0-DB6A5887268C}"/>
              </a:ext>
            </a:extLst>
          </p:cNvPr>
          <p:cNvCxnSpPr>
            <a:cxnSpLocks/>
          </p:cNvCxnSpPr>
          <p:nvPr/>
        </p:nvCxnSpPr>
        <p:spPr>
          <a:xfrm flipV="1">
            <a:off x="4094935" y="2349130"/>
            <a:ext cx="1300928" cy="1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テキスト ボックス 266">
            <a:extLst>
              <a:ext uri="{FF2B5EF4-FFF2-40B4-BE49-F238E27FC236}">
                <a16:creationId xmlns:a16="http://schemas.microsoft.com/office/drawing/2014/main" id="{E3498298-F4F9-466E-68C4-D19F4E4557B9}"/>
              </a:ext>
            </a:extLst>
          </p:cNvPr>
          <p:cNvSpPr txBox="1"/>
          <p:nvPr/>
        </p:nvSpPr>
        <p:spPr>
          <a:xfrm>
            <a:off x="4094935" y="2411891"/>
            <a:ext cx="134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評価（フリーテキスト ）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記録者</a:t>
            </a:r>
          </a:p>
        </p:txBody>
      </p:sp>
      <p:sp>
        <p:nvSpPr>
          <p:cNvPr id="268" name="ひし形 267">
            <a:extLst>
              <a:ext uri="{FF2B5EF4-FFF2-40B4-BE49-F238E27FC236}">
                <a16:creationId xmlns:a16="http://schemas.microsoft.com/office/drawing/2014/main" id="{776F2232-BBBB-C2A3-9CCA-FEB006C07D07}"/>
              </a:ext>
            </a:extLst>
          </p:cNvPr>
          <p:cNvSpPr/>
          <p:nvPr/>
        </p:nvSpPr>
        <p:spPr>
          <a:xfrm rot="21588860">
            <a:off x="2895055" y="2287176"/>
            <a:ext cx="114422" cy="16998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25ABB024-A7EE-BB27-C095-3C015D9E1A8B}"/>
              </a:ext>
            </a:extLst>
          </p:cNvPr>
          <p:cNvSpPr/>
          <p:nvPr/>
        </p:nvSpPr>
        <p:spPr>
          <a:xfrm>
            <a:off x="4079641" y="621619"/>
            <a:ext cx="1312014" cy="12295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70" name="テキスト ボックス 269">
            <a:extLst>
              <a:ext uri="{FF2B5EF4-FFF2-40B4-BE49-F238E27FC236}">
                <a16:creationId xmlns:a16="http://schemas.microsoft.com/office/drawing/2014/main" id="{897F5FE2-6DA8-E6EE-B60D-558F1A569387}"/>
              </a:ext>
            </a:extLst>
          </p:cNvPr>
          <p:cNvSpPr txBox="1"/>
          <p:nvPr/>
        </p:nvSpPr>
        <p:spPr>
          <a:xfrm>
            <a:off x="4111140" y="579193"/>
            <a:ext cx="123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病日・イベント情報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71" name="テキスト ボックス 270">
            <a:extLst>
              <a:ext uri="{FF2B5EF4-FFF2-40B4-BE49-F238E27FC236}">
                <a16:creationId xmlns:a16="http://schemas.microsoft.com/office/drawing/2014/main" id="{1EE0572F-0700-D74F-1BAE-331A84E3451C}"/>
              </a:ext>
            </a:extLst>
          </p:cNvPr>
          <p:cNvSpPr txBox="1"/>
          <p:nvPr/>
        </p:nvSpPr>
        <p:spPr>
          <a:xfrm>
            <a:off x="4080543" y="742989"/>
            <a:ext cx="126115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パスステップ情報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病日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イベントコード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イベント名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許容経過日数条件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OAT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ユニット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総合評価</a:t>
            </a:r>
          </a:p>
        </p:txBody>
      </p:sp>
      <p:cxnSp>
        <p:nvCxnSpPr>
          <p:cNvPr id="272" name="直線コネクタ 271">
            <a:extLst>
              <a:ext uri="{FF2B5EF4-FFF2-40B4-BE49-F238E27FC236}">
                <a16:creationId xmlns:a16="http://schemas.microsoft.com/office/drawing/2014/main" id="{4DECD42A-2F19-7D9F-0D21-7DAF6F5E20DB}"/>
              </a:ext>
            </a:extLst>
          </p:cNvPr>
          <p:cNvCxnSpPr>
            <a:cxnSpLocks/>
          </p:cNvCxnSpPr>
          <p:nvPr/>
        </p:nvCxnSpPr>
        <p:spPr>
          <a:xfrm>
            <a:off x="4090442" y="790941"/>
            <a:ext cx="12956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ひし形 273">
            <a:extLst>
              <a:ext uri="{FF2B5EF4-FFF2-40B4-BE49-F238E27FC236}">
                <a16:creationId xmlns:a16="http://schemas.microsoft.com/office/drawing/2014/main" id="{1AFC8B24-8230-3FD2-B15C-276823DE18C3}"/>
              </a:ext>
            </a:extLst>
          </p:cNvPr>
          <p:cNvSpPr/>
          <p:nvPr/>
        </p:nvSpPr>
        <p:spPr>
          <a:xfrm rot="12939424">
            <a:off x="3632346" y="1612371"/>
            <a:ext cx="114422" cy="16998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75" name="テキスト ボックス 274">
            <a:extLst>
              <a:ext uri="{FF2B5EF4-FFF2-40B4-BE49-F238E27FC236}">
                <a16:creationId xmlns:a16="http://schemas.microsoft.com/office/drawing/2014/main" id="{054D78C5-C924-6C01-40DF-9AB74A3A7F9B}"/>
              </a:ext>
            </a:extLst>
          </p:cNvPr>
          <p:cNvSpPr txBox="1"/>
          <p:nvPr/>
        </p:nvSpPr>
        <p:spPr>
          <a:xfrm>
            <a:off x="3749980" y="1037464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1..*</a:t>
            </a:r>
          </a:p>
        </p:txBody>
      </p:sp>
      <p:sp>
        <p:nvSpPr>
          <p:cNvPr id="276" name="テキスト ボックス 275">
            <a:extLst>
              <a:ext uri="{FF2B5EF4-FFF2-40B4-BE49-F238E27FC236}">
                <a16:creationId xmlns:a16="http://schemas.microsoft.com/office/drawing/2014/main" id="{13FC546F-9741-3E0B-C6C9-6C3750E8FD74}"/>
              </a:ext>
            </a:extLst>
          </p:cNvPr>
          <p:cNvSpPr txBox="1"/>
          <p:nvPr/>
        </p:nvSpPr>
        <p:spPr>
          <a:xfrm>
            <a:off x="2948910" y="1473115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</a:p>
        </p:txBody>
      </p:sp>
      <p:sp>
        <p:nvSpPr>
          <p:cNvPr id="277" name="ひし形 276">
            <a:extLst>
              <a:ext uri="{FF2B5EF4-FFF2-40B4-BE49-F238E27FC236}">
                <a16:creationId xmlns:a16="http://schemas.microsoft.com/office/drawing/2014/main" id="{1BD374CB-6790-F7FD-D2B6-900F9529DD3F}"/>
              </a:ext>
            </a:extLst>
          </p:cNvPr>
          <p:cNvSpPr/>
          <p:nvPr/>
        </p:nvSpPr>
        <p:spPr>
          <a:xfrm>
            <a:off x="2874953" y="1362238"/>
            <a:ext cx="114422" cy="16998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78" name="テキスト ボックス 277">
            <a:extLst>
              <a:ext uri="{FF2B5EF4-FFF2-40B4-BE49-F238E27FC236}">
                <a16:creationId xmlns:a16="http://schemas.microsoft.com/office/drawing/2014/main" id="{17325067-C73A-BF70-3F81-BAC6CCC1EB62}"/>
              </a:ext>
            </a:extLst>
          </p:cNvPr>
          <p:cNvSpPr txBox="1"/>
          <p:nvPr/>
        </p:nvSpPr>
        <p:spPr>
          <a:xfrm>
            <a:off x="1672123" y="564785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</a:p>
        </p:txBody>
      </p:sp>
      <p:sp>
        <p:nvSpPr>
          <p:cNvPr id="279" name="テキスト ボックス 278">
            <a:extLst>
              <a:ext uri="{FF2B5EF4-FFF2-40B4-BE49-F238E27FC236}">
                <a16:creationId xmlns:a16="http://schemas.microsoft.com/office/drawing/2014/main" id="{5BD4717E-D19D-8E4E-2389-7E5C4FB2BCBF}"/>
              </a:ext>
            </a:extLst>
          </p:cNvPr>
          <p:cNvSpPr txBox="1"/>
          <p:nvPr/>
        </p:nvSpPr>
        <p:spPr>
          <a:xfrm>
            <a:off x="1648988" y="165749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</a:p>
        </p:txBody>
      </p:sp>
      <p:sp>
        <p:nvSpPr>
          <p:cNvPr id="280" name="テキスト ボックス 279">
            <a:extLst>
              <a:ext uri="{FF2B5EF4-FFF2-40B4-BE49-F238E27FC236}">
                <a16:creationId xmlns:a16="http://schemas.microsoft.com/office/drawing/2014/main" id="{4EE21050-7A99-8B54-3ACD-38F463CCAE4B}"/>
              </a:ext>
            </a:extLst>
          </p:cNvPr>
          <p:cNvSpPr txBox="1"/>
          <p:nvPr/>
        </p:nvSpPr>
        <p:spPr>
          <a:xfrm>
            <a:off x="1665462" y="2480253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</a:p>
        </p:txBody>
      </p:sp>
      <p:sp>
        <p:nvSpPr>
          <p:cNvPr id="281" name="テキスト ボックス 280">
            <a:extLst>
              <a:ext uri="{FF2B5EF4-FFF2-40B4-BE49-F238E27FC236}">
                <a16:creationId xmlns:a16="http://schemas.microsoft.com/office/drawing/2014/main" id="{974EF213-3C27-C52C-9F7B-B5B9021C3401}"/>
              </a:ext>
            </a:extLst>
          </p:cNvPr>
          <p:cNvSpPr txBox="1"/>
          <p:nvPr/>
        </p:nvSpPr>
        <p:spPr>
          <a:xfrm>
            <a:off x="2990710" y="2454686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</a:p>
        </p:txBody>
      </p:sp>
      <p:sp>
        <p:nvSpPr>
          <p:cNvPr id="282" name="テキスト ボックス 281">
            <a:extLst>
              <a:ext uri="{FF2B5EF4-FFF2-40B4-BE49-F238E27FC236}">
                <a16:creationId xmlns:a16="http://schemas.microsoft.com/office/drawing/2014/main" id="{291621A5-0DBC-5F54-B291-51E89A165F41}"/>
              </a:ext>
            </a:extLst>
          </p:cNvPr>
          <p:cNvSpPr txBox="1"/>
          <p:nvPr/>
        </p:nvSpPr>
        <p:spPr>
          <a:xfrm>
            <a:off x="4729728" y="1956534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0..1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83" name="テキスト ボックス 282">
            <a:extLst>
              <a:ext uri="{FF2B5EF4-FFF2-40B4-BE49-F238E27FC236}">
                <a16:creationId xmlns:a16="http://schemas.microsoft.com/office/drawing/2014/main" id="{DDAA2AC9-7348-DA42-271B-218CEABC7373}"/>
              </a:ext>
            </a:extLst>
          </p:cNvPr>
          <p:cNvSpPr txBox="1"/>
          <p:nvPr/>
        </p:nvSpPr>
        <p:spPr>
          <a:xfrm>
            <a:off x="1660910" y="3447012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0..1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84" name="直線コネクタ 283">
            <a:extLst>
              <a:ext uri="{FF2B5EF4-FFF2-40B4-BE49-F238E27FC236}">
                <a16:creationId xmlns:a16="http://schemas.microsoft.com/office/drawing/2014/main" id="{2D472108-6613-CE92-6BF7-DE3CE2A8C982}"/>
              </a:ext>
            </a:extLst>
          </p:cNvPr>
          <p:cNvCxnSpPr>
            <a:cxnSpLocks/>
            <a:endCxn id="285" idx="0"/>
          </p:cNvCxnSpPr>
          <p:nvPr/>
        </p:nvCxnSpPr>
        <p:spPr>
          <a:xfrm flipH="1" flipV="1">
            <a:off x="5560998" y="1028695"/>
            <a:ext cx="137102" cy="95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ひし形 284">
            <a:extLst>
              <a:ext uri="{FF2B5EF4-FFF2-40B4-BE49-F238E27FC236}">
                <a16:creationId xmlns:a16="http://schemas.microsoft.com/office/drawing/2014/main" id="{F5796523-65F0-40E5-126B-9EFE6E287B1E}"/>
              </a:ext>
            </a:extLst>
          </p:cNvPr>
          <p:cNvSpPr/>
          <p:nvPr/>
        </p:nvSpPr>
        <p:spPr>
          <a:xfrm rot="6514445">
            <a:off x="5400694" y="906683"/>
            <a:ext cx="145177" cy="185072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503ED8D7-9A03-9764-8BC6-D18A19FE51BC}"/>
              </a:ext>
            </a:extLst>
          </p:cNvPr>
          <p:cNvSpPr/>
          <p:nvPr/>
        </p:nvSpPr>
        <p:spPr>
          <a:xfrm>
            <a:off x="5682300" y="986328"/>
            <a:ext cx="1219924" cy="8167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87" name="テキスト ボックス 286">
            <a:extLst>
              <a:ext uri="{FF2B5EF4-FFF2-40B4-BE49-F238E27FC236}">
                <a16:creationId xmlns:a16="http://schemas.microsoft.com/office/drawing/2014/main" id="{B0347A81-9A30-7A7F-1643-398D687DA6A4}"/>
              </a:ext>
            </a:extLst>
          </p:cNvPr>
          <p:cNvSpPr txBox="1"/>
          <p:nvPr/>
        </p:nvSpPr>
        <p:spPr>
          <a:xfrm>
            <a:off x="5739516" y="951431"/>
            <a:ext cx="1115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パスステップ情報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88" name="直線コネクタ 287">
            <a:extLst>
              <a:ext uri="{FF2B5EF4-FFF2-40B4-BE49-F238E27FC236}">
                <a16:creationId xmlns:a16="http://schemas.microsoft.com/office/drawing/2014/main" id="{97388014-2799-352E-4E66-87877DAC71CD}"/>
              </a:ext>
            </a:extLst>
          </p:cNvPr>
          <p:cNvCxnSpPr>
            <a:cxnSpLocks/>
          </p:cNvCxnSpPr>
          <p:nvPr/>
        </p:nvCxnSpPr>
        <p:spPr>
          <a:xfrm flipV="1">
            <a:off x="5683202" y="1173464"/>
            <a:ext cx="1219022" cy="91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テキスト ボックス 288">
            <a:extLst>
              <a:ext uri="{FF2B5EF4-FFF2-40B4-BE49-F238E27FC236}">
                <a16:creationId xmlns:a16="http://schemas.microsoft.com/office/drawing/2014/main" id="{4177EF63-9D7D-3B09-B985-F8B069B70DF2}"/>
              </a:ext>
            </a:extLst>
          </p:cNvPr>
          <p:cNvSpPr txBox="1"/>
          <p:nvPr/>
        </p:nvSpPr>
        <p:spPr>
          <a:xfrm>
            <a:off x="5666874" y="1159202"/>
            <a:ext cx="1165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ステップ回数目</a:t>
            </a:r>
            <a:endParaRPr kumimoji="1"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ステップ名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入外区分</a:t>
            </a:r>
            <a:endParaRPr kumimoji="1"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開始日</a:t>
            </a:r>
          </a:p>
        </p:txBody>
      </p:sp>
      <p:sp>
        <p:nvSpPr>
          <p:cNvPr id="290" name="テキスト ボックス 289">
            <a:extLst>
              <a:ext uri="{FF2B5EF4-FFF2-40B4-BE49-F238E27FC236}">
                <a16:creationId xmlns:a16="http://schemas.microsoft.com/office/drawing/2014/main" id="{C922C9B6-1DF4-AE83-F30C-02293E830C04}"/>
              </a:ext>
            </a:extLst>
          </p:cNvPr>
          <p:cNvSpPr txBox="1"/>
          <p:nvPr/>
        </p:nvSpPr>
        <p:spPr>
          <a:xfrm>
            <a:off x="5373534" y="1051767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0..1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91" name="直線コネクタ 290">
            <a:extLst>
              <a:ext uri="{FF2B5EF4-FFF2-40B4-BE49-F238E27FC236}">
                <a16:creationId xmlns:a16="http://schemas.microsoft.com/office/drawing/2014/main" id="{F84973F5-62B9-9A09-58DE-2B0FE0D5A2C3}"/>
              </a:ext>
            </a:extLst>
          </p:cNvPr>
          <p:cNvCxnSpPr>
            <a:cxnSpLocks/>
            <a:endCxn id="329" idx="2"/>
          </p:cNvCxnSpPr>
          <p:nvPr/>
        </p:nvCxnSpPr>
        <p:spPr>
          <a:xfrm flipH="1" flipV="1">
            <a:off x="5611063" y="729225"/>
            <a:ext cx="1494496" cy="43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線矢印コネクタ 291">
            <a:extLst>
              <a:ext uri="{FF2B5EF4-FFF2-40B4-BE49-F238E27FC236}">
                <a16:creationId xmlns:a16="http://schemas.microsoft.com/office/drawing/2014/main" id="{6E58D5FB-7142-70C6-689C-D54D8FE8AEF1}"/>
              </a:ext>
            </a:extLst>
          </p:cNvPr>
          <p:cNvCxnSpPr>
            <a:cxnSpLocks/>
            <a:stCxn id="324" idx="2"/>
          </p:cNvCxnSpPr>
          <p:nvPr/>
        </p:nvCxnSpPr>
        <p:spPr>
          <a:xfrm>
            <a:off x="8010345" y="5019819"/>
            <a:ext cx="0" cy="28887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線コネクタ 292">
            <a:extLst>
              <a:ext uri="{FF2B5EF4-FFF2-40B4-BE49-F238E27FC236}">
                <a16:creationId xmlns:a16="http://schemas.microsoft.com/office/drawing/2014/main" id="{3BF90182-B215-7EF3-DF43-CD52D1642A85}"/>
              </a:ext>
            </a:extLst>
          </p:cNvPr>
          <p:cNvCxnSpPr>
            <a:cxnSpLocks/>
            <a:endCxn id="325" idx="0"/>
          </p:cNvCxnSpPr>
          <p:nvPr/>
        </p:nvCxnSpPr>
        <p:spPr>
          <a:xfrm flipH="1">
            <a:off x="9159418" y="4601728"/>
            <a:ext cx="3244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6F4B7647-6A77-E273-7D7B-9EFD6FF478EE}"/>
              </a:ext>
            </a:extLst>
          </p:cNvPr>
          <p:cNvSpPr/>
          <p:nvPr/>
        </p:nvSpPr>
        <p:spPr>
          <a:xfrm>
            <a:off x="7115330" y="671194"/>
            <a:ext cx="1817378" cy="5022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96" name="テキスト ボックス 295">
            <a:extLst>
              <a:ext uri="{FF2B5EF4-FFF2-40B4-BE49-F238E27FC236}">
                <a16:creationId xmlns:a16="http://schemas.microsoft.com/office/drawing/2014/main" id="{E1CFCAEC-CBB9-0687-8A5A-A0B221BCDA3A}"/>
              </a:ext>
            </a:extLst>
          </p:cNvPr>
          <p:cNvSpPr txBox="1"/>
          <p:nvPr/>
        </p:nvSpPr>
        <p:spPr>
          <a:xfrm>
            <a:off x="7368086" y="606601"/>
            <a:ext cx="13239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OAT</a:t>
            </a:r>
            <a:r>
              <a:rPr lang="ja-JP" altLang="en-US" sz="1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ユニット</a:t>
            </a:r>
            <a:endParaRPr kumimoji="1" lang="ja-JP" altLang="en-US" sz="10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97" name="直線コネクタ 296">
            <a:extLst>
              <a:ext uri="{FF2B5EF4-FFF2-40B4-BE49-F238E27FC236}">
                <a16:creationId xmlns:a16="http://schemas.microsoft.com/office/drawing/2014/main" id="{36FFCC3C-AE5B-EE3A-7904-5DAD209D8ED5}"/>
              </a:ext>
            </a:extLst>
          </p:cNvPr>
          <p:cNvCxnSpPr>
            <a:cxnSpLocks/>
          </p:cNvCxnSpPr>
          <p:nvPr/>
        </p:nvCxnSpPr>
        <p:spPr>
          <a:xfrm>
            <a:off x="7125100" y="820763"/>
            <a:ext cx="18173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E4F631BA-4764-C71F-A1AD-1A225D09C186}"/>
              </a:ext>
            </a:extLst>
          </p:cNvPr>
          <p:cNvSpPr/>
          <p:nvPr/>
        </p:nvSpPr>
        <p:spPr>
          <a:xfrm>
            <a:off x="7125100" y="779906"/>
            <a:ext cx="1295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OAT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ユニット識別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アウトカム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B0620FBF-3367-FD3B-5C6E-5C4ECBF608F6}"/>
              </a:ext>
            </a:extLst>
          </p:cNvPr>
          <p:cNvSpPr/>
          <p:nvPr/>
        </p:nvSpPr>
        <p:spPr>
          <a:xfrm>
            <a:off x="7115330" y="1513900"/>
            <a:ext cx="1817379" cy="1601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A9A33633-201E-A6F3-DF09-7F1209B390B5}"/>
              </a:ext>
            </a:extLst>
          </p:cNvPr>
          <p:cNvSpPr/>
          <p:nvPr/>
        </p:nvSpPr>
        <p:spPr>
          <a:xfrm>
            <a:off x="7110751" y="3446187"/>
            <a:ext cx="1834231" cy="1397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01" name="正方形/長方形 300">
            <a:extLst>
              <a:ext uri="{FF2B5EF4-FFF2-40B4-BE49-F238E27FC236}">
                <a16:creationId xmlns:a16="http://schemas.microsoft.com/office/drawing/2014/main" id="{C1721F27-8E56-1173-4B3C-494ECD565DF4}"/>
              </a:ext>
            </a:extLst>
          </p:cNvPr>
          <p:cNvSpPr/>
          <p:nvPr/>
        </p:nvSpPr>
        <p:spPr>
          <a:xfrm>
            <a:off x="7110751" y="5230567"/>
            <a:ext cx="1834231" cy="12340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302" name="直線コネクタ 301">
            <a:extLst>
              <a:ext uri="{FF2B5EF4-FFF2-40B4-BE49-F238E27FC236}">
                <a16:creationId xmlns:a16="http://schemas.microsoft.com/office/drawing/2014/main" id="{68C96411-E50D-983C-4322-2C78880B38DF}"/>
              </a:ext>
            </a:extLst>
          </p:cNvPr>
          <p:cNvCxnSpPr>
            <a:cxnSpLocks/>
          </p:cNvCxnSpPr>
          <p:nvPr/>
        </p:nvCxnSpPr>
        <p:spPr>
          <a:xfrm>
            <a:off x="7110751" y="1703975"/>
            <a:ext cx="1831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テキスト ボックス 302">
            <a:extLst>
              <a:ext uri="{FF2B5EF4-FFF2-40B4-BE49-F238E27FC236}">
                <a16:creationId xmlns:a16="http://schemas.microsoft.com/office/drawing/2014/main" id="{D4C62001-C67E-1346-5A9C-640238ECDBD8}"/>
              </a:ext>
            </a:extLst>
          </p:cNvPr>
          <p:cNvSpPr txBox="1"/>
          <p:nvPr/>
        </p:nvSpPr>
        <p:spPr>
          <a:xfrm>
            <a:off x="7684271" y="1478838"/>
            <a:ext cx="7601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アウトカム</a:t>
            </a:r>
          </a:p>
        </p:txBody>
      </p:sp>
      <p:sp>
        <p:nvSpPr>
          <p:cNvPr id="304" name="テキスト ボックス 303">
            <a:extLst>
              <a:ext uri="{FF2B5EF4-FFF2-40B4-BE49-F238E27FC236}">
                <a16:creationId xmlns:a16="http://schemas.microsoft.com/office/drawing/2014/main" id="{3FEAEDB8-0938-70F5-77E1-F8692228A605}"/>
              </a:ext>
            </a:extLst>
          </p:cNvPr>
          <p:cNvSpPr txBox="1"/>
          <p:nvPr/>
        </p:nvSpPr>
        <p:spPr>
          <a:xfrm>
            <a:off x="7297314" y="3410762"/>
            <a:ext cx="13167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</a:t>
            </a:r>
          </a:p>
        </p:txBody>
      </p:sp>
      <p:sp>
        <p:nvSpPr>
          <p:cNvPr id="305" name="テキスト ボックス 304">
            <a:extLst>
              <a:ext uri="{FF2B5EF4-FFF2-40B4-BE49-F238E27FC236}">
                <a16:creationId xmlns:a16="http://schemas.microsoft.com/office/drawing/2014/main" id="{20B1C958-4250-BCDB-82AE-C2C5EC3D036B}"/>
              </a:ext>
            </a:extLst>
          </p:cNvPr>
          <p:cNvSpPr txBox="1"/>
          <p:nvPr/>
        </p:nvSpPr>
        <p:spPr>
          <a:xfrm>
            <a:off x="7277438" y="5182195"/>
            <a:ext cx="14146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タスク</a:t>
            </a:r>
          </a:p>
        </p:txBody>
      </p:sp>
      <p:sp>
        <p:nvSpPr>
          <p:cNvPr id="306" name="テキスト ボックス 305">
            <a:extLst>
              <a:ext uri="{FF2B5EF4-FFF2-40B4-BE49-F238E27FC236}">
                <a16:creationId xmlns:a16="http://schemas.microsoft.com/office/drawing/2014/main" id="{550F7A2A-592C-33AE-D716-15252BD7DD90}"/>
              </a:ext>
            </a:extLst>
          </p:cNvPr>
          <p:cNvSpPr txBox="1"/>
          <p:nvPr/>
        </p:nvSpPr>
        <p:spPr>
          <a:xfrm>
            <a:off x="7074465" y="1699513"/>
            <a:ext cx="1959733" cy="1379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BOM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アウトカム大分類コード・名称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BOM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アウトカム中分類コード・名称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BOM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アウトカムコード・名称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クリニカルインディケータ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予定外区分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リピート番号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評価</a:t>
            </a:r>
          </a:p>
        </p:txBody>
      </p:sp>
      <p:sp>
        <p:nvSpPr>
          <p:cNvPr id="307" name="正方形/長方形 306">
            <a:extLst>
              <a:ext uri="{FF2B5EF4-FFF2-40B4-BE49-F238E27FC236}">
                <a16:creationId xmlns:a16="http://schemas.microsoft.com/office/drawing/2014/main" id="{9F65A85D-54D5-445D-4BD5-08525CB87C01}"/>
              </a:ext>
            </a:extLst>
          </p:cNvPr>
          <p:cNvSpPr/>
          <p:nvPr/>
        </p:nvSpPr>
        <p:spPr>
          <a:xfrm>
            <a:off x="7066202" y="3613788"/>
            <a:ext cx="1878780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観察項目識別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BOM 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観察項目分類コード・名称 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BOM 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観察項目コード・名称 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適正値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観察項目結果値定義 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観察項目実施</a:t>
            </a:r>
          </a:p>
          <a:p>
            <a:pPr marL="88900" indent="-889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タスク</a:t>
            </a:r>
          </a:p>
        </p:txBody>
      </p:sp>
      <p:sp>
        <p:nvSpPr>
          <p:cNvPr id="308" name="テキスト ボックス 307">
            <a:extLst>
              <a:ext uri="{FF2B5EF4-FFF2-40B4-BE49-F238E27FC236}">
                <a16:creationId xmlns:a16="http://schemas.microsoft.com/office/drawing/2014/main" id="{ED8E3DEE-DC32-ACCE-63BD-29735110235A}"/>
              </a:ext>
            </a:extLst>
          </p:cNvPr>
          <p:cNvSpPr txBox="1"/>
          <p:nvPr/>
        </p:nvSpPr>
        <p:spPr>
          <a:xfrm>
            <a:off x="7199192" y="5393709"/>
            <a:ext cx="135303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タスク分類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タスクコード・名称 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予定日時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実施日時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オーダ種別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タスク実施</a:t>
            </a:r>
            <a:b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（実施状況・実施者）</a:t>
            </a:r>
          </a:p>
        </p:txBody>
      </p:sp>
      <p:cxnSp>
        <p:nvCxnSpPr>
          <p:cNvPr id="309" name="直線コネクタ 308">
            <a:extLst>
              <a:ext uri="{FF2B5EF4-FFF2-40B4-BE49-F238E27FC236}">
                <a16:creationId xmlns:a16="http://schemas.microsoft.com/office/drawing/2014/main" id="{F24D1F1B-516D-4400-628B-9DF93327DDBF}"/>
              </a:ext>
            </a:extLst>
          </p:cNvPr>
          <p:cNvCxnSpPr>
            <a:cxnSpLocks/>
          </p:cNvCxnSpPr>
          <p:nvPr/>
        </p:nvCxnSpPr>
        <p:spPr>
          <a:xfrm>
            <a:off x="7133915" y="5402870"/>
            <a:ext cx="17987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線コネクタ 309">
            <a:extLst>
              <a:ext uri="{FF2B5EF4-FFF2-40B4-BE49-F238E27FC236}">
                <a16:creationId xmlns:a16="http://schemas.microsoft.com/office/drawing/2014/main" id="{4112DF24-0628-4CAB-3E52-84C2194C22DE}"/>
              </a:ext>
            </a:extLst>
          </p:cNvPr>
          <p:cNvCxnSpPr>
            <a:cxnSpLocks/>
          </p:cNvCxnSpPr>
          <p:nvPr/>
        </p:nvCxnSpPr>
        <p:spPr>
          <a:xfrm>
            <a:off x="7110694" y="3624412"/>
            <a:ext cx="18286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線矢印コネクタ 310">
            <a:extLst>
              <a:ext uri="{FF2B5EF4-FFF2-40B4-BE49-F238E27FC236}">
                <a16:creationId xmlns:a16="http://schemas.microsoft.com/office/drawing/2014/main" id="{404BB43D-E7AC-EAAD-81D7-9EECFE3482E0}"/>
              </a:ext>
            </a:extLst>
          </p:cNvPr>
          <p:cNvCxnSpPr>
            <a:cxnSpLocks/>
            <a:stCxn id="326" idx="2"/>
          </p:cNvCxnSpPr>
          <p:nvPr/>
        </p:nvCxnSpPr>
        <p:spPr>
          <a:xfrm>
            <a:off x="7992979" y="3318928"/>
            <a:ext cx="0" cy="1560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テキスト ボックス 311">
            <a:extLst>
              <a:ext uri="{FF2B5EF4-FFF2-40B4-BE49-F238E27FC236}">
                <a16:creationId xmlns:a16="http://schemas.microsoft.com/office/drawing/2014/main" id="{0743A75C-F49C-1E69-2563-DD14796623C2}"/>
              </a:ext>
            </a:extLst>
          </p:cNvPr>
          <p:cNvSpPr txBox="1"/>
          <p:nvPr/>
        </p:nvSpPr>
        <p:spPr>
          <a:xfrm>
            <a:off x="7993152" y="3224330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1..*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13" name="テキスト ボックス 312">
            <a:extLst>
              <a:ext uri="{FF2B5EF4-FFF2-40B4-BE49-F238E27FC236}">
                <a16:creationId xmlns:a16="http://schemas.microsoft.com/office/drawing/2014/main" id="{AD11120C-6C5A-23EB-CB0A-85994E01E879}"/>
              </a:ext>
            </a:extLst>
          </p:cNvPr>
          <p:cNvSpPr txBox="1"/>
          <p:nvPr/>
        </p:nvSpPr>
        <p:spPr>
          <a:xfrm>
            <a:off x="8015978" y="4983631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0..1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672151C4-3E23-7276-E860-928F388EEC80}"/>
              </a:ext>
            </a:extLst>
          </p:cNvPr>
          <p:cNvSpPr/>
          <p:nvPr/>
        </p:nvSpPr>
        <p:spPr>
          <a:xfrm>
            <a:off x="9439380" y="4325269"/>
            <a:ext cx="1184721" cy="9052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315" name="直線コネクタ 314">
            <a:extLst>
              <a:ext uri="{FF2B5EF4-FFF2-40B4-BE49-F238E27FC236}">
                <a16:creationId xmlns:a16="http://schemas.microsoft.com/office/drawing/2014/main" id="{56DFF635-A064-7D84-2642-37881FF797DF}"/>
              </a:ext>
            </a:extLst>
          </p:cNvPr>
          <p:cNvCxnSpPr>
            <a:cxnSpLocks/>
          </p:cNvCxnSpPr>
          <p:nvPr/>
        </p:nvCxnSpPr>
        <p:spPr>
          <a:xfrm flipV="1">
            <a:off x="9426694" y="4504656"/>
            <a:ext cx="1197407" cy="17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正方形/長方形 315">
            <a:extLst>
              <a:ext uri="{FF2B5EF4-FFF2-40B4-BE49-F238E27FC236}">
                <a16:creationId xmlns:a16="http://schemas.microsoft.com/office/drawing/2014/main" id="{D0AD8772-8AA2-AB38-59AF-75ACE0DBF6CE}"/>
              </a:ext>
            </a:extLst>
          </p:cNvPr>
          <p:cNvSpPr/>
          <p:nvPr/>
        </p:nvSpPr>
        <p:spPr>
          <a:xfrm>
            <a:off x="9461872" y="4298897"/>
            <a:ext cx="116223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zh-TW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観察項目実施</a:t>
            </a:r>
            <a:endParaRPr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17" name="テキスト ボックス 316">
            <a:extLst>
              <a:ext uri="{FF2B5EF4-FFF2-40B4-BE49-F238E27FC236}">
                <a16:creationId xmlns:a16="http://schemas.microsoft.com/office/drawing/2014/main" id="{1ABFFA9A-7797-5CDC-0A79-728F3DC302E7}"/>
              </a:ext>
            </a:extLst>
          </p:cNvPr>
          <p:cNvSpPr txBox="1"/>
          <p:nvPr/>
        </p:nvSpPr>
        <p:spPr>
          <a:xfrm>
            <a:off x="9388594" y="4487123"/>
            <a:ext cx="1007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zh-TW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評価状況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zh-TW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評価者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zh-TW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観察結果</a:t>
            </a:r>
            <a:endParaRPr lang="en-US" altLang="zh-TW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zh-TW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修正情報</a:t>
            </a:r>
          </a:p>
        </p:txBody>
      </p:sp>
      <p:cxnSp>
        <p:nvCxnSpPr>
          <p:cNvPr id="318" name="直線コネクタ 317">
            <a:extLst>
              <a:ext uri="{FF2B5EF4-FFF2-40B4-BE49-F238E27FC236}">
                <a16:creationId xmlns:a16="http://schemas.microsoft.com/office/drawing/2014/main" id="{F863E211-6BD6-8419-DBF8-9727A53426A1}"/>
              </a:ext>
            </a:extLst>
          </p:cNvPr>
          <p:cNvCxnSpPr>
            <a:cxnSpLocks/>
          </p:cNvCxnSpPr>
          <p:nvPr/>
        </p:nvCxnSpPr>
        <p:spPr>
          <a:xfrm>
            <a:off x="9371784" y="2295295"/>
            <a:ext cx="11674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正方形/長方形 318">
            <a:extLst>
              <a:ext uri="{FF2B5EF4-FFF2-40B4-BE49-F238E27FC236}">
                <a16:creationId xmlns:a16="http://schemas.microsoft.com/office/drawing/2014/main" id="{4145B097-1EBB-B18B-35D4-B8D10679705E}"/>
              </a:ext>
            </a:extLst>
          </p:cNvPr>
          <p:cNvSpPr/>
          <p:nvPr/>
        </p:nvSpPr>
        <p:spPr>
          <a:xfrm>
            <a:off x="9388594" y="2096832"/>
            <a:ext cx="11506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評価</a:t>
            </a:r>
          </a:p>
        </p:txBody>
      </p:sp>
      <p:sp>
        <p:nvSpPr>
          <p:cNvPr id="320" name="テキスト ボックス 319">
            <a:extLst>
              <a:ext uri="{FF2B5EF4-FFF2-40B4-BE49-F238E27FC236}">
                <a16:creationId xmlns:a16="http://schemas.microsoft.com/office/drawing/2014/main" id="{9B5658AA-8167-DD28-DF8E-8D7CCC27D005}"/>
              </a:ext>
            </a:extLst>
          </p:cNvPr>
          <p:cNvSpPr txBox="1"/>
          <p:nvPr/>
        </p:nvSpPr>
        <p:spPr>
          <a:xfrm>
            <a:off x="9334009" y="2266672"/>
            <a:ext cx="109208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評価状況 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バリアンス記録</a:t>
            </a:r>
            <a:b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</a:t>
            </a: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O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</a:t>
            </a: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）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達成記録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記録者</a:t>
            </a:r>
          </a:p>
        </p:txBody>
      </p:sp>
      <p:sp>
        <p:nvSpPr>
          <p:cNvPr id="321" name="ひし形 320">
            <a:extLst>
              <a:ext uri="{FF2B5EF4-FFF2-40B4-BE49-F238E27FC236}">
                <a16:creationId xmlns:a16="http://schemas.microsoft.com/office/drawing/2014/main" id="{0B764CF7-4A8F-7113-0B8F-D4D5B9EB1B90}"/>
              </a:ext>
            </a:extLst>
          </p:cNvPr>
          <p:cNvSpPr/>
          <p:nvPr/>
        </p:nvSpPr>
        <p:spPr>
          <a:xfrm rot="5420207">
            <a:off x="8955892" y="2312775"/>
            <a:ext cx="147868" cy="189922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22" name="ひし形 321">
            <a:extLst>
              <a:ext uri="{FF2B5EF4-FFF2-40B4-BE49-F238E27FC236}">
                <a16:creationId xmlns:a16="http://schemas.microsoft.com/office/drawing/2014/main" id="{5FB4821E-E018-F152-4499-2CB2A84C097C}"/>
              </a:ext>
            </a:extLst>
          </p:cNvPr>
          <p:cNvSpPr/>
          <p:nvPr/>
        </p:nvSpPr>
        <p:spPr>
          <a:xfrm>
            <a:off x="7978859" y="1172746"/>
            <a:ext cx="114422" cy="16998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23" name="テキスト ボックス 322">
            <a:extLst>
              <a:ext uri="{FF2B5EF4-FFF2-40B4-BE49-F238E27FC236}">
                <a16:creationId xmlns:a16="http://schemas.microsoft.com/office/drawing/2014/main" id="{C61BD7B8-BFE2-6FA1-8A4B-33AD10F69ED1}"/>
              </a:ext>
            </a:extLst>
          </p:cNvPr>
          <p:cNvSpPr txBox="1"/>
          <p:nvPr/>
        </p:nvSpPr>
        <p:spPr>
          <a:xfrm>
            <a:off x="8051178" y="1288865"/>
            <a:ext cx="343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24" name="ひし形 323">
            <a:extLst>
              <a:ext uri="{FF2B5EF4-FFF2-40B4-BE49-F238E27FC236}">
                <a16:creationId xmlns:a16="http://schemas.microsoft.com/office/drawing/2014/main" id="{A008671C-F0C6-C738-F08F-BCBD28C3E212}"/>
              </a:ext>
            </a:extLst>
          </p:cNvPr>
          <p:cNvSpPr/>
          <p:nvPr/>
        </p:nvSpPr>
        <p:spPr>
          <a:xfrm>
            <a:off x="7952146" y="4829897"/>
            <a:ext cx="116397" cy="189922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25" name="ひし形 324">
            <a:extLst>
              <a:ext uri="{FF2B5EF4-FFF2-40B4-BE49-F238E27FC236}">
                <a16:creationId xmlns:a16="http://schemas.microsoft.com/office/drawing/2014/main" id="{C72198B6-8986-3897-0D8A-CFACF6E473BD}"/>
              </a:ext>
            </a:extLst>
          </p:cNvPr>
          <p:cNvSpPr/>
          <p:nvPr/>
        </p:nvSpPr>
        <p:spPr>
          <a:xfrm rot="5314154">
            <a:off x="8990553" y="4509138"/>
            <a:ext cx="147868" cy="189922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26" name="ひし形 325">
            <a:extLst>
              <a:ext uri="{FF2B5EF4-FFF2-40B4-BE49-F238E27FC236}">
                <a16:creationId xmlns:a16="http://schemas.microsoft.com/office/drawing/2014/main" id="{23F9EF5D-6C63-FCFF-254B-BD25239CEA0F}"/>
              </a:ext>
            </a:extLst>
          </p:cNvPr>
          <p:cNvSpPr/>
          <p:nvPr/>
        </p:nvSpPr>
        <p:spPr>
          <a:xfrm rot="21591126">
            <a:off x="7934535" y="3129006"/>
            <a:ext cx="116397" cy="189922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27" name="テキスト ボックス 326">
            <a:extLst>
              <a:ext uri="{FF2B5EF4-FFF2-40B4-BE49-F238E27FC236}">
                <a16:creationId xmlns:a16="http://schemas.microsoft.com/office/drawing/2014/main" id="{904BCADE-A013-80C7-61C8-B6C5A85B7C2D}"/>
              </a:ext>
            </a:extLst>
          </p:cNvPr>
          <p:cNvSpPr txBox="1"/>
          <p:nvPr/>
        </p:nvSpPr>
        <p:spPr>
          <a:xfrm>
            <a:off x="9116173" y="4395263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0..*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28" name="テキスト ボックス 327">
            <a:extLst>
              <a:ext uri="{FF2B5EF4-FFF2-40B4-BE49-F238E27FC236}">
                <a16:creationId xmlns:a16="http://schemas.microsoft.com/office/drawing/2014/main" id="{477AA4C1-35B2-E71C-C291-5F9F7E39CE1B}"/>
              </a:ext>
            </a:extLst>
          </p:cNvPr>
          <p:cNvSpPr txBox="1"/>
          <p:nvPr/>
        </p:nvSpPr>
        <p:spPr>
          <a:xfrm>
            <a:off x="9078433" y="2193471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0..1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29" name="ひし形 328">
            <a:extLst>
              <a:ext uri="{FF2B5EF4-FFF2-40B4-BE49-F238E27FC236}">
                <a16:creationId xmlns:a16="http://schemas.microsoft.com/office/drawing/2014/main" id="{091F5069-78E6-3E97-2279-4CE90D516A8B}"/>
              </a:ext>
            </a:extLst>
          </p:cNvPr>
          <p:cNvSpPr/>
          <p:nvPr/>
        </p:nvSpPr>
        <p:spPr>
          <a:xfrm rot="16082748">
            <a:off x="5428676" y="627165"/>
            <a:ext cx="153569" cy="211328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30" name="テキスト ボックス 329">
            <a:extLst>
              <a:ext uri="{FF2B5EF4-FFF2-40B4-BE49-F238E27FC236}">
                <a16:creationId xmlns:a16="http://schemas.microsoft.com/office/drawing/2014/main" id="{6328FC8F-5FC6-CD25-B9F2-9D94491B02C5}"/>
              </a:ext>
            </a:extLst>
          </p:cNvPr>
          <p:cNvSpPr txBox="1"/>
          <p:nvPr/>
        </p:nvSpPr>
        <p:spPr>
          <a:xfrm>
            <a:off x="6722121" y="679880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1..*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331" name="直線コネクタ 330">
            <a:extLst>
              <a:ext uri="{FF2B5EF4-FFF2-40B4-BE49-F238E27FC236}">
                <a16:creationId xmlns:a16="http://schemas.microsoft.com/office/drawing/2014/main" id="{384CB4F1-8522-67AC-D384-EAA8147A3041}"/>
              </a:ext>
            </a:extLst>
          </p:cNvPr>
          <p:cNvCxnSpPr>
            <a:cxnSpLocks/>
            <a:stCxn id="332" idx="0"/>
          </p:cNvCxnSpPr>
          <p:nvPr/>
        </p:nvCxnSpPr>
        <p:spPr>
          <a:xfrm flipH="1">
            <a:off x="6434053" y="4445244"/>
            <a:ext cx="508475" cy="280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ひし形 331">
            <a:extLst>
              <a:ext uri="{FF2B5EF4-FFF2-40B4-BE49-F238E27FC236}">
                <a16:creationId xmlns:a16="http://schemas.microsoft.com/office/drawing/2014/main" id="{BA450FFC-866D-1CC3-F4C3-0B6DE481F28C}"/>
              </a:ext>
            </a:extLst>
          </p:cNvPr>
          <p:cNvSpPr/>
          <p:nvPr/>
        </p:nvSpPr>
        <p:spPr>
          <a:xfrm rot="16065606">
            <a:off x="6963482" y="4346572"/>
            <a:ext cx="147868" cy="189922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33" name="テキスト ボックス 332">
            <a:extLst>
              <a:ext uri="{FF2B5EF4-FFF2-40B4-BE49-F238E27FC236}">
                <a16:creationId xmlns:a16="http://schemas.microsoft.com/office/drawing/2014/main" id="{7BC048CA-4AC5-D860-C1B0-702098E469F7}"/>
              </a:ext>
            </a:extLst>
          </p:cNvPr>
          <p:cNvSpPr txBox="1"/>
          <p:nvPr/>
        </p:nvSpPr>
        <p:spPr>
          <a:xfrm>
            <a:off x="6573026" y="4441414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0..1</a:t>
            </a:r>
          </a:p>
        </p:txBody>
      </p:sp>
      <p:sp>
        <p:nvSpPr>
          <p:cNvPr id="334" name="テキスト ボックス 333">
            <a:extLst>
              <a:ext uri="{FF2B5EF4-FFF2-40B4-BE49-F238E27FC236}">
                <a16:creationId xmlns:a16="http://schemas.microsoft.com/office/drawing/2014/main" id="{9FA13448-944B-8CB6-BBB1-BF131D9D1B4E}"/>
              </a:ext>
            </a:extLst>
          </p:cNvPr>
          <p:cNvSpPr txBox="1"/>
          <p:nvPr/>
        </p:nvSpPr>
        <p:spPr>
          <a:xfrm>
            <a:off x="2347648" y="550339"/>
            <a:ext cx="122827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パス識別情報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医療機関情報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患者基本情報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入院情報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パス適用情報</a:t>
            </a:r>
          </a:p>
        </p:txBody>
      </p:sp>
      <p:sp>
        <p:nvSpPr>
          <p:cNvPr id="335" name="正方形/長方形 334">
            <a:extLst>
              <a:ext uri="{FF2B5EF4-FFF2-40B4-BE49-F238E27FC236}">
                <a16:creationId xmlns:a16="http://schemas.microsoft.com/office/drawing/2014/main" id="{F096E7F3-9BB8-F7FC-CDB5-374FB3E4B189}"/>
              </a:ext>
            </a:extLst>
          </p:cNvPr>
          <p:cNvSpPr/>
          <p:nvPr/>
        </p:nvSpPr>
        <p:spPr>
          <a:xfrm>
            <a:off x="5236772" y="4238051"/>
            <a:ext cx="1378900" cy="24708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336" name="直線コネクタ 335">
            <a:extLst>
              <a:ext uri="{FF2B5EF4-FFF2-40B4-BE49-F238E27FC236}">
                <a16:creationId xmlns:a16="http://schemas.microsoft.com/office/drawing/2014/main" id="{68D12AD5-72F5-51D2-31A8-1D89BE634513}"/>
              </a:ext>
            </a:extLst>
          </p:cNvPr>
          <p:cNvCxnSpPr>
            <a:cxnSpLocks/>
          </p:cNvCxnSpPr>
          <p:nvPr/>
        </p:nvCxnSpPr>
        <p:spPr>
          <a:xfrm>
            <a:off x="5236772" y="4433418"/>
            <a:ext cx="1378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正方形/長方形 336">
            <a:extLst>
              <a:ext uri="{FF2B5EF4-FFF2-40B4-BE49-F238E27FC236}">
                <a16:creationId xmlns:a16="http://schemas.microsoft.com/office/drawing/2014/main" id="{32855AE7-1A70-2B22-1B5F-3BBE84CD4E61}"/>
              </a:ext>
            </a:extLst>
          </p:cNvPr>
          <p:cNvSpPr/>
          <p:nvPr/>
        </p:nvSpPr>
        <p:spPr>
          <a:xfrm>
            <a:off x="5179987" y="4210409"/>
            <a:ext cx="14484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観察項目結果値定義</a:t>
            </a:r>
          </a:p>
        </p:txBody>
      </p:sp>
      <p:sp>
        <p:nvSpPr>
          <p:cNvPr id="338" name="テキスト ボックス 337">
            <a:extLst>
              <a:ext uri="{FF2B5EF4-FFF2-40B4-BE49-F238E27FC236}">
                <a16:creationId xmlns:a16="http://schemas.microsoft.com/office/drawing/2014/main" id="{D5DE617C-CAFC-2C93-E1DE-D8402D2CCB8A}"/>
              </a:ext>
            </a:extLst>
          </p:cNvPr>
          <p:cNvSpPr txBox="1"/>
          <p:nvPr/>
        </p:nvSpPr>
        <p:spPr>
          <a:xfrm>
            <a:off x="5258533" y="4407451"/>
            <a:ext cx="13144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値型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桁数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入力コントロール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値書式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値単位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値範囲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選択リスト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必須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値丸め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不適切値設定許可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項目表示条件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自動計算指示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計算式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入力者制限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承認要否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説明</a:t>
            </a:r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D0C33F22-47BD-CDF0-076F-E85E49902669}"/>
              </a:ext>
            </a:extLst>
          </p:cNvPr>
          <p:cNvSpPr txBox="1"/>
          <p:nvPr/>
        </p:nvSpPr>
        <p:spPr>
          <a:xfrm>
            <a:off x="2464064" y="384658"/>
            <a:ext cx="9364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ePath </a:t>
            </a:r>
            <a:r>
              <a:rPr lang="ja-JP" altLang="en-US" sz="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メッセージ</a:t>
            </a:r>
            <a:endParaRPr lang="ja-JP" altLang="en-US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16" name="正方形/長方形 415">
            <a:extLst>
              <a:ext uri="{FF2B5EF4-FFF2-40B4-BE49-F238E27FC236}">
                <a16:creationId xmlns:a16="http://schemas.microsoft.com/office/drawing/2014/main" id="{0E1C2963-349B-9D75-AEE9-6975D16557F7}"/>
              </a:ext>
            </a:extLst>
          </p:cNvPr>
          <p:cNvSpPr/>
          <p:nvPr/>
        </p:nvSpPr>
        <p:spPr>
          <a:xfrm>
            <a:off x="10891240" y="4994140"/>
            <a:ext cx="1087142" cy="8015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417" name="直線コネクタ 416">
            <a:extLst>
              <a:ext uri="{FF2B5EF4-FFF2-40B4-BE49-F238E27FC236}">
                <a16:creationId xmlns:a16="http://schemas.microsoft.com/office/drawing/2014/main" id="{00FD9F80-2B1E-0F97-D9CF-7DE2818EB6A1}"/>
              </a:ext>
            </a:extLst>
          </p:cNvPr>
          <p:cNvCxnSpPr>
            <a:cxnSpLocks/>
          </p:cNvCxnSpPr>
          <p:nvPr/>
        </p:nvCxnSpPr>
        <p:spPr>
          <a:xfrm>
            <a:off x="10884558" y="5165326"/>
            <a:ext cx="10938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正方形/長方形 417">
            <a:extLst>
              <a:ext uri="{FF2B5EF4-FFF2-40B4-BE49-F238E27FC236}">
                <a16:creationId xmlns:a16="http://schemas.microsoft.com/office/drawing/2014/main" id="{C5389C9B-33DB-2108-5BE1-66C71D628A1D}"/>
              </a:ext>
            </a:extLst>
          </p:cNvPr>
          <p:cNvSpPr/>
          <p:nvPr/>
        </p:nvSpPr>
        <p:spPr>
          <a:xfrm>
            <a:off x="10973383" y="4952191"/>
            <a:ext cx="816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修正情報</a:t>
            </a:r>
          </a:p>
        </p:txBody>
      </p:sp>
      <p:sp>
        <p:nvSpPr>
          <p:cNvPr id="419" name="テキスト ボックス 418">
            <a:extLst>
              <a:ext uri="{FF2B5EF4-FFF2-40B4-BE49-F238E27FC236}">
                <a16:creationId xmlns:a16="http://schemas.microsoft.com/office/drawing/2014/main" id="{07BF2F78-6160-EBA3-8519-81DB34A413AE}"/>
              </a:ext>
            </a:extLst>
          </p:cNvPr>
          <p:cNvSpPr txBox="1"/>
          <p:nvPr/>
        </p:nvSpPr>
        <p:spPr>
          <a:xfrm>
            <a:off x="10859430" y="5133454"/>
            <a:ext cx="1007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修正日時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修正者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修正事由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修正前値</a:t>
            </a:r>
          </a:p>
        </p:txBody>
      </p:sp>
      <p:sp>
        <p:nvSpPr>
          <p:cNvPr id="420" name="テキスト ボックス 419">
            <a:extLst>
              <a:ext uri="{FF2B5EF4-FFF2-40B4-BE49-F238E27FC236}">
                <a16:creationId xmlns:a16="http://schemas.microsoft.com/office/drawing/2014/main" id="{A64D9ED9-2F74-086F-75A3-31E2737D159A}"/>
              </a:ext>
            </a:extLst>
          </p:cNvPr>
          <p:cNvSpPr txBox="1"/>
          <p:nvPr/>
        </p:nvSpPr>
        <p:spPr>
          <a:xfrm>
            <a:off x="10839297" y="4758209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0..*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421" name="直線コネクタ 420">
            <a:extLst>
              <a:ext uri="{FF2B5EF4-FFF2-40B4-BE49-F238E27FC236}">
                <a16:creationId xmlns:a16="http://schemas.microsoft.com/office/drawing/2014/main" id="{02AECC79-AA8F-BA92-EED1-6F8C72BB6A0B}"/>
              </a:ext>
            </a:extLst>
          </p:cNvPr>
          <p:cNvCxnSpPr>
            <a:cxnSpLocks/>
            <a:endCxn id="422" idx="2"/>
          </p:cNvCxnSpPr>
          <p:nvPr/>
        </p:nvCxnSpPr>
        <p:spPr>
          <a:xfrm flipH="1" flipV="1">
            <a:off x="10812572" y="4897863"/>
            <a:ext cx="136395" cy="106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ひし形 421">
            <a:extLst>
              <a:ext uri="{FF2B5EF4-FFF2-40B4-BE49-F238E27FC236}">
                <a16:creationId xmlns:a16="http://schemas.microsoft.com/office/drawing/2014/main" id="{DBB231C0-BC89-3707-9005-713989C651A5}"/>
              </a:ext>
            </a:extLst>
          </p:cNvPr>
          <p:cNvSpPr/>
          <p:nvPr/>
        </p:nvSpPr>
        <p:spPr>
          <a:xfrm rot="17460609">
            <a:off x="10665316" y="4768259"/>
            <a:ext cx="116397" cy="19080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26" name="正方形/長方形 425">
            <a:extLst>
              <a:ext uri="{FF2B5EF4-FFF2-40B4-BE49-F238E27FC236}">
                <a16:creationId xmlns:a16="http://schemas.microsoft.com/office/drawing/2014/main" id="{B50FBC36-AFB5-76AB-0677-1951E0D14E94}"/>
              </a:ext>
            </a:extLst>
          </p:cNvPr>
          <p:cNvSpPr/>
          <p:nvPr/>
        </p:nvSpPr>
        <p:spPr>
          <a:xfrm>
            <a:off x="10885923" y="3520808"/>
            <a:ext cx="1080218" cy="8015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427" name="直線コネクタ 426">
            <a:extLst>
              <a:ext uri="{FF2B5EF4-FFF2-40B4-BE49-F238E27FC236}">
                <a16:creationId xmlns:a16="http://schemas.microsoft.com/office/drawing/2014/main" id="{0D9B0433-F2E7-9744-D5C4-BAC08E3FA8FC}"/>
              </a:ext>
            </a:extLst>
          </p:cNvPr>
          <p:cNvCxnSpPr>
            <a:cxnSpLocks/>
          </p:cNvCxnSpPr>
          <p:nvPr/>
        </p:nvCxnSpPr>
        <p:spPr>
          <a:xfrm>
            <a:off x="10879241" y="3691994"/>
            <a:ext cx="1086900" cy="23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正方形/長方形 427">
            <a:extLst>
              <a:ext uri="{FF2B5EF4-FFF2-40B4-BE49-F238E27FC236}">
                <a16:creationId xmlns:a16="http://schemas.microsoft.com/office/drawing/2014/main" id="{A990AB02-BDE3-B133-2C7B-8BCE29F343A1}"/>
              </a:ext>
            </a:extLst>
          </p:cNvPr>
          <p:cNvSpPr/>
          <p:nvPr/>
        </p:nvSpPr>
        <p:spPr>
          <a:xfrm>
            <a:off x="10968066" y="3478859"/>
            <a:ext cx="816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修正情報</a:t>
            </a:r>
          </a:p>
        </p:txBody>
      </p:sp>
      <p:sp>
        <p:nvSpPr>
          <p:cNvPr id="429" name="テキスト ボックス 428">
            <a:extLst>
              <a:ext uri="{FF2B5EF4-FFF2-40B4-BE49-F238E27FC236}">
                <a16:creationId xmlns:a16="http://schemas.microsoft.com/office/drawing/2014/main" id="{D95A2241-1EA5-4525-BE3D-7B8E63B87140}"/>
              </a:ext>
            </a:extLst>
          </p:cNvPr>
          <p:cNvSpPr txBox="1"/>
          <p:nvPr/>
        </p:nvSpPr>
        <p:spPr>
          <a:xfrm>
            <a:off x="10854113" y="3660122"/>
            <a:ext cx="1007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修正日時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修正者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修正事由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修正前値</a:t>
            </a:r>
          </a:p>
        </p:txBody>
      </p:sp>
      <p:sp>
        <p:nvSpPr>
          <p:cNvPr id="430" name="テキスト ボックス 429">
            <a:extLst>
              <a:ext uri="{FF2B5EF4-FFF2-40B4-BE49-F238E27FC236}">
                <a16:creationId xmlns:a16="http://schemas.microsoft.com/office/drawing/2014/main" id="{F3A64A62-7267-834D-6273-F981959DB4C5}"/>
              </a:ext>
            </a:extLst>
          </p:cNvPr>
          <p:cNvSpPr txBox="1"/>
          <p:nvPr/>
        </p:nvSpPr>
        <p:spPr>
          <a:xfrm>
            <a:off x="11060445" y="3279957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0..*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32" name="ひし形 431">
            <a:extLst>
              <a:ext uri="{FF2B5EF4-FFF2-40B4-BE49-F238E27FC236}">
                <a16:creationId xmlns:a16="http://schemas.microsoft.com/office/drawing/2014/main" id="{5B24FF76-2195-39E4-7908-15E4953B5CEB}"/>
              </a:ext>
            </a:extLst>
          </p:cNvPr>
          <p:cNvSpPr/>
          <p:nvPr/>
        </p:nvSpPr>
        <p:spPr>
          <a:xfrm rot="21522792">
            <a:off x="11340231" y="3163940"/>
            <a:ext cx="116942" cy="166531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33" name="正方形/長方形 432">
            <a:extLst>
              <a:ext uri="{FF2B5EF4-FFF2-40B4-BE49-F238E27FC236}">
                <a16:creationId xmlns:a16="http://schemas.microsoft.com/office/drawing/2014/main" id="{0AA782A0-B93A-07E4-546B-9DAAB0CA9907}"/>
              </a:ext>
            </a:extLst>
          </p:cNvPr>
          <p:cNvSpPr/>
          <p:nvPr/>
        </p:nvSpPr>
        <p:spPr>
          <a:xfrm>
            <a:off x="10885923" y="2190428"/>
            <a:ext cx="1080218" cy="950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434" name="直線コネクタ 433">
            <a:extLst>
              <a:ext uri="{FF2B5EF4-FFF2-40B4-BE49-F238E27FC236}">
                <a16:creationId xmlns:a16="http://schemas.microsoft.com/office/drawing/2014/main" id="{46B8A6D2-762D-DDE3-9216-1417D086B93B}"/>
              </a:ext>
            </a:extLst>
          </p:cNvPr>
          <p:cNvCxnSpPr>
            <a:cxnSpLocks/>
          </p:cNvCxnSpPr>
          <p:nvPr/>
        </p:nvCxnSpPr>
        <p:spPr>
          <a:xfrm>
            <a:off x="10879241" y="2345711"/>
            <a:ext cx="1086900" cy="70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正方形/長方形 434">
            <a:extLst>
              <a:ext uri="{FF2B5EF4-FFF2-40B4-BE49-F238E27FC236}">
                <a16:creationId xmlns:a16="http://schemas.microsoft.com/office/drawing/2014/main" id="{7F975E6E-F35C-B69F-4757-859A0E4A0A3C}"/>
              </a:ext>
            </a:extLst>
          </p:cNvPr>
          <p:cNvSpPr/>
          <p:nvPr/>
        </p:nvSpPr>
        <p:spPr>
          <a:xfrm>
            <a:off x="10882860" y="2148479"/>
            <a:ext cx="115623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達成記録</a:t>
            </a:r>
          </a:p>
        </p:txBody>
      </p:sp>
      <p:sp>
        <p:nvSpPr>
          <p:cNvPr id="436" name="テキスト ボックス 435">
            <a:extLst>
              <a:ext uri="{FF2B5EF4-FFF2-40B4-BE49-F238E27FC236}">
                <a16:creationId xmlns:a16="http://schemas.microsoft.com/office/drawing/2014/main" id="{25E5FC01-0137-05AF-2C81-AA3133D0014A}"/>
              </a:ext>
            </a:extLst>
          </p:cNvPr>
          <p:cNvSpPr txBox="1"/>
          <p:nvPr/>
        </p:nvSpPr>
        <p:spPr>
          <a:xfrm>
            <a:off x="10870739" y="2323409"/>
            <a:ext cx="115623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記録項目名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記録項目表示名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項目値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項目値名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修正情報</a:t>
            </a:r>
          </a:p>
        </p:txBody>
      </p:sp>
      <p:sp>
        <p:nvSpPr>
          <p:cNvPr id="437" name="テキスト ボックス 436">
            <a:extLst>
              <a:ext uri="{FF2B5EF4-FFF2-40B4-BE49-F238E27FC236}">
                <a16:creationId xmlns:a16="http://schemas.microsoft.com/office/drawing/2014/main" id="{2D4CB47C-8E14-B5A0-26CC-613C0F827EFB}"/>
              </a:ext>
            </a:extLst>
          </p:cNvPr>
          <p:cNvSpPr txBox="1"/>
          <p:nvPr/>
        </p:nvSpPr>
        <p:spPr>
          <a:xfrm>
            <a:off x="10577496" y="2553405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0..*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439" name="直線コネクタ 438">
            <a:extLst>
              <a:ext uri="{FF2B5EF4-FFF2-40B4-BE49-F238E27FC236}">
                <a16:creationId xmlns:a16="http://schemas.microsoft.com/office/drawing/2014/main" id="{A7E4B8AE-60F0-ED0D-6861-D40C9248AF3D}"/>
              </a:ext>
            </a:extLst>
          </p:cNvPr>
          <p:cNvCxnSpPr>
            <a:cxnSpLocks/>
            <a:endCxn id="440" idx="2"/>
          </p:cNvCxnSpPr>
          <p:nvPr/>
        </p:nvCxnSpPr>
        <p:spPr>
          <a:xfrm flipH="1" flipV="1">
            <a:off x="10716765" y="2581353"/>
            <a:ext cx="169158" cy="2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ひし形 439">
            <a:extLst>
              <a:ext uri="{FF2B5EF4-FFF2-40B4-BE49-F238E27FC236}">
                <a16:creationId xmlns:a16="http://schemas.microsoft.com/office/drawing/2014/main" id="{A1754BE3-6F34-ECD8-518C-5B3E6E6CA548}"/>
              </a:ext>
            </a:extLst>
          </p:cNvPr>
          <p:cNvSpPr/>
          <p:nvPr/>
        </p:nvSpPr>
        <p:spPr>
          <a:xfrm rot="15912170">
            <a:off x="10563501" y="2493932"/>
            <a:ext cx="116397" cy="19080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96AD8AE-32E5-C37F-1949-E92E7AE99B82}"/>
              </a:ext>
            </a:extLst>
          </p:cNvPr>
          <p:cNvSpPr/>
          <p:nvPr/>
        </p:nvSpPr>
        <p:spPr>
          <a:xfrm>
            <a:off x="5701588" y="1932091"/>
            <a:ext cx="1211174" cy="849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84DEC0-E79B-7F2A-35FD-5CE91959A999}"/>
              </a:ext>
            </a:extLst>
          </p:cNvPr>
          <p:cNvSpPr txBox="1"/>
          <p:nvPr/>
        </p:nvSpPr>
        <p:spPr>
          <a:xfrm>
            <a:off x="5702176" y="1904942"/>
            <a:ext cx="1219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許容経過日数条件</a:t>
            </a:r>
            <a:endParaRPr kumimoji="1" lang="ja-JP" altLang="en-US" sz="1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1986468-24C9-A7A3-A067-2E9246CCB14F}"/>
              </a:ext>
            </a:extLst>
          </p:cNvPr>
          <p:cNvCxnSpPr>
            <a:cxnSpLocks/>
          </p:cNvCxnSpPr>
          <p:nvPr/>
        </p:nvCxnSpPr>
        <p:spPr>
          <a:xfrm flipV="1">
            <a:off x="5707963" y="2115758"/>
            <a:ext cx="12048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C5245E-5A95-F145-B86A-41BF7CD12932}"/>
              </a:ext>
            </a:extLst>
          </p:cNvPr>
          <p:cNvSpPr txBox="1"/>
          <p:nvPr/>
        </p:nvSpPr>
        <p:spPr>
          <a:xfrm>
            <a:off x="5672668" y="2115758"/>
            <a:ext cx="1139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起点日種別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指定起点病日</a:t>
            </a:r>
            <a:endParaRPr lang="en-US" altLang="ja-JP" sz="9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指定起点日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許容日数期間</a:t>
            </a:r>
          </a:p>
        </p:txBody>
      </p:sp>
      <p:sp>
        <p:nvSpPr>
          <p:cNvPr id="26" name="ひし形 25">
            <a:extLst>
              <a:ext uri="{FF2B5EF4-FFF2-40B4-BE49-F238E27FC236}">
                <a16:creationId xmlns:a16="http://schemas.microsoft.com/office/drawing/2014/main" id="{EA290B71-EACF-8791-352C-99BDADD54AE6}"/>
              </a:ext>
            </a:extLst>
          </p:cNvPr>
          <p:cNvSpPr/>
          <p:nvPr/>
        </p:nvSpPr>
        <p:spPr>
          <a:xfrm rot="7503262">
            <a:off x="5421228" y="1640801"/>
            <a:ext cx="124326" cy="189922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47CE3FE-6B49-B0CF-AD49-EFC1130786F9}"/>
              </a:ext>
            </a:extLst>
          </p:cNvPr>
          <p:cNvCxnSpPr>
            <a:cxnSpLocks/>
            <a:stCxn id="4" idx="1"/>
            <a:endCxn id="26" idx="0"/>
          </p:cNvCxnSpPr>
          <p:nvPr/>
        </p:nvCxnSpPr>
        <p:spPr>
          <a:xfrm flipH="1" flipV="1">
            <a:off x="5561127" y="1790303"/>
            <a:ext cx="141049" cy="237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テキスト ボックス 223">
            <a:extLst>
              <a:ext uri="{FF2B5EF4-FFF2-40B4-BE49-F238E27FC236}">
                <a16:creationId xmlns:a16="http://schemas.microsoft.com/office/drawing/2014/main" id="{CE772C74-284C-E523-9945-05E32B0B588E}"/>
              </a:ext>
            </a:extLst>
          </p:cNvPr>
          <p:cNvSpPr txBox="1"/>
          <p:nvPr/>
        </p:nvSpPr>
        <p:spPr>
          <a:xfrm>
            <a:off x="5397684" y="1911294"/>
            <a:ext cx="383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0..1</a:t>
            </a:r>
            <a:endParaRPr kumimoji="1" lang="ja-JP" altLang="en-US" sz="1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40" name="テキスト ボックス 339">
            <a:extLst>
              <a:ext uri="{FF2B5EF4-FFF2-40B4-BE49-F238E27FC236}">
                <a16:creationId xmlns:a16="http://schemas.microsoft.com/office/drawing/2014/main" id="{EAF4281A-F732-71BE-D263-6DB9DCDDEA2C}"/>
              </a:ext>
            </a:extLst>
          </p:cNvPr>
          <p:cNvSpPr txBox="1"/>
          <p:nvPr/>
        </p:nvSpPr>
        <p:spPr>
          <a:xfrm>
            <a:off x="7544084" y="314048"/>
            <a:ext cx="9281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b="1" dirty="0"/>
              <a:t>OAT</a:t>
            </a:r>
            <a:r>
              <a:rPr lang="ja-JP" altLang="en-US" sz="1050" b="1" dirty="0"/>
              <a:t> </a:t>
            </a:r>
            <a:r>
              <a:rPr lang="en-US" altLang="ja-JP" sz="1050" b="1" dirty="0"/>
              <a:t>Unit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C7E29A-0FB8-9E3A-9C59-0ED3F205AB68}"/>
              </a:ext>
            </a:extLst>
          </p:cNvPr>
          <p:cNvSpPr txBox="1"/>
          <p:nvPr/>
        </p:nvSpPr>
        <p:spPr>
          <a:xfrm>
            <a:off x="9237487" y="247828"/>
            <a:ext cx="2908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ePath </a:t>
            </a:r>
            <a:r>
              <a:rPr kumimoji="1" lang="ja-JP" altLang="en-US" sz="1400" dirty="0"/>
              <a:t>仕様</a:t>
            </a:r>
            <a:r>
              <a:rPr lang="en-US" altLang="ja-JP" sz="1400" dirty="0"/>
              <a:t>【</a:t>
            </a:r>
            <a:r>
              <a:rPr lang="ja-JP" altLang="en-US" sz="1400" dirty="0"/>
              <a:t>適用後パスデータ</a:t>
            </a:r>
            <a:r>
              <a:rPr lang="en-US" altLang="ja-JP" sz="1400" dirty="0"/>
              <a:t>】</a:t>
            </a:r>
          </a:p>
          <a:p>
            <a:r>
              <a:rPr lang="ja-JP" altLang="en-US" sz="1400" dirty="0"/>
              <a:t>メッセージモデル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785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3374</TotalTime>
  <Words>561</Words>
  <Application>Microsoft Office PowerPoint</Application>
  <PresentationFormat>ワイド画面</PresentationFormat>
  <Paragraphs>180</Paragraphs>
  <Slides>2</Slides>
  <Notes>1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 </dc:creator>
  <cp:lastModifiedBy> </cp:lastModifiedBy>
  <cp:revision>186</cp:revision>
  <dcterms:created xsi:type="dcterms:W3CDTF">2025-01-21T02:11:07Z</dcterms:created>
  <dcterms:modified xsi:type="dcterms:W3CDTF">2025-12-08T08:12:25Z</dcterms:modified>
</cp:coreProperties>
</file>